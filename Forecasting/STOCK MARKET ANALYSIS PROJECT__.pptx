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56" r:id="rId2"/>
    <p:sldId id="263" r:id="rId3"/>
    <p:sldId id="258" r:id="rId4"/>
    <p:sldId id="259" r:id="rId5"/>
    <p:sldId id="260" r:id="rId6"/>
    <p:sldId id="262" r:id="rId7"/>
    <p:sldId id="264" r:id="rId8"/>
    <p:sldId id="265" r:id="rId9"/>
    <p:sldId id="266" r:id="rId10"/>
    <p:sldId id="267" r:id="rId11"/>
    <p:sldId id="268" r:id="rId12"/>
    <p:sldId id="278" r:id="rId13"/>
    <p:sldId id="269" r:id="rId14"/>
    <p:sldId id="270" r:id="rId15"/>
    <p:sldId id="271" r:id="rId16"/>
    <p:sldId id="273" r:id="rId17"/>
    <p:sldId id="274" r:id="rId18"/>
    <p:sldId id="275" r:id="rId19"/>
    <p:sldId id="276" r:id="rId20"/>
    <p:sldId id="277" r:id="rId21"/>
    <p:sldId id="279" r:id="rId22"/>
    <p:sldId id="290" r:id="rId23"/>
    <p:sldId id="288" r:id="rId24"/>
    <p:sldId id="289" r:id="rId25"/>
    <p:sldId id="287" r:id="rId26"/>
    <p:sldId id="282" r:id="rId27"/>
    <p:sldId id="28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8037D0-2710-4FB3-92B5-09574F199A6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77D2430D-0828-4D4D-8C4D-F6EA49424666}">
      <dgm:prSet/>
      <dgm:spPr/>
      <dgm:t>
        <a:bodyPr/>
        <a:lstStyle/>
        <a:p>
          <a:r>
            <a:rPr lang="en-US" b="1" i="0"/>
            <a:t>Long-term:</a:t>
          </a:r>
          <a:r>
            <a:rPr lang="en-US" b="0" i="0"/>
            <a:t> TrendPositive and linear, indicating consistent growth.</a:t>
          </a:r>
          <a:endParaRPr lang="en-IN"/>
        </a:p>
      </dgm:t>
    </dgm:pt>
    <dgm:pt modelId="{8774BD11-A0FB-48D4-83A1-9889CA1B2E29}" type="parTrans" cxnId="{112B6C98-812D-4249-8C35-98F09E083A91}">
      <dgm:prSet/>
      <dgm:spPr/>
      <dgm:t>
        <a:bodyPr/>
        <a:lstStyle/>
        <a:p>
          <a:endParaRPr lang="en-IN"/>
        </a:p>
      </dgm:t>
    </dgm:pt>
    <dgm:pt modelId="{44459565-C726-4E16-A2C7-9831E14F4C18}" type="sibTrans" cxnId="{112B6C98-812D-4249-8C35-98F09E083A91}">
      <dgm:prSet/>
      <dgm:spPr/>
      <dgm:t>
        <a:bodyPr/>
        <a:lstStyle/>
        <a:p>
          <a:endParaRPr lang="en-IN"/>
        </a:p>
      </dgm:t>
    </dgm:pt>
    <dgm:pt modelId="{96D948AE-485C-46BF-8FE8-573CFB91E613}">
      <dgm:prSet/>
      <dgm:spPr/>
      <dgm:t>
        <a:bodyPr/>
        <a:lstStyle/>
        <a:p>
          <a:r>
            <a:rPr lang="en-US" b="1" i="0"/>
            <a:t>Seasonality:</a:t>
          </a:r>
          <a:r>
            <a:rPr lang="en-US" b="0" i="0"/>
            <a:t>Multiplicative, fluctuations amplify with higher prices.</a:t>
          </a:r>
          <a:endParaRPr lang="en-IN"/>
        </a:p>
      </dgm:t>
    </dgm:pt>
    <dgm:pt modelId="{7D16ABCC-AE23-47DC-B13E-E7CD12B36603}" type="parTrans" cxnId="{084229AC-D9C0-4AB7-83B1-5B08180155A5}">
      <dgm:prSet/>
      <dgm:spPr/>
      <dgm:t>
        <a:bodyPr/>
        <a:lstStyle/>
        <a:p>
          <a:endParaRPr lang="en-IN"/>
        </a:p>
      </dgm:t>
    </dgm:pt>
    <dgm:pt modelId="{A074AF8A-E6FE-4831-82BF-6D9CCA7A63E5}" type="sibTrans" cxnId="{084229AC-D9C0-4AB7-83B1-5B08180155A5}">
      <dgm:prSet/>
      <dgm:spPr/>
      <dgm:t>
        <a:bodyPr/>
        <a:lstStyle/>
        <a:p>
          <a:endParaRPr lang="en-IN"/>
        </a:p>
      </dgm:t>
    </dgm:pt>
    <dgm:pt modelId="{CD564ED6-17E7-426F-AB18-D2D9D5D1B328}">
      <dgm:prSet/>
      <dgm:spPr/>
      <dgm:t>
        <a:bodyPr/>
        <a:lstStyle/>
        <a:p>
          <a:r>
            <a:rPr lang="en-US" b="1" i="0"/>
            <a:t>Pandemic :</a:t>
          </a:r>
          <a:r>
            <a:rPr lang="en-US" b="0" i="0"/>
            <a:t>ImpactInitial drop followed by robust recovery and growth.</a:t>
          </a:r>
          <a:endParaRPr lang="en-IN"/>
        </a:p>
      </dgm:t>
    </dgm:pt>
    <dgm:pt modelId="{474056DA-4895-4F32-80E0-651DF578BFA8}" type="parTrans" cxnId="{800EF64F-5D98-4441-A343-0D22CF1C0F18}">
      <dgm:prSet/>
      <dgm:spPr/>
      <dgm:t>
        <a:bodyPr/>
        <a:lstStyle/>
        <a:p>
          <a:endParaRPr lang="en-IN"/>
        </a:p>
      </dgm:t>
    </dgm:pt>
    <dgm:pt modelId="{F0A45315-C366-419A-A6AF-FCC854862D49}" type="sibTrans" cxnId="{800EF64F-5D98-4441-A343-0D22CF1C0F18}">
      <dgm:prSet/>
      <dgm:spPr/>
      <dgm:t>
        <a:bodyPr/>
        <a:lstStyle/>
        <a:p>
          <a:endParaRPr lang="en-IN"/>
        </a:p>
      </dgm:t>
    </dgm:pt>
    <dgm:pt modelId="{A099EA84-0EB3-466B-B017-D6971211CDEC}">
      <dgm:prSet/>
      <dgm:spPr/>
      <dgm:t>
        <a:bodyPr/>
        <a:lstStyle/>
        <a:p>
          <a:r>
            <a:rPr lang="en-US" b="1" i="0"/>
            <a:t>Insight Description</a:t>
          </a:r>
          <a:endParaRPr lang="en-IN"/>
        </a:p>
      </dgm:t>
    </dgm:pt>
    <dgm:pt modelId="{7FF7A7D6-12C0-442B-BFEA-11D78FD2C2BB}" type="parTrans" cxnId="{893D9ED1-B6B2-4DB4-B05E-8842EB7B568D}">
      <dgm:prSet/>
      <dgm:spPr/>
      <dgm:t>
        <a:bodyPr/>
        <a:lstStyle/>
        <a:p>
          <a:endParaRPr lang="en-IN"/>
        </a:p>
      </dgm:t>
    </dgm:pt>
    <dgm:pt modelId="{9735EA8A-B675-4DF6-B45D-14B62E6D175A}" type="sibTrans" cxnId="{893D9ED1-B6B2-4DB4-B05E-8842EB7B568D}">
      <dgm:prSet/>
      <dgm:spPr/>
      <dgm:t>
        <a:bodyPr/>
        <a:lstStyle/>
        <a:p>
          <a:endParaRPr lang="en-IN"/>
        </a:p>
      </dgm:t>
    </dgm:pt>
    <dgm:pt modelId="{F07B07FC-1FE0-4E1A-B0E4-711ED96460F5}" type="pres">
      <dgm:prSet presAssocID="{6A8037D0-2710-4FB3-92B5-09574F199A68}" presName="Name0" presStyleCnt="0">
        <dgm:presLayoutVars>
          <dgm:dir/>
          <dgm:animLvl val="lvl"/>
          <dgm:resizeHandles val="exact"/>
        </dgm:presLayoutVars>
      </dgm:prSet>
      <dgm:spPr/>
    </dgm:pt>
    <dgm:pt modelId="{DAC0712F-C8E6-49B9-8AE2-7BF76786D528}" type="pres">
      <dgm:prSet presAssocID="{A099EA84-0EB3-466B-B017-D6971211CDEC}" presName="linNode" presStyleCnt="0"/>
      <dgm:spPr/>
    </dgm:pt>
    <dgm:pt modelId="{2AD0C858-68D5-4262-909B-77A7D6E194AE}" type="pres">
      <dgm:prSet presAssocID="{A099EA84-0EB3-466B-B017-D6971211CDEC}" presName="parentText" presStyleLbl="node1" presStyleIdx="0" presStyleCnt="4">
        <dgm:presLayoutVars>
          <dgm:chMax val="1"/>
          <dgm:bulletEnabled val="1"/>
        </dgm:presLayoutVars>
      </dgm:prSet>
      <dgm:spPr/>
    </dgm:pt>
    <dgm:pt modelId="{9D1706A9-0875-43DA-A29B-8DE0446EBC47}" type="pres">
      <dgm:prSet presAssocID="{9735EA8A-B675-4DF6-B45D-14B62E6D175A}" presName="sp" presStyleCnt="0"/>
      <dgm:spPr/>
    </dgm:pt>
    <dgm:pt modelId="{298DFA97-8894-409F-9C38-325640FCD3F8}" type="pres">
      <dgm:prSet presAssocID="{77D2430D-0828-4D4D-8C4D-F6EA49424666}" presName="linNode" presStyleCnt="0"/>
      <dgm:spPr/>
    </dgm:pt>
    <dgm:pt modelId="{B6B5CE60-B5AF-4890-A86C-0568CD147351}" type="pres">
      <dgm:prSet presAssocID="{77D2430D-0828-4D4D-8C4D-F6EA49424666}" presName="parentText" presStyleLbl="node1" presStyleIdx="1" presStyleCnt="4">
        <dgm:presLayoutVars>
          <dgm:chMax val="1"/>
          <dgm:bulletEnabled val="1"/>
        </dgm:presLayoutVars>
      </dgm:prSet>
      <dgm:spPr/>
    </dgm:pt>
    <dgm:pt modelId="{A398FF14-A144-47AE-8AA4-383530B7E8A8}" type="pres">
      <dgm:prSet presAssocID="{44459565-C726-4E16-A2C7-9831E14F4C18}" presName="sp" presStyleCnt="0"/>
      <dgm:spPr/>
    </dgm:pt>
    <dgm:pt modelId="{4B3350E0-156D-4830-BCA6-94FFEC30282C}" type="pres">
      <dgm:prSet presAssocID="{96D948AE-485C-46BF-8FE8-573CFB91E613}" presName="linNode" presStyleCnt="0"/>
      <dgm:spPr/>
    </dgm:pt>
    <dgm:pt modelId="{AA32FEE9-50A0-41B5-8AE8-8DE33923D93A}" type="pres">
      <dgm:prSet presAssocID="{96D948AE-485C-46BF-8FE8-573CFB91E613}" presName="parentText" presStyleLbl="node1" presStyleIdx="2" presStyleCnt="4">
        <dgm:presLayoutVars>
          <dgm:chMax val="1"/>
          <dgm:bulletEnabled val="1"/>
        </dgm:presLayoutVars>
      </dgm:prSet>
      <dgm:spPr/>
    </dgm:pt>
    <dgm:pt modelId="{66289A73-3AFA-4B3D-AE5C-09EAFC3A00CA}" type="pres">
      <dgm:prSet presAssocID="{A074AF8A-E6FE-4831-82BF-6D9CCA7A63E5}" presName="sp" presStyleCnt="0"/>
      <dgm:spPr/>
    </dgm:pt>
    <dgm:pt modelId="{958B69CE-19D8-4828-AEA6-146C50E8A75A}" type="pres">
      <dgm:prSet presAssocID="{CD564ED6-17E7-426F-AB18-D2D9D5D1B328}" presName="linNode" presStyleCnt="0"/>
      <dgm:spPr/>
    </dgm:pt>
    <dgm:pt modelId="{351D1979-CABC-4C0E-99B8-804B992CD404}" type="pres">
      <dgm:prSet presAssocID="{CD564ED6-17E7-426F-AB18-D2D9D5D1B328}" presName="parentText" presStyleLbl="node1" presStyleIdx="3" presStyleCnt="4">
        <dgm:presLayoutVars>
          <dgm:chMax val="1"/>
          <dgm:bulletEnabled val="1"/>
        </dgm:presLayoutVars>
      </dgm:prSet>
      <dgm:spPr/>
    </dgm:pt>
  </dgm:ptLst>
  <dgm:cxnLst>
    <dgm:cxn modelId="{B4E90307-553E-4E64-868F-A2AA450F5594}" type="presOf" srcId="{77D2430D-0828-4D4D-8C4D-F6EA49424666}" destId="{B6B5CE60-B5AF-4890-A86C-0568CD147351}" srcOrd="0" destOrd="0" presId="urn:microsoft.com/office/officeart/2005/8/layout/vList5"/>
    <dgm:cxn modelId="{DC2E532C-B591-4D8E-8799-507ADB913C7B}" type="presOf" srcId="{96D948AE-485C-46BF-8FE8-573CFB91E613}" destId="{AA32FEE9-50A0-41B5-8AE8-8DE33923D93A}" srcOrd="0" destOrd="0" presId="urn:microsoft.com/office/officeart/2005/8/layout/vList5"/>
    <dgm:cxn modelId="{B3CD8B2D-6F4B-4228-BE24-A7043347DD49}" type="presOf" srcId="{A099EA84-0EB3-466B-B017-D6971211CDEC}" destId="{2AD0C858-68D5-4262-909B-77A7D6E194AE}" srcOrd="0" destOrd="0" presId="urn:microsoft.com/office/officeart/2005/8/layout/vList5"/>
    <dgm:cxn modelId="{800EF64F-5D98-4441-A343-0D22CF1C0F18}" srcId="{6A8037D0-2710-4FB3-92B5-09574F199A68}" destId="{CD564ED6-17E7-426F-AB18-D2D9D5D1B328}" srcOrd="3" destOrd="0" parTransId="{474056DA-4895-4F32-80E0-651DF578BFA8}" sibTransId="{F0A45315-C366-419A-A6AF-FCC854862D49}"/>
    <dgm:cxn modelId="{112B6C98-812D-4249-8C35-98F09E083A91}" srcId="{6A8037D0-2710-4FB3-92B5-09574F199A68}" destId="{77D2430D-0828-4D4D-8C4D-F6EA49424666}" srcOrd="1" destOrd="0" parTransId="{8774BD11-A0FB-48D4-83A1-9889CA1B2E29}" sibTransId="{44459565-C726-4E16-A2C7-9831E14F4C18}"/>
    <dgm:cxn modelId="{084229AC-D9C0-4AB7-83B1-5B08180155A5}" srcId="{6A8037D0-2710-4FB3-92B5-09574F199A68}" destId="{96D948AE-485C-46BF-8FE8-573CFB91E613}" srcOrd="2" destOrd="0" parTransId="{7D16ABCC-AE23-47DC-B13E-E7CD12B36603}" sibTransId="{A074AF8A-E6FE-4831-82BF-6D9CCA7A63E5}"/>
    <dgm:cxn modelId="{AC95ABCF-11EC-4B42-840C-77D1C499D43D}" type="presOf" srcId="{CD564ED6-17E7-426F-AB18-D2D9D5D1B328}" destId="{351D1979-CABC-4C0E-99B8-804B992CD404}" srcOrd="0" destOrd="0" presId="urn:microsoft.com/office/officeart/2005/8/layout/vList5"/>
    <dgm:cxn modelId="{893D9ED1-B6B2-4DB4-B05E-8842EB7B568D}" srcId="{6A8037D0-2710-4FB3-92B5-09574F199A68}" destId="{A099EA84-0EB3-466B-B017-D6971211CDEC}" srcOrd="0" destOrd="0" parTransId="{7FF7A7D6-12C0-442B-BFEA-11D78FD2C2BB}" sibTransId="{9735EA8A-B675-4DF6-B45D-14B62E6D175A}"/>
    <dgm:cxn modelId="{6BE62BD7-76F8-413F-946C-0B65E7126D11}" type="presOf" srcId="{6A8037D0-2710-4FB3-92B5-09574F199A68}" destId="{F07B07FC-1FE0-4E1A-B0E4-711ED96460F5}" srcOrd="0" destOrd="0" presId="urn:microsoft.com/office/officeart/2005/8/layout/vList5"/>
    <dgm:cxn modelId="{BD3DD701-1E60-4F3B-9C49-E3A48B798805}" type="presParOf" srcId="{F07B07FC-1FE0-4E1A-B0E4-711ED96460F5}" destId="{DAC0712F-C8E6-49B9-8AE2-7BF76786D528}" srcOrd="0" destOrd="0" presId="urn:microsoft.com/office/officeart/2005/8/layout/vList5"/>
    <dgm:cxn modelId="{761BBD40-A37F-47BC-893F-EA0144CF7878}" type="presParOf" srcId="{DAC0712F-C8E6-49B9-8AE2-7BF76786D528}" destId="{2AD0C858-68D5-4262-909B-77A7D6E194AE}" srcOrd="0" destOrd="0" presId="urn:microsoft.com/office/officeart/2005/8/layout/vList5"/>
    <dgm:cxn modelId="{EACB6FA5-6C2E-4537-92AD-E9640DDA1EED}" type="presParOf" srcId="{F07B07FC-1FE0-4E1A-B0E4-711ED96460F5}" destId="{9D1706A9-0875-43DA-A29B-8DE0446EBC47}" srcOrd="1" destOrd="0" presId="urn:microsoft.com/office/officeart/2005/8/layout/vList5"/>
    <dgm:cxn modelId="{0B414B23-6C7D-4E46-A757-92B94684FC43}" type="presParOf" srcId="{F07B07FC-1FE0-4E1A-B0E4-711ED96460F5}" destId="{298DFA97-8894-409F-9C38-325640FCD3F8}" srcOrd="2" destOrd="0" presId="urn:microsoft.com/office/officeart/2005/8/layout/vList5"/>
    <dgm:cxn modelId="{8BC7F460-7625-4624-9BE3-E7D15155920D}" type="presParOf" srcId="{298DFA97-8894-409F-9C38-325640FCD3F8}" destId="{B6B5CE60-B5AF-4890-A86C-0568CD147351}" srcOrd="0" destOrd="0" presId="urn:microsoft.com/office/officeart/2005/8/layout/vList5"/>
    <dgm:cxn modelId="{23C379AF-6737-4E03-B083-C95AAA42C3FC}" type="presParOf" srcId="{F07B07FC-1FE0-4E1A-B0E4-711ED96460F5}" destId="{A398FF14-A144-47AE-8AA4-383530B7E8A8}" srcOrd="3" destOrd="0" presId="urn:microsoft.com/office/officeart/2005/8/layout/vList5"/>
    <dgm:cxn modelId="{F3A2F6E7-BEB4-4020-9858-EDAA79F31A79}" type="presParOf" srcId="{F07B07FC-1FE0-4E1A-B0E4-711ED96460F5}" destId="{4B3350E0-156D-4830-BCA6-94FFEC30282C}" srcOrd="4" destOrd="0" presId="urn:microsoft.com/office/officeart/2005/8/layout/vList5"/>
    <dgm:cxn modelId="{E38DEFFA-2292-4E1B-A28F-5296C3977955}" type="presParOf" srcId="{4B3350E0-156D-4830-BCA6-94FFEC30282C}" destId="{AA32FEE9-50A0-41B5-8AE8-8DE33923D93A}" srcOrd="0" destOrd="0" presId="urn:microsoft.com/office/officeart/2005/8/layout/vList5"/>
    <dgm:cxn modelId="{14A070C7-25CC-42F2-AE44-CE89EE97760F}" type="presParOf" srcId="{F07B07FC-1FE0-4E1A-B0E4-711ED96460F5}" destId="{66289A73-3AFA-4B3D-AE5C-09EAFC3A00CA}" srcOrd="5" destOrd="0" presId="urn:microsoft.com/office/officeart/2005/8/layout/vList5"/>
    <dgm:cxn modelId="{667141F5-FD36-4D64-ADF5-496C4F511CB6}" type="presParOf" srcId="{F07B07FC-1FE0-4E1A-B0E4-711ED96460F5}" destId="{958B69CE-19D8-4828-AEA6-146C50E8A75A}" srcOrd="6" destOrd="0" presId="urn:microsoft.com/office/officeart/2005/8/layout/vList5"/>
    <dgm:cxn modelId="{8C9D2BBD-0706-49B7-BBF9-BDC621049AAF}" type="presParOf" srcId="{958B69CE-19D8-4828-AEA6-146C50E8A75A}" destId="{351D1979-CABC-4C0E-99B8-804B992CD404}"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D0C858-68D5-4262-909B-77A7D6E194AE}">
      <dsp:nvSpPr>
        <dsp:cNvPr id="0" name=""/>
        <dsp:cNvSpPr/>
      </dsp:nvSpPr>
      <dsp:spPr>
        <a:xfrm>
          <a:off x="1334040" y="2509"/>
          <a:ext cx="1500796" cy="120709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30480" bIns="15240" numCol="1" spcCol="1270" anchor="ctr" anchorCtr="0">
          <a:noAutofit/>
        </a:bodyPr>
        <a:lstStyle/>
        <a:p>
          <a:pPr marL="0" lvl="0" indent="0" algn="ctr" defTabSz="355600">
            <a:lnSpc>
              <a:spcPct val="90000"/>
            </a:lnSpc>
            <a:spcBef>
              <a:spcPct val="0"/>
            </a:spcBef>
            <a:spcAft>
              <a:spcPct val="35000"/>
            </a:spcAft>
            <a:buNone/>
          </a:pPr>
          <a:r>
            <a:rPr lang="en-US" sz="800" b="1" i="0" kern="1200"/>
            <a:t>Insight Description</a:t>
          </a:r>
          <a:endParaRPr lang="en-IN" sz="800" kern="1200"/>
        </a:p>
      </dsp:txBody>
      <dsp:txXfrm>
        <a:off x="1392965" y="61434"/>
        <a:ext cx="1382946" cy="1089241"/>
      </dsp:txXfrm>
    </dsp:sp>
    <dsp:sp modelId="{B6B5CE60-B5AF-4890-A86C-0568CD147351}">
      <dsp:nvSpPr>
        <dsp:cNvPr id="0" name=""/>
        <dsp:cNvSpPr/>
      </dsp:nvSpPr>
      <dsp:spPr>
        <a:xfrm>
          <a:off x="1334040" y="1269956"/>
          <a:ext cx="1500796" cy="120709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30480" bIns="15240" numCol="1" spcCol="1270" anchor="ctr" anchorCtr="0">
          <a:noAutofit/>
        </a:bodyPr>
        <a:lstStyle/>
        <a:p>
          <a:pPr marL="0" lvl="0" indent="0" algn="ctr" defTabSz="355600">
            <a:lnSpc>
              <a:spcPct val="90000"/>
            </a:lnSpc>
            <a:spcBef>
              <a:spcPct val="0"/>
            </a:spcBef>
            <a:spcAft>
              <a:spcPct val="35000"/>
            </a:spcAft>
            <a:buNone/>
          </a:pPr>
          <a:r>
            <a:rPr lang="en-US" sz="800" b="1" i="0" kern="1200"/>
            <a:t>Long-term:</a:t>
          </a:r>
          <a:r>
            <a:rPr lang="en-US" sz="800" b="0" i="0" kern="1200"/>
            <a:t> TrendPositive and linear, indicating consistent growth.</a:t>
          </a:r>
          <a:endParaRPr lang="en-IN" sz="800" kern="1200"/>
        </a:p>
      </dsp:txBody>
      <dsp:txXfrm>
        <a:off x="1392965" y="1328881"/>
        <a:ext cx="1382946" cy="1089241"/>
      </dsp:txXfrm>
    </dsp:sp>
    <dsp:sp modelId="{AA32FEE9-50A0-41B5-8AE8-8DE33923D93A}">
      <dsp:nvSpPr>
        <dsp:cNvPr id="0" name=""/>
        <dsp:cNvSpPr/>
      </dsp:nvSpPr>
      <dsp:spPr>
        <a:xfrm>
          <a:off x="1334040" y="2537402"/>
          <a:ext cx="1500796" cy="120709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30480" bIns="15240" numCol="1" spcCol="1270" anchor="ctr" anchorCtr="0">
          <a:noAutofit/>
        </a:bodyPr>
        <a:lstStyle/>
        <a:p>
          <a:pPr marL="0" lvl="0" indent="0" algn="ctr" defTabSz="355600">
            <a:lnSpc>
              <a:spcPct val="90000"/>
            </a:lnSpc>
            <a:spcBef>
              <a:spcPct val="0"/>
            </a:spcBef>
            <a:spcAft>
              <a:spcPct val="35000"/>
            </a:spcAft>
            <a:buNone/>
          </a:pPr>
          <a:r>
            <a:rPr lang="en-US" sz="800" b="1" i="0" kern="1200"/>
            <a:t>Seasonality:</a:t>
          </a:r>
          <a:r>
            <a:rPr lang="en-US" sz="800" b="0" i="0" kern="1200"/>
            <a:t>Multiplicative, fluctuations amplify with higher prices.</a:t>
          </a:r>
          <a:endParaRPr lang="en-IN" sz="800" kern="1200"/>
        </a:p>
      </dsp:txBody>
      <dsp:txXfrm>
        <a:off x="1392965" y="2596327"/>
        <a:ext cx="1382946" cy="1089241"/>
      </dsp:txXfrm>
    </dsp:sp>
    <dsp:sp modelId="{351D1979-CABC-4C0E-99B8-804B992CD404}">
      <dsp:nvSpPr>
        <dsp:cNvPr id="0" name=""/>
        <dsp:cNvSpPr/>
      </dsp:nvSpPr>
      <dsp:spPr>
        <a:xfrm>
          <a:off x="1334040" y="3804849"/>
          <a:ext cx="1500796" cy="120709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30480" bIns="15240" numCol="1" spcCol="1270" anchor="ctr" anchorCtr="0">
          <a:noAutofit/>
        </a:bodyPr>
        <a:lstStyle/>
        <a:p>
          <a:pPr marL="0" lvl="0" indent="0" algn="ctr" defTabSz="355600">
            <a:lnSpc>
              <a:spcPct val="90000"/>
            </a:lnSpc>
            <a:spcBef>
              <a:spcPct val="0"/>
            </a:spcBef>
            <a:spcAft>
              <a:spcPct val="35000"/>
            </a:spcAft>
            <a:buNone/>
          </a:pPr>
          <a:r>
            <a:rPr lang="en-US" sz="800" b="1" i="0" kern="1200"/>
            <a:t>Pandemic :</a:t>
          </a:r>
          <a:r>
            <a:rPr lang="en-US" sz="800" b="0" i="0" kern="1200"/>
            <a:t>ImpactInitial drop followed by robust recovery and growth.</a:t>
          </a:r>
          <a:endParaRPr lang="en-IN" sz="800" kern="1200"/>
        </a:p>
      </dsp:txBody>
      <dsp:txXfrm>
        <a:off x="1392965" y="3863774"/>
        <a:ext cx="1382946" cy="108924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04C4E-0F8D-48AF-80F2-E6E4DFA58BA3}" type="datetimeFigureOut">
              <a:rPr lang="en-IN" smtClean="0"/>
              <a:t>31-03-2025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CBFA20-0BE3-41E9-82DA-B0DD0F51F9BF}" type="slidenum">
              <a:rPr lang="en-IN" smtClean="0"/>
              <a:t>‹#›</a:t>
            </a:fld>
            <a:endParaRPr lang="en-IN"/>
          </a:p>
        </p:txBody>
      </p:sp>
    </p:spTree>
    <p:extLst>
      <p:ext uri="{BB962C8B-B14F-4D97-AF65-F5344CB8AC3E}">
        <p14:creationId xmlns:p14="http://schemas.microsoft.com/office/powerpoint/2010/main" val="777108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3/31/2025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3/31/2025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3/31/2025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3/31/2025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3/31/2025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9.png"/><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1EC96-A79A-E03D-053F-915B90A4905B}"/>
              </a:ext>
            </a:extLst>
          </p:cNvPr>
          <p:cNvSpPr>
            <a:spLocks noGrp="1"/>
          </p:cNvSpPr>
          <p:nvPr>
            <p:ph type="ctrTitle"/>
          </p:nvPr>
        </p:nvSpPr>
        <p:spPr>
          <a:xfrm>
            <a:off x="1002890" y="816077"/>
            <a:ext cx="10402529" cy="1264544"/>
          </a:xfrm>
        </p:spPr>
        <p:txBody>
          <a:bodyPr/>
          <a:lstStyle/>
          <a:p>
            <a:r>
              <a:rPr lang="en-IN" sz="2800" b="1" dirty="0">
                <a:effectLst/>
                <a:latin typeface="Arial" panose="020B0604020202020204" pitchFamily="34" charset="0"/>
                <a:ea typeface="Arial" panose="020B0604020202020204" pitchFamily="34" charset="0"/>
              </a:rPr>
              <a:t>                          STOCK MARKET ANALYSIS</a:t>
            </a:r>
            <a:br>
              <a:rPr lang="en-IN" sz="2800" dirty="0">
                <a:effectLst/>
                <a:latin typeface="Arial" panose="020B0604020202020204" pitchFamily="34" charset="0"/>
                <a:ea typeface="Arial" panose="020B0604020202020204" pitchFamily="34" charset="0"/>
              </a:rPr>
            </a:br>
            <a:endParaRPr lang="en-IN" sz="2800" dirty="0"/>
          </a:p>
        </p:txBody>
      </p:sp>
      <p:sp>
        <p:nvSpPr>
          <p:cNvPr id="3" name="Subtitle 2">
            <a:extLst>
              <a:ext uri="{FF2B5EF4-FFF2-40B4-BE49-F238E27FC236}">
                <a16:creationId xmlns:a16="http://schemas.microsoft.com/office/drawing/2014/main" id="{3B1854AC-E49F-8658-AF97-07F80274208C}"/>
              </a:ext>
            </a:extLst>
          </p:cNvPr>
          <p:cNvSpPr>
            <a:spLocks noGrp="1"/>
          </p:cNvSpPr>
          <p:nvPr>
            <p:ph type="subTitle" idx="1"/>
          </p:nvPr>
        </p:nvSpPr>
        <p:spPr>
          <a:xfrm>
            <a:off x="1002890" y="1799303"/>
            <a:ext cx="10402529" cy="3839497"/>
          </a:xfrm>
        </p:spPr>
        <p:txBody>
          <a:bodyPr>
            <a:normAutofit fontScale="92500"/>
          </a:bodyPr>
          <a:lstStyle/>
          <a:p>
            <a:r>
              <a:rPr lang="en-IN" sz="2000" b="1" dirty="0">
                <a:effectLst/>
                <a:latin typeface="Arial" panose="020B0604020202020204" pitchFamily="34" charset="0"/>
                <a:ea typeface="Arial" panose="020B0604020202020204" pitchFamily="34" charset="0"/>
              </a:rPr>
              <a:t>                                               Apple stock Forecast </a:t>
            </a:r>
          </a:p>
          <a:p>
            <a:endParaRPr lang="en-IN" sz="2000" b="1" dirty="0">
              <a:latin typeface="Arial" panose="020B0604020202020204" pitchFamily="34" charset="0"/>
              <a:ea typeface="Arial" panose="020B0604020202020204" pitchFamily="34" charset="0"/>
            </a:endParaRPr>
          </a:p>
          <a:p>
            <a:r>
              <a:rPr lang="en-IN" sz="1400" b="1" dirty="0">
                <a:latin typeface="Arial" panose="020B0604020202020204" pitchFamily="34" charset="0"/>
                <a:ea typeface="Arial" panose="020B0604020202020204" pitchFamily="34" charset="0"/>
              </a:rPr>
              <a:t>                                                                                                                                                          DONE BY:</a:t>
            </a:r>
          </a:p>
          <a:p>
            <a:r>
              <a:rPr lang="en-IN" sz="1400" b="1">
                <a:latin typeface="Arial" panose="020B0604020202020204" pitchFamily="34" charset="0"/>
                <a:ea typeface="Arial" panose="020B0604020202020204" pitchFamily="34" charset="0"/>
              </a:rPr>
              <a:t>                                                                                                                                                                          Group-5</a:t>
            </a:r>
            <a:endParaRPr lang="en-IN" sz="1400" b="1" dirty="0">
              <a:latin typeface="Arial" panose="020B0604020202020204" pitchFamily="34" charset="0"/>
              <a:ea typeface="Arial" panose="020B0604020202020204" pitchFamily="34" charset="0"/>
            </a:endParaRPr>
          </a:p>
          <a:p>
            <a:r>
              <a:rPr lang="en-IN" sz="1300" b="1">
                <a:effectLst/>
                <a:latin typeface="Arial" panose="020B0604020202020204" pitchFamily="34" charset="0"/>
                <a:ea typeface="Arial" panose="020B0604020202020204" pitchFamily="34" charset="0"/>
              </a:rPr>
              <a:t>                                                                                                                                                                    </a:t>
            </a:r>
            <a:r>
              <a:rPr lang="en-IN" sz="1300" b="1">
                <a:latin typeface="Arial" panose="020B0604020202020204" pitchFamily="34" charset="0"/>
                <a:ea typeface="Arial" panose="020B0604020202020204" pitchFamily="34" charset="0"/>
              </a:rPr>
              <a:t>Balaganesh</a:t>
            </a:r>
            <a:endParaRPr lang="en-IN" sz="1300" b="1" dirty="0">
              <a:effectLst/>
              <a:latin typeface="Arial" panose="020B0604020202020204" pitchFamily="34" charset="0"/>
              <a:ea typeface="Arial" panose="020B0604020202020204" pitchFamily="34" charset="0"/>
            </a:endParaRPr>
          </a:p>
          <a:p>
            <a:r>
              <a:rPr lang="en-IN" sz="1300" b="1">
                <a:latin typeface="Arial" panose="020B0604020202020204" pitchFamily="34" charset="0"/>
                <a:ea typeface="Arial" panose="020B0604020202020204" pitchFamily="34" charset="0"/>
              </a:rPr>
              <a:t>                                                                                                                                                                    Kshitija Ashokrao hangarge</a:t>
            </a:r>
            <a:endParaRPr lang="en-IN" sz="1300" b="1" dirty="0">
              <a:latin typeface="Arial" panose="020B0604020202020204" pitchFamily="34" charset="0"/>
              <a:ea typeface="Arial" panose="020B0604020202020204" pitchFamily="34" charset="0"/>
            </a:endParaRPr>
          </a:p>
          <a:p>
            <a:r>
              <a:rPr lang="en-IN" sz="1300" b="1">
                <a:effectLst/>
                <a:latin typeface="Arial" panose="020B0604020202020204" pitchFamily="34" charset="0"/>
                <a:ea typeface="Arial" panose="020B0604020202020204" pitchFamily="34" charset="0"/>
              </a:rPr>
              <a:t>                                                                                                                                                                    </a:t>
            </a:r>
            <a:r>
              <a:rPr lang="en-IN" sz="1300" b="1">
                <a:latin typeface="Arial" panose="020B0604020202020204" pitchFamily="34" charset="0"/>
                <a:ea typeface="Arial" panose="020B0604020202020204" pitchFamily="34" charset="0"/>
              </a:rPr>
              <a:t>Sahana k muktenahalli</a:t>
            </a:r>
            <a:endParaRPr lang="en-IN" sz="1300" b="1" dirty="0">
              <a:effectLst/>
              <a:latin typeface="Arial" panose="020B0604020202020204" pitchFamily="34" charset="0"/>
              <a:ea typeface="Arial" panose="020B0604020202020204" pitchFamily="34" charset="0"/>
            </a:endParaRPr>
          </a:p>
          <a:p>
            <a:r>
              <a:rPr lang="en-IN" sz="1300" b="1">
                <a:latin typeface="Arial" panose="020B0604020202020204" pitchFamily="34" charset="0"/>
                <a:ea typeface="Arial" panose="020B0604020202020204" pitchFamily="34" charset="0"/>
              </a:rPr>
              <a:t>                                                                                                                                                                    saka Sudheer kumar</a:t>
            </a:r>
            <a:endParaRPr lang="en-IN" sz="1300" b="1" dirty="0">
              <a:latin typeface="Arial" panose="020B0604020202020204" pitchFamily="34" charset="0"/>
              <a:ea typeface="Arial" panose="020B0604020202020204" pitchFamily="34" charset="0"/>
            </a:endParaRPr>
          </a:p>
          <a:p>
            <a:r>
              <a:rPr lang="en-IN" sz="1300" b="1">
                <a:effectLst/>
                <a:latin typeface="Arial" panose="020B0604020202020204" pitchFamily="34" charset="0"/>
                <a:ea typeface="Arial" panose="020B0604020202020204" pitchFamily="34" charset="0"/>
              </a:rPr>
              <a:t>                                                                                                                                                                    </a:t>
            </a:r>
            <a:r>
              <a:rPr lang="en-IN" sz="1300" b="1">
                <a:latin typeface="Arial" panose="020B0604020202020204" pitchFamily="34" charset="0"/>
                <a:ea typeface="Arial" panose="020B0604020202020204" pitchFamily="34" charset="0"/>
              </a:rPr>
              <a:t>prekshitha Shetty c</a:t>
            </a:r>
            <a:endParaRPr lang="en-IN" sz="1300" b="1" dirty="0">
              <a:effectLst/>
              <a:latin typeface="Arial" panose="020B0604020202020204" pitchFamily="34" charset="0"/>
              <a:ea typeface="Arial" panose="020B0604020202020204" pitchFamily="34" charset="0"/>
            </a:endParaRPr>
          </a:p>
          <a:p>
            <a:r>
              <a:rPr lang="en-IN" sz="1300" b="1">
                <a:effectLst/>
                <a:latin typeface="Arial" panose="020B0604020202020204" pitchFamily="34" charset="0"/>
                <a:ea typeface="Arial" panose="020B0604020202020204" pitchFamily="34" charset="0"/>
              </a:rPr>
              <a:t>                                                                                                                                                                    </a:t>
            </a:r>
            <a:r>
              <a:rPr lang="en-IN" sz="1300" b="1">
                <a:latin typeface="Arial" panose="020B0604020202020204" pitchFamily="34" charset="0"/>
                <a:ea typeface="Arial" panose="020B0604020202020204" pitchFamily="34" charset="0"/>
              </a:rPr>
              <a:t>Anushka chaudhary</a:t>
            </a:r>
            <a:endParaRPr lang="en-IN" sz="1300" b="1" dirty="0">
              <a:effectLst/>
              <a:latin typeface="Arial" panose="020B0604020202020204" pitchFamily="34" charset="0"/>
              <a:ea typeface="Arial" panose="020B0604020202020204" pitchFamily="34" charset="0"/>
            </a:endParaRPr>
          </a:p>
          <a:p>
            <a:r>
              <a:rPr lang="en-IN" sz="1300" b="1">
                <a:effectLst/>
                <a:latin typeface="Arial" panose="020B0604020202020204" pitchFamily="34" charset="0"/>
                <a:ea typeface="Arial" panose="020B0604020202020204" pitchFamily="34" charset="0"/>
              </a:rPr>
              <a:t>                                                                                                                                                                    </a:t>
            </a:r>
            <a:r>
              <a:rPr lang="en-IN" sz="1300" b="1">
                <a:latin typeface="Arial" panose="020B0604020202020204" pitchFamily="34" charset="0"/>
                <a:ea typeface="Arial" panose="020B0604020202020204" pitchFamily="34" charset="0"/>
              </a:rPr>
              <a:t>ronak sulthana asgari</a:t>
            </a:r>
            <a:br>
              <a:rPr lang="en-IN" sz="1300" dirty="0">
                <a:effectLst/>
                <a:latin typeface="Arial" panose="020B0604020202020204" pitchFamily="34" charset="0"/>
                <a:ea typeface="Arial" panose="020B0604020202020204" pitchFamily="34" charset="0"/>
              </a:rPr>
            </a:br>
            <a:endParaRPr lang="en-IN" sz="1300" dirty="0"/>
          </a:p>
        </p:txBody>
      </p:sp>
    </p:spTree>
    <p:extLst>
      <p:ext uri="{BB962C8B-B14F-4D97-AF65-F5344CB8AC3E}">
        <p14:creationId xmlns:p14="http://schemas.microsoft.com/office/powerpoint/2010/main" val="913826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E97E-21E0-5FEA-F501-66E3BD77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CF5CB-1A14-0F59-22D9-ADB9596C8C0B}"/>
              </a:ext>
            </a:extLst>
          </p:cNvPr>
          <p:cNvSpPr>
            <a:spLocks noGrp="1"/>
          </p:cNvSpPr>
          <p:nvPr>
            <p:ph type="title"/>
          </p:nvPr>
        </p:nvSpPr>
        <p:spPr>
          <a:xfrm>
            <a:off x="1154954" y="973668"/>
            <a:ext cx="10319291" cy="706964"/>
          </a:xfrm>
        </p:spPr>
        <p:txBody>
          <a:bodyPr/>
          <a:lstStyle/>
          <a:p>
            <a:r>
              <a:rPr lang="en-US" dirty="0">
                <a:latin typeface="Times New Roman" panose="02020603050405020304" pitchFamily="18" charset="0"/>
                <a:cs typeface="Times New Roman" panose="02020603050405020304" pitchFamily="18" charset="0"/>
              </a:rPr>
              <a:t>                            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C331F3-839F-B61F-3AFC-256CD0516C22}"/>
              </a:ext>
            </a:extLst>
          </p:cNvPr>
          <p:cNvSpPr>
            <a:spLocks noGrp="1"/>
          </p:cNvSpPr>
          <p:nvPr>
            <p:ph idx="1"/>
          </p:nvPr>
        </p:nvSpPr>
        <p:spPr>
          <a:xfrm>
            <a:off x="471948" y="2349910"/>
            <a:ext cx="11208775" cy="3669890"/>
          </a:xfrm>
        </p:spPr>
        <p:txBody>
          <a:bodyPr>
            <a:normAutofit/>
          </a:bodyPr>
          <a:lstStyle/>
          <a:p>
            <a:pPr>
              <a:lnSpc>
                <a:spcPct val="115000"/>
              </a:lnSpc>
              <a:buFont typeface="Wingdings" panose="05000000000000000000" pitchFamily="2" charset="2"/>
              <a:buChar char="Ø"/>
            </a:pPr>
            <a:r>
              <a:rPr lang="en-IN" dirty="0">
                <a:effectLst/>
                <a:latin typeface="Times New Roman" panose="02020603050405020304" pitchFamily="18" charset="0"/>
                <a:ea typeface="Arial" panose="020B0604020202020204" pitchFamily="34" charset="0"/>
                <a:cs typeface="Times New Roman" panose="02020603050405020304" pitchFamily="18" charset="0"/>
              </a:rPr>
              <a:t>Predict the apple stock market price for the next 30 days.</a:t>
            </a:r>
          </a:p>
          <a:p>
            <a:pPr>
              <a:lnSpc>
                <a:spcPct val="115000"/>
              </a:lnSpc>
              <a:buFont typeface="Wingdings" panose="05000000000000000000" pitchFamily="2" charset="2"/>
              <a:buChar char="Ø"/>
            </a:pPr>
            <a:r>
              <a:rPr lang="en-IN" dirty="0">
                <a:effectLst/>
                <a:latin typeface="Times New Roman" panose="02020603050405020304" pitchFamily="18" charset="0"/>
                <a:ea typeface="Arial" panose="020B0604020202020204" pitchFamily="34" charset="0"/>
                <a:cs typeface="Times New Roman" panose="02020603050405020304" pitchFamily="18" charset="0"/>
              </a:rPr>
              <a:t>There are Open, High, Low and Close prices that have been given for each day starting from 2012 to 2019 for Apple stock.</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Apply </a:t>
            </a:r>
            <a:r>
              <a:rPr lang="en-US" b="1" dirty="0">
                <a:latin typeface="Times New Roman" panose="02020603050405020304" pitchFamily="18" charset="0"/>
                <a:cs typeface="Times New Roman" panose="02020603050405020304" pitchFamily="18" charset="0"/>
              </a:rPr>
              <a:t>data preprocessing</a:t>
            </a:r>
            <a:r>
              <a:rPr lang="en-US" dirty="0">
                <a:latin typeface="Times New Roman" panose="02020603050405020304" pitchFamily="18" charset="0"/>
                <a:cs typeface="Times New Roman" panose="02020603050405020304" pitchFamily="18" charset="0"/>
              </a:rPr>
              <a:t> techniques such as cleaning the data, feature engineering (adding technical indicators like moving averages), and scaling the data to make it suitable for machine learning models.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Explore various forecasting models like </a:t>
            </a:r>
            <a:r>
              <a:rPr lang="en-US" b="1" dirty="0">
                <a:latin typeface="Times New Roman" panose="02020603050405020304" pitchFamily="18" charset="0"/>
                <a:cs typeface="Times New Roman" panose="02020603050405020304" pitchFamily="18" charset="0"/>
              </a:rPr>
              <a:t>ARIMA</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Random Forest</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LSTM</a:t>
            </a:r>
            <a:r>
              <a:rPr lang="en-US" dirty="0">
                <a:latin typeface="Times New Roman" panose="02020603050405020304" pitchFamily="18" charset="0"/>
                <a:cs typeface="Times New Roman" panose="02020603050405020304" pitchFamily="18" charset="0"/>
              </a:rPr>
              <a:t> (Long Short-Term Memory) networks, a type of recurrent neural network (RNN) specialized for time series data.</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Evaluate the performance of these models using different metrics such as </a:t>
            </a:r>
            <a:r>
              <a:rPr lang="en-US" b="1" dirty="0">
                <a:latin typeface="Times New Roman" panose="02020603050405020304" pitchFamily="18" charset="0"/>
                <a:cs typeface="Times New Roman" panose="02020603050405020304" pitchFamily="18" charset="0"/>
              </a:rPr>
              <a:t>Mean Absolute Error (MAE)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Mean Squared Error (MSE)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Root Mean Squared Error (RMSE)</a:t>
            </a:r>
            <a:r>
              <a:rPr lang="en-US" dirty="0">
                <a:latin typeface="Times New Roman" panose="02020603050405020304" pitchFamily="18" charset="0"/>
                <a:cs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3653919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1286F-E879-ED21-2831-468B3018E13E}"/>
              </a:ext>
            </a:extLst>
          </p:cNvPr>
          <p:cNvSpPr>
            <a:spLocks noGrp="1"/>
          </p:cNvSpPr>
          <p:nvPr>
            <p:ph type="title"/>
          </p:nvPr>
        </p:nvSpPr>
        <p:spPr/>
        <p:txBody>
          <a:bodyPr/>
          <a:lstStyle/>
          <a:p>
            <a:r>
              <a:rPr lang="en-US" dirty="0"/>
              <a:t>                         OBJECTIVES</a:t>
            </a:r>
            <a:endParaRPr lang="en-IN" dirty="0"/>
          </a:p>
        </p:txBody>
      </p:sp>
      <p:sp>
        <p:nvSpPr>
          <p:cNvPr id="3" name="Content Placeholder 2">
            <a:extLst>
              <a:ext uri="{FF2B5EF4-FFF2-40B4-BE49-F238E27FC236}">
                <a16:creationId xmlns:a16="http://schemas.microsoft.com/office/drawing/2014/main" id="{34C07CCF-B247-CCB5-B303-F02BB2707DCD}"/>
              </a:ext>
            </a:extLst>
          </p:cNvPr>
          <p:cNvSpPr>
            <a:spLocks noGrp="1"/>
          </p:cNvSpPr>
          <p:nvPr>
            <p:ph idx="1"/>
          </p:nvPr>
        </p:nvSpPr>
        <p:spPr>
          <a:xfrm>
            <a:off x="3441290" y="2349910"/>
            <a:ext cx="8200104" cy="3962400"/>
          </a:xfrm>
        </p:spPr>
        <p:txBody>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Data Collection and Exploration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Preprocessing and Feature Engineering</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Machine Learning Model Development</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Model Evaluation </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Prediction and Visualization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Model Deployment </a:t>
            </a:r>
          </a:p>
          <a:p>
            <a:pPr marL="0" indent="0">
              <a:buNone/>
            </a:pPr>
            <a:endParaRPr lang="en-IN" dirty="0"/>
          </a:p>
        </p:txBody>
      </p:sp>
    </p:spTree>
    <p:extLst>
      <p:ext uri="{BB962C8B-B14F-4D97-AF65-F5344CB8AC3E}">
        <p14:creationId xmlns:p14="http://schemas.microsoft.com/office/powerpoint/2010/main" val="415915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E6FD9-E295-0E47-A007-E5E1E51EF7B9}"/>
              </a:ext>
            </a:extLst>
          </p:cNvPr>
          <p:cNvSpPr>
            <a:spLocks noGrp="1"/>
          </p:cNvSpPr>
          <p:nvPr>
            <p:ph type="title"/>
          </p:nvPr>
        </p:nvSpPr>
        <p:spPr/>
        <p:txBody>
          <a:bodyPr/>
          <a:lstStyle/>
          <a:p>
            <a:r>
              <a:rPr lang="en-US" dirty="0"/>
              <a:t>                LIBRARIES AND TOOLS</a:t>
            </a:r>
            <a:endParaRPr lang="en-IN" dirty="0"/>
          </a:p>
        </p:txBody>
      </p:sp>
      <p:sp>
        <p:nvSpPr>
          <p:cNvPr id="3" name="Content Placeholder 2">
            <a:extLst>
              <a:ext uri="{FF2B5EF4-FFF2-40B4-BE49-F238E27FC236}">
                <a16:creationId xmlns:a16="http://schemas.microsoft.com/office/drawing/2014/main" id="{0954F8DB-E82F-9580-7CE9-F843BB77F8A5}"/>
              </a:ext>
            </a:extLst>
          </p:cNvPr>
          <p:cNvSpPr>
            <a:spLocks noGrp="1"/>
          </p:cNvSpPr>
          <p:nvPr>
            <p:ph idx="1"/>
          </p:nvPr>
        </p:nvSpPr>
        <p:spPr>
          <a:xfrm>
            <a:off x="2497394" y="2379405"/>
            <a:ext cx="9242322" cy="4129549"/>
          </a:xfrm>
        </p:spPr>
        <p:txBody>
          <a:bodyPr/>
          <a:lstStyle/>
          <a:p>
            <a:pPr marL="45720" indent="0">
              <a:buNone/>
            </a:pPr>
            <a:r>
              <a:rPr lang="en-US" sz="1800" b="1" dirty="0">
                <a:latin typeface="Times New Roman" pitchFamily="18" charset="0"/>
                <a:cs typeface="Times New Roman" pitchFamily="18" charset="0"/>
              </a:rPr>
              <a:t>Data Manipulation:                                               Model Building:</a:t>
            </a:r>
          </a:p>
          <a:p>
            <a:pPr marL="45720" indent="0">
              <a:buNone/>
            </a:pPr>
            <a:r>
              <a:rPr lang="en-US" sz="1800" dirty="0">
                <a:latin typeface="Times New Roman" pitchFamily="18" charset="0"/>
                <a:cs typeface="Times New Roman" pitchFamily="18" charset="0"/>
              </a:rPr>
              <a:t>1.Numpy                                                                   1.Scikit-Learn</a:t>
            </a:r>
          </a:p>
          <a:p>
            <a:pPr marL="45720" indent="0">
              <a:buNone/>
            </a:pPr>
            <a:r>
              <a:rPr lang="en-US" sz="1800" dirty="0">
                <a:latin typeface="Times New Roman" pitchFamily="18" charset="0"/>
                <a:cs typeface="Times New Roman" pitchFamily="18" charset="0"/>
              </a:rPr>
              <a:t>2.Pandas</a:t>
            </a:r>
          </a:p>
          <a:p>
            <a:pPr marL="45720" indent="0">
              <a:buNone/>
            </a:pPr>
            <a:r>
              <a:rPr lang="en-US" sz="1800" b="1" dirty="0">
                <a:latin typeface="Times New Roman" pitchFamily="18" charset="0"/>
                <a:cs typeface="Times New Roman" pitchFamily="18" charset="0"/>
              </a:rPr>
              <a:t>Data Visualization:                                               Model Evaluation:</a:t>
            </a:r>
          </a:p>
          <a:p>
            <a:pPr marL="45720" indent="0">
              <a:buNone/>
            </a:pPr>
            <a:r>
              <a:rPr lang="en-US" sz="1800" dirty="0">
                <a:latin typeface="Times New Roman" pitchFamily="18" charset="0"/>
                <a:cs typeface="Times New Roman" pitchFamily="18" charset="0"/>
              </a:rPr>
              <a:t>1.Matplotlib                                                             1.Scikit-Learn</a:t>
            </a:r>
          </a:p>
          <a:p>
            <a:pPr marL="45720" indent="0">
              <a:buNone/>
            </a:pPr>
            <a:r>
              <a:rPr lang="en-US" sz="1800" dirty="0">
                <a:latin typeface="Times New Roman" pitchFamily="18" charset="0"/>
                <a:cs typeface="Times New Roman" pitchFamily="18" charset="0"/>
              </a:rPr>
              <a:t>2.Seaborn</a:t>
            </a:r>
          </a:p>
          <a:p>
            <a:pPr marL="45720" indent="0">
              <a:buNone/>
            </a:pPr>
            <a:r>
              <a:rPr lang="en-US" sz="1800" b="1" dirty="0">
                <a:latin typeface="Times New Roman" pitchFamily="18" charset="0"/>
                <a:cs typeface="Times New Roman" pitchFamily="18" charset="0"/>
              </a:rPr>
              <a:t>Data Preprocessing:                                             Model Deployment:</a:t>
            </a:r>
          </a:p>
          <a:p>
            <a:pPr marL="45720" indent="0">
              <a:buNone/>
            </a:pPr>
            <a:r>
              <a:rPr lang="en-US" sz="1800" dirty="0">
                <a:latin typeface="Times New Roman" pitchFamily="18" charset="0"/>
                <a:cs typeface="Times New Roman" pitchFamily="18" charset="0"/>
              </a:rPr>
              <a:t>1.Standard Scaler                                                    1.pickle</a:t>
            </a:r>
          </a:p>
          <a:p>
            <a:pPr marL="45720" indent="0">
              <a:buNone/>
            </a:pPr>
            <a:r>
              <a:rPr lang="en-US" sz="1800" dirty="0">
                <a:latin typeface="Times New Roman" pitchFamily="18" charset="0"/>
                <a:cs typeface="Times New Roman" pitchFamily="18" charset="0"/>
              </a:rPr>
              <a:t>2.Train Test Split                                                     2.Streamlit</a:t>
            </a:r>
          </a:p>
          <a:p>
            <a:endParaRPr lang="en-IN" dirty="0"/>
          </a:p>
        </p:txBody>
      </p:sp>
    </p:spTree>
    <p:extLst>
      <p:ext uri="{BB962C8B-B14F-4D97-AF65-F5344CB8AC3E}">
        <p14:creationId xmlns:p14="http://schemas.microsoft.com/office/powerpoint/2010/main" val="1674175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9D51C-40A6-8791-0169-24E6DFA14C2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EDA (Exploring Data Analysis)</a:t>
            </a:r>
            <a:endParaRPr lang="en-IN" b="1" dirty="0">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id="{133A9C5A-F053-EFDD-FB6C-2D53C90A0CB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96181" y="2202425"/>
            <a:ext cx="9665109" cy="4060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6727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1D922-B9E3-60FB-826B-02382661C0D3}"/>
              </a:ext>
            </a:extLst>
          </p:cNvPr>
          <p:cNvSpPr>
            <a:spLocks noGrp="1"/>
          </p:cNvSpPr>
          <p:nvPr>
            <p:ph type="title"/>
          </p:nvPr>
        </p:nvSpPr>
        <p:spPr>
          <a:xfrm>
            <a:off x="1154954" y="973668"/>
            <a:ext cx="9277072" cy="706964"/>
          </a:xfrm>
        </p:spPr>
        <p:txBody>
          <a:bodyPr/>
          <a:lstStyle/>
          <a:p>
            <a:r>
              <a:rPr lang="en-US" dirty="0"/>
              <a:t>                                EDA</a:t>
            </a:r>
            <a:endParaRPr lang="en-IN" dirty="0"/>
          </a:p>
        </p:txBody>
      </p:sp>
      <p:sp>
        <p:nvSpPr>
          <p:cNvPr id="3" name="Content Placeholder 2">
            <a:extLst>
              <a:ext uri="{FF2B5EF4-FFF2-40B4-BE49-F238E27FC236}">
                <a16:creationId xmlns:a16="http://schemas.microsoft.com/office/drawing/2014/main" id="{E15533F3-797D-8AAC-FD50-0389CC134035}"/>
              </a:ext>
            </a:extLst>
          </p:cNvPr>
          <p:cNvSpPr>
            <a:spLocks noGrp="1"/>
          </p:cNvSpPr>
          <p:nvPr>
            <p:ph idx="1"/>
          </p:nvPr>
        </p:nvSpPr>
        <p:spPr>
          <a:xfrm>
            <a:off x="560439" y="2202426"/>
            <a:ext cx="11287432" cy="4414684"/>
          </a:xfrm>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It involves analyzing the main characteristics of the data set, often visualizing the data, to understand its structure, discover patterns, spot anomalies, and check assumptions before applying more advanced statistical methods or machine learning algorithms</a:t>
            </a:r>
            <a:endParaRPr lang="en-US" sz="19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 Summarizing the dataset: </a:t>
            </a:r>
          </a:p>
          <a:p>
            <a:pPr marL="0" indent="0">
              <a:buNone/>
            </a:pPr>
            <a:r>
              <a:rPr lang="en-US" sz="1900" dirty="0">
                <a:latin typeface="Times New Roman" panose="02020603050405020304" pitchFamily="18" charset="0"/>
                <a:cs typeface="Times New Roman" panose="02020603050405020304" pitchFamily="18" charset="0"/>
              </a:rPr>
              <a:t>By using descriptive statistics to get insights into the data, such as mean, median, mode, variance, and standard deviation.</a:t>
            </a:r>
          </a:p>
          <a:p>
            <a:pPr>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 Visualizing the data: </a:t>
            </a:r>
          </a:p>
          <a:p>
            <a:pPr marL="0" indent="0">
              <a:buNone/>
            </a:pPr>
            <a:r>
              <a:rPr lang="en-US" sz="1900" dirty="0">
                <a:latin typeface="Times New Roman" panose="02020603050405020304" pitchFamily="18" charset="0"/>
                <a:cs typeface="Times New Roman" panose="02020603050405020304" pitchFamily="18" charset="0"/>
              </a:rPr>
              <a:t>Employing plots like histograms, bar charts, box plots, scatter plots, and heatmaps to get a better understanding of the distribution and relationships in the data.</a:t>
            </a:r>
          </a:p>
          <a:p>
            <a:pPr>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 Identifying outliers and anomalies: </a:t>
            </a:r>
          </a:p>
          <a:p>
            <a:pPr marL="0" indent="0">
              <a:buNone/>
            </a:pPr>
            <a:r>
              <a:rPr lang="en-US" sz="1900" dirty="0">
                <a:latin typeface="Times New Roman" panose="02020603050405020304" pitchFamily="18" charset="0"/>
                <a:cs typeface="Times New Roman" panose="02020603050405020304" pitchFamily="18" charset="0"/>
              </a:rPr>
              <a:t>Detecting unusual data points that might indicate data entry errors or significant insights.</a:t>
            </a:r>
          </a:p>
          <a:p>
            <a:pPr>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 Handling missing values: </a:t>
            </a:r>
          </a:p>
          <a:p>
            <a:pPr marL="0" indent="0">
              <a:buNone/>
            </a:pPr>
            <a:r>
              <a:rPr lang="en-US" sz="1900" dirty="0">
                <a:latin typeface="Times New Roman" panose="02020603050405020304" pitchFamily="18" charset="0"/>
                <a:cs typeface="Times New Roman" panose="02020603050405020304" pitchFamily="18" charset="0"/>
              </a:rPr>
              <a:t>Understanding the nature and extent of missing data to decide on appropriate methods for dealing with them, such as imputation or removal.</a:t>
            </a:r>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4721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C3940-9853-1325-5EC4-C97B577EF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AE8DE-28DC-2F02-EDA6-9DBFA7EF84DD}"/>
              </a:ext>
            </a:extLst>
          </p:cNvPr>
          <p:cNvSpPr>
            <a:spLocks noGrp="1"/>
          </p:cNvSpPr>
          <p:nvPr>
            <p:ph type="title"/>
          </p:nvPr>
        </p:nvSpPr>
        <p:spPr>
          <a:xfrm>
            <a:off x="1154954" y="973668"/>
            <a:ext cx="9277072" cy="706964"/>
          </a:xfrm>
        </p:spPr>
        <p:txBody>
          <a:bodyPr/>
          <a:lstStyle/>
          <a:p>
            <a:r>
              <a:rPr lang="en-US" dirty="0"/>
              <a:t>                           TECHNIQUES</a:t>
            </a:r>
            <a:endParaRPr lang="en-IN" dirty="0"/>
          </a:p>
        </p:txBody>
      </p:sp>
      <p:sp>
        <p:nvSpPr>
          <p:cNvPr id="3" name="Content Placeholder 2">
            <a:extLst>
              <a:ext uri="{FF2B5EF4-FFF2-40B4-BE49-F238E27FC236}">
                <a16:creationId xmlns:a16="http://schemas.microsoft.com/office/drawing/2014/main" id="{0DE0B2BB-4CF8-0A54-D140-21A655E998EC}"/>
              </a:ext>
            </a:extLst>
          </p:cNvPr>
          <p:cNvSpPr>
            <a:spLocks noGrp="1"/>
          </p:cNvSpPr>
          <p:nvPr>
            <p:ph idx="1"/>
          </p:nvPr>
        </p:nvSpPr>
        <p:spPr>
          <a:xfrm>
            <a:off x="560439" y="2202426"/>
            <a:ext cx="11287432" cy="4414684"/>
          </a:xfrm>
        </p:spPr>
        <p:txBody>
          <a:bodyPr>
            <a:normAutofit/>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Handling Missing Values:</a:t>
            </a:r>
          </a:p>
          <a:p>
            <a:pPr marL="0" indent="0">
              <a:buNone/>
            </a:pPr>
            <a:r>
              <a:rPr lang="en-US" dirty="0">
                <a:latin typeface="Times New Roman" panose="02020603050405020304" pitchFamily="18" charset="0"/>
                <a:cs typeface="Times New Roman" panose="02020603050405020304" pitchFamily="18" charset="0"/>
              </a:rPr>
              <a:t> Identifying and addressing missing data through techniques such as imputation, deletion, or using algorithms that can handle missing values.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Outlier Detection: </a:t>
            </a:r>
          </a:p>
          <a:p>
            <a:pPr marL="0" indent="0">
              <a:buNone/>
            </a:pPr>
            <a:r>
              <a:rPr lang="en-US" dirty="0">
                <a:latin typeface="Times New Roman" panose="02020603050405020304" pitchFamily="18" charset="0"/>
                <a:cs typeface="Times New Roman" panose="02020603050405020304" pitchFamily="18" charset="0"/>
              </a:rPr>
              <a:t>Identifying unusual data points that can skew the analysis. Techniques include using, IQR methods, and visual inspections via box plots.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Feature Selection:</a:t>
            </a:r>
          </a:p>
          <a:p>
            <a:pPr marL="0" indent="0">
              <a:buNone/>
            </a:pPr>
            <a:r>
              <a:rPr lang="en-US" dirty="0">
                <a:latin typeface="Times New Roman" panose="02020603050405020304" pitchFamily="18" charset="0"/>
                <a:cs typeface="Times New Roman" panose="02020603050405020304" pitchFamily="18" charset="0"/>
              </a:rPr>
              <a:t> selecting the most important features using hypothesis testing and using </a:t>
            </a:r>
            <a:r>
              <a:rPr lang="en-US" dirty="0" err="1">
                <a:latin typeface="Times New Roman" panose="02020603050405020304" pitchFamily="18" charset="0"/>
                <a:cs typeface="Times New Roman" panose="02020603050405020304" pitchFamily="18" charset="0"/>
              </a:rPr>
              <a:t>ols</a:t>
            </a:r>
            <a:r>
              <a:rPr lang="en-US" dirty="0">
                <a:latin typeface="Times New Roman" panose="02020603050405020304" pitchFamily="18" charset="0"/>
                <a:cs typeface="Times New Roman" panose="02020603050405020304" pitchFamily="18" charset="0"/>
              </a:rPr>
              <a:t> method and using random forest regressor it gives the importance score of features. </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Data Scaling : </a:t>
            </a:r>
          </a:p>
          <a:p>
            <a:pPr marL="0" indent="0">
              <a:buNone/>
            </a:pPr>
            <a:r>
              <a:rPr lang="en-US" dirty="0">
                <a:latin typeface="Times New Roman" panose="02020603050405020304" pitchFamily="18" charset="0"/>
                <a:cs typeface="Times New Roman" panose="02020603050405020304" pitchFamily="18" charset="0"/>
              </a:rPr>
              <a:t>using the standard scaler we scaled the data that is beneficial for our model to learn patterns </a:t>
            </a:r>
            <a:r>
              <a:rPr lang="en-US" dirty="0" err="1">
                <a:latin typeface="Times New Roman" panose="02020603050405020304" pitchFamily="18" charset="0"/>
                <a:cs typeface="Times New Roman" panose="02020603050405020304" pitchFamily="18" charset="0"/>
              </a:rPr>
              <a:t>amongs</a:t>
            </a:r>
            <a:r>
              <a:rPr lang="en-US" dirty="0">
                <a:latin typeface="Times New Roman" panose="02020603050405020304" pitchFamily="18" charset="0"/>
                <a:cs typeface="Times New Roman" panose="02020603050405020304" pitchFamily="18" charset="0"/>
              </a:rPr>
              <a:t> the data.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8532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8EB27-0FC2-B53A-C6FC-D96DDA5E7355}"/>
              </a:ext>
            </a:extLst>
          </p:cNvPr>
          <p:cNvSpPr>
            <a:spLocks noGrp="1"/>
          </p:cNvSpPr>
          <p:nvPr>
            <p:ph type="title"/>
          </p:nvPr>
        </p:nvSpPr>
        <p:spPr/>
        <p:txBody>
          <a:bodyPr/>
          <a:lstStyle/>
          <a:p>
            <a:r>
              <a:rPr lang="en-US" dirty="0"/>
              <a:t>                       DATA OVERVIEW</a:t>
            </a:r>
            <a:endParaRPr lang="en-IN" dirty="0"/>
          </a:p>
        </p:txBody>
      </p:sp>
      <p:sp>
        <p:nvSpPr>
          <p:cNvPr id="3" name="Content Placeholder 2">
            <a:extLst>
              <a:ext uri="{FF2B5EF4-FFF2-40B4-BE49-F238E27FC236}">
                <a16:creationId xmlns:a16="http://schemas.microsoft.com/office/drawing/2014/main" id="{4D725EF1-AD0E-5F4F-4884-836E52F6A42E}"/>
              </a:ext>
            </a:extLst>
          </p:cNvPr>
          <p:cNvSpPr>
            <a:spLocks noGrp="1"/>
          </p:cNvSpPr>
          <p:nvPr>
            <p:ph idx="1"/>
          </p:nvPr>
        </p:nvSpPr>
        <p:spPr>
          <a:xfrm>
            <a:off x="511277" y="2133600"/>
            <a:ext cx="11198941" cy="4345858"/>
          </a:xfrm>
        </p:spPr>
        <p:txBody>
          <a:bodyPr>
            <a:normAutofit fontScale="92500"/>
          </a:bodyPr>
          <a:lstStyle/>
          <a:p>
            <a:pPr marL="0" indent="0">
              <a:buNone/>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The  API provides a comprehensive dataset of  stock prices. The dataset contains various columns, each representing a different aspect of the stock's performance</a:t>
            </a:r>
          </a:p>
          <a:p>
            <a:pPr marL="0" indent="0">
              <a:buNone/>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Here's a breakdown of the columns in our dataset:</a:t>
            </a:r>
          </a:p>
          <a:p>
            <a:pPr>
              <a:buFont typeface="Wingdings" panose="05000000000000000000" pitchFamily="2" charset="2"/>
              <a:buChar char="Ø"/>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Date : The date on which the data was recorded.</a:t>
            </a:r>
            <a:endParaRPr lang="en-US" sz="18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Open : The opening price of the stock for the day.</a:t>
            </a:r>
            <a:endParaRPr lang="en-US" sz="18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High : The highest price the stock reached during the day.</a:t>
            </a:r>
            <a:endParaRPr lang="en-US" sz="18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Low :  The lowest price the stock reached during the day.</a:t>
            </a:r>
            <a:endParaRPr lang="en-US" sz="18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Close : The closing price of the stock for the day.</a:t>
            </a:r>
            <a:endParaRPr lang="en-US" sz="18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Adj Close : The adjusted closing price, accounting for stock splits and dividends.</a:t>
            </a:r>
            <a:endParaRPr lang="en-US" sz="18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Volume : The number of shares traded during the day.</a:t>
            </a:r>
            <a:endParaRPr lang="en-US"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Understanding the purpose of each column is crucial for effectively analyzing the data and building an accurate prediction model. By utilizing this data, we aim to uncover trends and patterns that can be used to forecast future stock prices.</a:t>
            </a:r>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p>
          <a:p>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endParaRPr>
          </a:p>
        </p:txBody>
      </p:sp>
    </p:spTree>
    <p:extLst>
      <p:ext uri="{BB962C8B-B14F-4D97-AF65-F5344CB8AC3E}">
        <p14:creationId xmlns:p14="http://schemas.microsoft.com/office/powerpoint/2010/main" val="1690213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AAE2D-D241-FCFD-49F2-E92D9EC2C681}"/>
              </a:ext>
            </a:extLst>
          </p:cNvPr>
          <p:cNvSpPr>
            <a:spLocks noGrp="1"/>
          </p:cNvSpPr>
          <p:nvPr>
            <p:ph type="title"/>
          </p:nvPr>
        </p:nvSpPr>
        <p:spPr>
          <a:xfrm>
            <a:off x="1154954" y="540774"/>
            <a:ext cx="8761413" cy="1139858"/>
          </a:xfrm>
        </p:spPr>
        <p:txBody>
          <a:bodyPr/>
          <a:lstStyle/>
          <a:p>
            <a:r>
              <a:rPr lang="en-US" dirty="0"/>
              <a:t>                     VISUALIZATIONS</a:t>
            </a:r>
            <a:br>
              <a:rPr lang="en-US" dirty="0"/>
            </a:br>
            <a:r>
              <a:rPr lang="en-US" dirty="0"/>
              <a:t>                       </a:t>
            </a:r>
            <a:r>
              <a:rPr lang="en-US" sz="2400" dirty="0"/>
              <a:t>OPEN</a:t>
            </a:r>
            <a:r>
              <a:rPr lang="en-US" dirty="0"/>
              <a:t> </a:t>
            </a:r>
            <a:r>
              <a:rPr lang="en-US" sz="2400" dirty="0"/>
              <a:t>OVER</a:t>
            </a:r>
            <a:r>
              <a:rPr lang="en-US" dirty="0"/>
              <a:t> </a:t>
            </a:r>
            <a:r>
              <a:rPr lang="en-US" sz="2400" dirty="0"/>
              <a:t>TIME</a:t>
            </a:r>
            <a:endParaRPr lang="en-IN" sz="2400" dirty="0"/>
          </a:p>
        </p:txBody>
      </p:sp>
      <p:pic>
        <p:nvPicPr>
          <p:cNvPr id="5" name="Content Placeholder 4">
            <a:extLst>
              <a:ext uri="{FF2B5EF4-FFF2-40B4-BE49-F238E27FC236}">
                <a16:creationId xmlns:a16="http://schemas.microsoft.com/office/drawing/2014/main" id="{0F4A0EF7-7403-BCB0-F5E2-439CF0A75DE2}"/>
              </a:ext>
            </a:extLst>
          </p:cNvPr>
          <p:cNvPicPr>
            <a:picLocks noGrp="1" noChangeAspect="1"/>
          </p:cNvPicPr>
          <p:nvPr>
            <p:ph idx="1"/>
          </p:nvPr>
        </p:nvPicPr>
        <p:blipFill>
          <a:blip r:embed="rId2"/>
          <a:stretch>
            <a:fillRect/>
          </a:stretch>
        </p:blipFill>
        <p:spPr>
          <a:xfrm>
            <a:off x="875072" y="2290763"/>
            <a:ext cx="10264876" cy="4140200"/>
          </a:xfrm>
          <a:prstGeom prst="rect">
            <a:avLst/>
          </a:prstGeom>
        </p:spPr>
      </p:pic>
    </p:spTree>
    <p:extLst>
      <p:ext uri="{BB962C8B-B14F-4D97-AF65-F5344CB8AC3E}">
        <p14:creationId xmlns:p14="http://schemas.microsoft.com/office/powerpoint/2010/main" val="670853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568A7-4A30-E26E-5895-A3E8F60D357E}"/>
              </a:ext>
            </a:extLst>
          </p:cNvPr>
          <p:cNvSpPr>
            <a:spLocks noGrp="1"/>
          </p:cNvSpPr>
          <p:nvPr>
            <p:ph type="title"/>
          </p:nvPr>
        </p:nvSpPr>
        <p:spPr/>
        <p:txBody>
          <a:bodyPr/>
          <a:lstStyle/>
          <a:p>
            <a:r>
              <a:rPr lang="en-US" dirty="0"/>
              <a:t>                        HIGH OVER TIME</a:t>
            </a:r>
            <a:endParaRPr lang="en-IN" dirty="0"/>
          </a:p>
        </p:txBody>
      </p:sp>
      <p:pic>
        <p:nvPicPr>
          <p:cNvPr id="4" name="Content Placeholder 3">
            <a:extLst>
              <a:ext uri="{FF2B5EF4-FFF2-40B4-BE49-F238E27FC236}">
                <a16:creationId xmlns:a16="http://schemas.microsoft.com/office/drawing/2014/main" id="{392AFB9A-E3B1-7547-206E-2527416A4171}"/>
              </a:ext>
            </a:extLst>
          </p:cNvPr>
          <p:cNvPicPr>
            <a:picLocks noGrp="1" noChangeAspect="1"/>
          </p:cNvPicPr>
          <p:nvPr>
            <p:ph idx="1"/>
          </p:nvPr>
        </p:nvPicPr>
        <p:blipFill>
          <a:blip r:embed="rId2"/>
          <a:stretch>
            <a:fillRect/>
          </a:stretch>
        </p:blipFill>
        <p:spPr>
          <a:xfrm>
            <a:off x="1002890" y="2192593"/>
            <a:ext cx="10500852" cy="4247535"/>
          </a:xfrm>
          <a:prstGeom prst="rect">
            <a:avLst/>
          </a:prstGeom>
        </p:spPr>
      </p:pic>
    </p:spTree>
    <p:extLst>
      <p:ext uri="{BB962C8B-B14F-4D97-AF65-F5344CB8AC3E}">
        <p14:creationId xmlns:p14="http://schemas.microsoft.com/office/powerpoint/2010/main" val="4165844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D903E-98F6-4BF4-7A4C-E007301EA8EA}"/>
              </a:ext>
            </a:extLst>
          </p:cNvPr>
          <p:cNvSpPr>
            <a:spLocks noGrp="1"/>
          </p:cNvSpPr>
          <p:nvPr>
            <p:ph type="title"/>
          </p:nvPr>
        </p:nvSpPr>
        <p:spPr/>
        <p:txBody>
          <a:bodyPr/>
          <a:lstStyle/>
          <a:p>
            <a:r>
              <a:rPr lang="en-US" dirty="0"/>
              <a:t>                      LOW OVER TIME</a:t>
            </a:r>
            <a:endParaRPr lang="en-IN" dirty="0"/>
          </a:p>
        </p:txBody>
      </p:sp>
      <p:pic>
        <p:nvPicPr>
          <p:cNvPr id="4" name="Content Placeholder 3">
            <a:extLst>
              <a:ext uri="{FF2B5EF4-FFF2-40B4-BE49-F238E27FC236}">
                <a16:creationId xmlns:a16="http://schemas.microsoft.com/office/drawing/2014/main" id="{7919B67D-8C74-A626-CE3A-C3EC460BB805}"/>
              </a:ext>
            </a:extLst>
          </p:cNvPr>
          <p:cNvPicPr>
            <a:picLocks noGrp="1" noChangeAspect="1"/>
          </p:cNvPicPr>
          <p:nvPr>
            <p:ph idx="1"/>
          </p:nvPr>
        </p:nvPicPr>
        <p:blipFill>
          <a:blip r:embed="rId2"/>
          <a:stretch>
            <a:fillRect/>
          </a:stretch>
        </p:blipFill>
        <p:spPr>
          <a:xfrm>
            <a:off x="688258" y="2281084"/>
            <a:ext cx="10402529" cy="4031226"/>
          </a:xfrm>
          <a:prstGeom prst="rect">
            <a:avLst/>
          </a:prstGeom>
        </p:spPr>
      </p:pic>
    </p:spTree>
    <p:extLst>
      <p:ext uri="{BB962C8B-B14F-4D97-AF65-F5344CB8AC3E}">
        <p14:creationId xmlns:p14="http://schemas.microsoft.com/office/powerpoint/2010/main" val="3650089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2EEFB-2C26-8E06-A4E6-483765DF5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90B7D-DD99-ED84-3FC4-FA3F717E354D}"/>
              </a:ext>
            </a:extLst>
          </p:cNvPr>
          <p:cNvSpPr>
            <a:spLocks noGrp="1"/>
          </p:cNvSpPr>
          <p:nvPr>
            <p:ph type="title"/>
          </p:nvPr>
        </p:nvSpPr>
        <p:spPr/>
        <p:txBody>
          <a:bodyPr/>
          <a:lstStyle/>
          <a:p>
            <a:r>
              <a:rPr lang="en-US" dirty="0"/>
              <a:t>                      CLOSING PRICE</a:t>
            </a:r>
            <a:endParaRPr lang="en-IN" dirty="0"/>
          </a:p>
        </p:txBody>
      </p:sp>
      <p:pic>
        <p:nvPicPr>
          <p:cNvPr id="6" name="Content Placeholder 5">
            <a:extLst>
              <a:ext uri="{FF2B5EF4-FFF2-40B4-BE49-F238E27FC236}">
                <a16:creationId xmlns:a16="http://schemas.microsoft.com/office/drawing/2014/main" id="{C7B548A2-F363-5CAF-6E38-A3E895FF6B5C}"/>
              </a:ext>
            </a:extLst>
          </p:cNvPr>
          <p:cNvPicPr>
            <a:picLocks noGrp="1" noChangeAspect="1"/>
          </p:cNvPicPr>
          <p:nvPr>
            <p:ph idx="1"/>
          </p:nvPr>
        </p:nvPicPr>
        <p:blipFill>
          <a:blip r:embed="rId2"/>
          <a:stretch>
            <a:fillRect/>
          </a:stretch>
        </p:blipFill>
        <p:spPr>
          <a:xfrm>
            <a:off x="1042219" y="2389239"/>
            <a:ext cx="10255045" cy="3834580"/>
          </a:xfrm>
          <a:prstGeom prst="rect">
            <a:avLst/>
          </a:prstGeom>
        </p:spPr>
      </p:pic>
    </p:spTree>
    <p:extLst>
      <p:ext uri="{BB962C8B-B14F-4D97-AF65-F5344CB8AC3E}">
        <p14:creationId xmlns:p14="http://schemas.microsoft.com/office/powerpoint/2010/main" val="2416996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F37B-FA1D-4F67-8261-4124D59F14AE}"/>
              </a:ext>
            </a:extLst>
          </p:cNvPr>
          <p:cNvSpPr>
            <a:spLocks noGrp="1"/>
          </p:cNvSpPr>
          <p:nvPr>
            <p:ph type="title"/>
          </p:nvPr>
        </p:nvSpPr>
        <p:spPr/>
        <p:txBody>
          <a:bodyPr/>
          <a:lstStyle/>
          <a:p>
            <a:r>
              <a:rPr lang="en-US" dirty="0"/>
              <a:t>                ADJ CLOSE OVER TIME</a:t>
            </a:r>
            <a:endParaRPr lang="en-IN" dirty="0"/>
          </a:p>
        </p:txBody>
      </p:sp>
      <p:pic>
        <p:nvPicPr>
          <p:cNvPr id="4" name="Content Placeholder 3">
            <a:extLst>
              <a:ext uri="{FF2B5EF4-FFF2-40B4-BE49-F238E27FC236}">
                <a16:creationId xmlns:a16="http://schemas.microsoft.com/office/drawing/2014/main" id="{696513B4-DA83-C703-464C-5B51C702F914}"/>
              </a:ext>
            </a:extLst>
          </p:cNvPr>
          <p:cNvPicPr>
            <a:picLocks noGrp="1" noChangeAspect="1"/>
          </p:cNvPicPr>
          <p:nvPr>
            <p:ph idx="1"/>
          </p:nvPr>
        </p:nvPicPr>
        <p:blipFill>
          <a:blip r:embed="rId2"/>
          <a:stretch>
            <a:fillRect/>
          </a:stretch>
        </p:blipFill>
        <p:spPr>
          <a:xfrm>
            <a:off x="737419" y="2153265"/>
            <a:ext cx="10844981" cy="4296696"/>
          </a:xfrm>
          <a:prstGeom prst="rect">
            <a:avLst/>
          </a:prstGeom>
        </p:spPr>
      </p:pic>
    </p:spTree>
    <p:extLst>
      <p:ext uri="{BB962C8B-B14F-4D97-AF65-F5344CB8AC3E}">
        <p14:creationId xmlns:p14="http://schemas.microsoft.com/office/powerpoint/2010/main" val="2345698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A7BC4-AE76-D882-5F8A-C224645BDA99}"/>
              </a:ext>
            </a:extLst>
          </p:cNvPr>
          <p:cNvSpPr>
            <a:spLocks noGrp="1"/>
          </p:cNvSpPr>
          <p:nvPr>
            <p:ph type="title"/>
          </p:nvPr>
        </p:nvSpPr>
        <p:spPr/>
        <p:txBody>
          <a:bodyPr/>
          <a:lstStyle/>
          <a:p>
            <a:r>
              <a:rPr lang="en-US" dirty="0"/>
              <a:t>                 VOLUME OVER TIME</a:t>
            </a:r>
            <a:endParaRPr lang="en-IN" dirty="0"/>
          </a:p>
        </p:txBody>
      </p:sp>
      <p:pic>
        <p:nvPicPr>
          <p:cNvPr id="4" name="Content Placeholder 3">
            <a:extLst>
              <a:ext uri="{FF2B5EF4-FFF2-40B4-BE49-F238E27FC236}">
                <a16:creationId xmlns:a16="http://schemas.microsoft.com/office/drawing/2014/main" id="{D7682554-BF4F-BE15-3629-AAC1F4554273}"/>
              </a:ext>
            </a:extLst>
          </p:cNvPr>
          <p:cNvPicPr>
            <a:picLocks noGrp="1" noChangeAspect="1"/>
          </p:cNvPicPr>
          <p:nvPr>
            <p:ph idx="1"/>
          </p:nvPr>
        </p:nvPicPr>
        <p:blipFill>
          <a:blip r:embed="rId2"/>
          <a:stretch>
            <a:fillRect/>
          </a:stretch>
        </p:blipFill>
        <p:spPr>
          <a:xfrm>
            <a:off x="727587" y="2104103"/>
            <a:ext cx="10933471" cy="4522839"/>
          </a:xfrm>
          <a:prstGeom prst="rect">
            <a:avLst/>
          </a:prstGeom>
        </p:spPr>
      </p:pic>
    </p:spTree>
    <p:extLst>
      <p:ext uri="{BB962C8B-B14F-4D97-AF65-F5344CB8AC3E}">
        <p14:creationId xmlns:p14="http://schemas.microsoft.com/office/powerpoint/2010/main" val="3309936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47A3398-9E52-518D-856C-2A0A66E0A66F}"/>
              </a:ext>
            </a:extLst>
          </p:cNvPr>
          <p:cNvSpPr>
            <a:spLocks noGrp="1"/>
          </p:cNvSpPr>
          <p:nvPr>
            <p:ph type="title"/>
          </p:nvPr>
        </p:nvSpPr>
        <p:spPr>
          <a:xfrm>
            <a:off x="540774" y="353962"/>
            <a:ext cx="4168878" cy="1288026"/>
          </a:xfrm>
        </p:spPr>
        <p:txBody>
          <a:bodyPr/>
          <a:lstStyle/>
          <a:p>
            <a:r>
              <a:rPr lang="en-US" sz="2800" dirty="0">
                <a:solidFill>
                  <a:srgbClr val="F98AC7"/>
                </a:solidFill>
                <a:latin typeface="Times New Roman" panose="02020603050405020304" pitchFamily="18" charset="0"/>
                <a:ea typeface="Lora" pitchFamily="34" charset="-122"/>
                <a:cs typeface="Times New Roman" panose="02020603050405020304" pitchFamily="18" charset="0"/>
              </a:rPr>
              <a:t>Summary of Key Insights from EDA</a:t>
            </a:r>
            <a:br>
              <a:rPr lang="en-US" sz="2400" dirty="0"/>
            </a:br>
            <a:endParaRPr lang="en-IN" dirty="0"/>
          </a:p>
        </p:txBody>
      </p:sp>
      <p:pic>
        <p:nvPicPr>
          <p:cNvPr id="10" name="Content Placeholder 9">
            <a:extLst>
              <a:ext uri="{FF2B5EF4-FFF2-40B4-BE49-F238E27FC236}">
                <a16:creationId xmlns:a16="http://schemas.microsoft.com/office/drawing/2014/main" id="{A9226AE8-872F-4840-8BC7-BC8E6AF57D3C}"/>
              </a:ext>
            </a:extLst>
          </p:cNvPr>
          <p:cNvPicPr>
            <a:picLocks noGrp="1" noChangeAspect="1"/>
          </p:cNvPicPr>
          <p:nvPr>
            <p:ph idx="1"/>
          </p:nvPr>
        </p:nvPicPr>
        <p:blipFill>
          <a:blip r:embed="rId2"/>
          <a:stretch>
            <a:fillRect/>
          </a:stretch>
        </p:blipFill>
        <p:spPr>
          <a:xfrm>
            <a:off x="5893256" y="678426"/>
            <a:ext cx="5305686" cy="5506064"/>
          </a:xfrm>
          <a:prstGeom prst="rect">
            <a:avLst/>
          </a:prstGeom>
        </p:spPr>
      </p:pic>
      <p:graphicFrame>
        <p:nvGraphicFramePr>
          <p:cNvPr id="11" name="Diagram 10">
            <a:extLst>
              <a:ext uri="{FF2B5EF4-FFF2-40B4-BE49-F238E27FC236}">
                <a16:creationId xmlns:a16="http://schemas.microsoft.com/office/drawing/2014/main" id="{AF2AA3AF-6608-BA17-C9D0-AE6BCD884864}"/>
              </a:ext>
            </a:extLst>
          </p:cNvPr>
          <p:cNvGraphicFramePr/>
          <p:nvPr>
            <p:extLst>
              <p:ext uri="{D42A27DB-BD31-4B8C-83A1-F6EECF244321}">
                <p14:modId xmlns:p14="http://schemas.microsoft.com/office/powerpoint/2010/main" val="4151436252"/>
              </p:ext>
            </p:extLst>
          </p:nvPr>
        </p:nvGraphicFramePr>
        <p:xfrm>
          <a:off x="540774" y="1396181"/>
          <a:ext cx="4168878" cy="50144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7409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A3090-9A17-1381-E799-7F2DC7316FAD}"/>
              </a:ext>
            </a:extLst>
          </p:cNvPr>
          <p:cNvSpPr>
            <a:spLocks noGrp="1"/>
          </p:cNvSpPr>
          <p:nvPr>
            <p:ph type="title"/>
          </p:nvPr>
        </p:nvSpPr>
        <p:spPr/>
        <p:txBody>
          <a:bodyPr/>
          <a:lstStyle/>
          <a:p>
            <a:r>
              <a:rPr lang="en-US" dirty="0"/>
              <a:t>                     MODEL BUILDING</a:t>
            </a:r>
            <a:endParaRPr lang="en-IN" dirty="0"/>
          </a:p>
        </p:txBody>
      </p:sp>
      <p:sp>
        <p:nvSpPr>
          <p:cNvPr id="3" name="Content Placeholder 2">
            <a:extLst>
              <a:ext uri="{FF2B5EF4-FFF2-40B4-BE49-F238E27FC236}">
                <a16:creationId xmlns:a16="http://schemas.microsoft.com/office/drawing/2014/main" id="{498B3C1E-6208-C503-6B3F-7C5C6A3E4AC8}"/>
              </a:ext>
            </a:extLst>
          </p:cNvPr>
          <p:cNvSpPr>
            <a:spLocks noGrp="1"/>
          </p:cNvSpPr>
          <p:nvPr>
            <p:ph sz="half" idx="1"/>
          </p:nvPr>
        </p:nvSpPr>
        <p:spPr/>
        <p:txBody>
          <a:bodyPr/>
          <a:lstStyle/>
          <a:p>
            <a:pPr>
              <a:buFont typeface="Wingdings" panose="05000000000000000000" pitchFamily="2" charset="2"/>
              <a:buChar char="v"/>
            </a:pPr>
            <a:r>
              <a:rPr lang="en-US" sz="2800" b="1" dirty="0">
                <a:solidFill>
                  <a:schemeClr val="tx1"/>
                </a:solidFill>
                <a:latin typeface="Times New Roman" panose="02020603050405020304" pitchFamily="18" charset="0"/>
                <a:ea typeface="Lora" pitchFamily="34" charset="-122"/>
                <a:cs typeface="Times New Roman" panose="02020603050405020304" pitchFamily="18" charset="0"/>
              </a:rPr>
              <a:t>Traditional Models</a:t>
            </a:r>
            <a:endParaRPr lang="en-US" sz="28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Initial attempts with linear regression, XG Boost, ARIMA, SARIMA, Random Forest, K means clustering, PCA and Agglomerative clustering models failed to fully capture the complex stock price trends and seasonality patterns observed in the data.</a:t>
            </a: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4" name="Content Placeholder 3">
            <a:extLst>
              <a:ext uri="{FF2B5EF4-FFF2-40B4-BE49-F238E27FC236}">
                <a16:creationId xmlns:a16="http://schemas.microsoft.com/office/drawing/2014/main" id="{4A98F6CE-53B9-493B-92B6-203083869926}"/>
              </a:ext>
            </a:extLst>
          </p:cNvPr>
          <p:cNvSpPr>
            <a:spLocks noGrp="1"/>
          </p:cNvSpPr>
          <p:nvPr>
            <p:ph sz="half" idx="2"/>
          </p:nvPr>
        </p:nvSpPr>
        <p:spPr/>
        <p:txBody>
          <a:bodyPr/>
          <a:lstStyle/>
          <a:p>
            <a:pPr>
              <a:buFont typeface="Wingdings" panose="05000000000000000000" pitchFamily="2" charset="2"/>
              <a:buChar char="v"/>
            </a:pPr>
            <a:r>
              <a:rPr lang="en-US" sz="2800" b="1" dirty="0">
                <a:solidFill>
                  <a:schemeClr val="tx1"/>
                </a:solidFill>
                <a:latin typeface="Times New Roman" panose="02020603050405020304" pitchFamily="18" charset="0"/>
                <a:ea typeface="Lora" pitchFamily="34" charset="-122"/>
                <a:cs typeface="Times New Roman" panose="02020603050405020304" pitchFamily="18" charset="0"/>
              </a:rPr>
              <a:t>LSTM Model</a:t>
            </a:r>
            <a:endParaRPr lang="en-US" sz="28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The LSTM model, specifically designed for handling sequential data, demonstrated superior performance in capturing the temporal dependencies and intricate patterns present in stock prices, leading to its selection as the preferred model for prediction.</a:t>
            </a: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9962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93E21-2C52-6A86-3361-1F259E29D7E3}"/>
              </a:ext>
            </a:extLst>
          </p:cNvPr>
          <p:cNvSpPr>
            <a:spLocks noGrp="1"/>
          </p:cNvSpPr>
          <p:nvPr>
            <p:ph type="title"/>
          </p:nvPr>
        </p:nvSpPr>
        <p:spPr>
          <a:xfrm>
            <a:off x="1154954" y="432618"/>
            <a:ext cx="8761413" cy="1307691"/>
          </a:xfrm>
        </p:spPr>
        <p:txBody>
          <a:bodyPr/>
          <a:lstStyle/>
          <a:p>
            <a:r>
              <a:rPr lang="en-US" sz="3600" dirty="0">
                <a:solidFill>
                  <a:srgbClr val="F98AC7"/>
                </a:solidFill>
                <a:latin typeface="Lora" pitchFamily="34" charset="0"/>
                <a:ea typeface="Lora" pitchFamily="34" charset="-122"/>
                <a:cs typeface="Lora" pitchFamily="34" charset="-120"/>
              </a:rPr>
              <a:t>                Preparing Data for LSTM</a:t>
            </a:r>
            <a:br>
              <a:rPr lang="en-US" sz="3600" dirty="0"/>
            </a:br>
            <a:endParaRPr lang="en-IN" dirty="0"/>
          </a:p>
        </p:txBody>
      </p:sp>
      <p:sp>
        <p:nvSpPr>
          <p:cNvPr id="4" name="Content Placeholder 3">
            <a:extLst>
              <a:ext uri="{FF2B5EF4-FFF2-40B4-BE49-F238E27FC236}">
                <a16:creationId xmlns:a16="http://schemas.microsoft.com/office/drawing/2014/main" id="{E71DA292-290C-65EC-8F50-9A15BDDC3AC9}"/>
              </a:ext>
            </a:extLst>
          </p:cNvPr>
          <p:cNvSpPr>
            <a:spLocks noGrp="1"/>
          </p:cNvSpPr>
          <p:nvPr>
            <p:ph sz="half" idx="2"/>
          </p:nvPr>
        </p:nvSpPr>
        <p:spPr>
          <a:xfrm>
            <a:off x="5358581" y="2281084"/>
            <a:ext cx="6351637" cy="4218038"/>
          </a:xfrm>
        </p:spPr>
        <p:txBody>
          <a:bodyPr/>
          <a:lstStyle/>
          <a:p>
            <a:pPr>
              <a:buFont typeface="Wingdings" panose="05000000000000000000" pitchFamily="2" charset="2"/>
              <a:buChar char="Ø"/>
            </a:pPr>
            <a:r>
              <a:rPr lang="en-US" sz="2000" b="1" dirty="0">
                <a:solidFill>
                  <a:schemeClr val="tx1"/>
                </a:solidFill>
                <a:latin typeface="Times New Roman" panose="02020603050405020304" pitchFamily="18" charset="0"/>
                <a:ea typeface="Lora" pitchFamily="34" charset="-122"/>
                <a:cs typeface="Times New Roman" panose="02020603050405020304" pitchFamily="18" charset="0"/>
              </a:rPr>
              <a:t>Data Transformation:</a:t>
            </a:r>
            <a:endParaRPr lang="en-US" sz="20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2000" dirty="0">
                <a:solidFill>
                  <a:schemeClr val="tx1"/>
                </a:solidFill>
                <a:latin typeface="Times New Roman" panose="02020603050405020304" pitchFamily="18" charset="0"/>
                <a:ea typeface="Source Sans Pro" pitchFamily="34" charset="-122"/>
                <a:cs typeface="Times New Roman" panose="02020603050405020304" pitchFamily="18" charset="0"/>
              </a:rPr>
              <a:t>The data was transformed to include the three-lag values of the "Close" column, providing the LSTM model with additional context and historical information for making predictions.</a:t>
            </a:r>
            <a:endParaRPr lang="en-US"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b="1" dirty="0">
                <a:solidFill>
                  <a:schemeClr val="tx1"/>
                </a:solidFill>
                <a:latin typeface="Times New Roman" panose="02020603050405020304" pitchFamily="18" charset="0"/>
                <a:ea typeface="Lora" pitchFamily="34" charset="-122"/>
                <a:cs typeface="Times New Roman" panose="02020603050405020304" pitchFamily="18" charset="0"/>
              </a:rPr>
              <a:t>Training and Testing Split:</a:t>
            </a:r>
            <a:endParaRPr lang="en-US" sz="20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2000" dirty="0">
                <a:solidFill>
                  <a:schemeClr val="tx1"/>
                </a:solidFill>
                <a:latin typeface="Times New Roman" panose="02020603050405020304" pitchFamily="18" charset="0"/>
                <a:ea typeface="Source Sans Pro" pitchFamily="34" charset="-122"/>
                <a:cs typeface="Times New Roman" panose="02020603050405020304" pitchFamily="18" charset="0"/>
              </a:rPr>
              <a:t>The dataset was divided into training and testing sets, with 80% of the data allocated for model training and 20% reserved for evaluating the model's performance on unseen data.</a:t>
            </a:r>
            <a:endParaRPr lang="en-US" sz="2000" dirty="0">
              <a:solidFill>
                <a:schemeClr val="tx1"/>
              </a:solidFill>
              <a:latin typeface="Times New Roman" panose="02020603050405020304" pitchFamily="18" charset="0"/>
              <a:cs typeface="Times New Roman" panose="02020603050405020304" pitchFamily="18" charset="0"/>
            </a:endParaRPr>
          </a:p>
          <a:p>
            <a:endParaRPr lang="en-IN" dirty="0"/>
          </a:p>
        </p:txBody>
      </p:sp>
      <p:pic>
        <p:nvPicPr>
          <p:cNvPr id="5" name="Image 0" descr="preencoded.png">
            <a:extLst>
              <a:ext uri="{FF2B5EF4-FFF2-40B4-BE49-F238E27FC236}">
                <a16:creationId xmlns:a16="http://schemas.microsoft.com/office/drawing/2014/main" id="{E16780F3-C989-0431-F8F3-D1FF3D435BEA}"/>
              </a:ext>
            </a:extLst>
          </p:cNvPr>
          <p:cNvPicPr>
            <a:picLocks noGrp="1" noChangeAspect="1"/>
          </p:cNvPicPr>
          <p:nvPr>
            <p:ph sz="half" idx="1"/>
          </p:nvPr>
        </p:nvPicPr>
        <p:blipFill>
          <a:blip r:embed="rId2"/>
          <a:stretch>
            <a:fillRect/>
          </a:stretch>
        </p:blipFill>
        <p:spPr>
          <a:xfrm>
            <a:off x="481782" y="2093913"/>
            <a:ext cx="4227870" cy="4405312"/>
          </a:xfrm>
          <a:prstGeom prst="rect">
            <a:avLst/>
          </a:prstGeom>
        </p:spPr>
      </p:pic>
    </p:spTree>
    <p:extLst>
      <p:ext uri="{BB962C8B-B14F-4D97-AF65-F5344CB8AC3E}">
        <p14:creationId xmlns:p14="http://schemas.microsoft.com/office/powerpoint/2010/main" val="3226695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FC96CE-DD3F-FE64-8ADE-3DE1A9D09B96}"/>
              </a:ext>
            </a:extLst>
          </p:cNvPr>
          <p:cNvSpPr>
            <a:spLocks noGrp="1"/>
          </p:cNvSpPr>
          <p:nvPr>
            <p:ph type="title"/>
          </p:nvPr>
        </p:nvSpPr>
        <p:spPr>
          <a:xfrm>
            <a:off x="1154954" y="462116"/>
            <a:ext cx="8825659" cy="953729"/>
          </a:xfrm>
        </p:spPr>
        <p:txBody>
          <a:bodyPr/>
          <a:lstStyle/>
          <a:p>
            <a:br>
              <a:rPr lang="en-US" sz="4000" dirty="0">
                <a:solidFill>
                  <a:srgbClr val="F98AC7"/>
                </a:solidFill>
                <a:latin typeface="Times New Roman" panose="02020603050405020304" pitchFamily="18" charset="0"/>
                <a:ea typeface="Lora" pitchFamily="34" charset="-122"/>
                <a:cs typeface="Times New Roman" panose="02020603050405020304" pitchFamily="18" charset="0"/>
              </a:rPr>
            </a:br>
            <a:r>
              <a:rPr lang="en-US" sz="4000" dirty="0">
                <a:solidFill>
                  <a:srgbClr val="F98AC7"/>
                </a:solidFill>
                <a:latin typeface="Times New Roman" panose="02020603050405020304" pitchFamily="18" charset="0"/>
                <a:ea typeface="Lora" pitchFamily="34" charset="-122"/>
                <a:cs typeface="Times New Roman" panose="02020603050405020304" pitchFamily="18" charset="0"/>
              </a:rPr>
              <a:t>                LSTM Model Architecture</a:t>
            </a:r>
            <a:br>
              <a:rPr lang="en-US"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28954B79-BAA9-4053-0344-84C078D89DB5}"/>
              </a:ext>
            </a:extLst>
          </p:cNvPr>
          <p:cNvSpPr>
            <a:spLocks noGrp="1"/>
          </p:cNvSpPr>
          <p:nvPr>
            <p:ph type="body" idx="1"/>
          </p:nvPr>
        </p:nvSpPr>
        <p:spPr>
          <a:xfrm>
            <a:off x="550606" y="2226036"/>
            <a:ext cx="3333136" cy="861294"/>
          </a:xfrm>
        </p:spPr>
        <p:txBody>
          <a:bodyPr/>
          <a:lstStyle/>
          <a:p>
            <a:endParaRPr lang="en-US" sz="2400" dirty="0">
              <a:solidFill>
                <a:srgbClr val="F98AC7"/>
              </a:solidFill>
              <a:latin typeface="Lora" pitchFamily="34" charset="0"/>
              <a:ea typeface="Lora" pitchFamily="34" charset="-122"/>
              <a:cs typeface="Lora" pitchFamily="34" charset="-120"/>
            </a:endParaRPr>
          </a:p>
          <a:p>
            <a:endParaRPr lang="en-US" dirty="0">
              <a:solidFill>
                <a:srgbClr val="F98AC7"/>
              </a:solidFill>
              <a:latin typeface="Lora" pitchFamily="34" charset="0"/>
              <a:ea typeface="Lora" pitchFamily="34" charset="-122"/>
              <a:cs typeface="Lora" pitchFamily="34" charset="-120"/>
            </a:endParaRPr>
          </a:p>
          <a:p>
            <a:endParaRPr lang="en-US" sz="2400" dirty="0">
              <a:solidFill>
                <a:srgbClr val="F98AC7"/>
              </a:solidFill>
              <a:latin typeface="Lora" pitchFamily="34" charset="0"/>
              <a:ea typeface="Lora" pitchFamily="34" charset="-122"/>
              <a:cs typeface="Lora" pitchFamily="34" charset="-120"/>
            </a:endParaRPr>
          </a:p>
          <a:p>
            <a:endParaRPr lang="en-US" sz="2400" dirty="0">
              <a:solidFill>
                <a:srgbClr val="F98AC7"/>
              </a:solidFill>
              <a:latin typeface="Lora" pitchFamily="34" charset="0"/>
              <a:ea typeface="Lora" pitchFamily="34" charset="-122"/>
              <a:cs typeface="Lora" pitchFamily="34" charset="-120"/>
            </a:endParaRPr>
          </a:p>
          <a:p>
            <a:r>
              <a:rPr lang="en-US" sz="2400" dirty="0">
                <a:solidFill>
                  <a:schemeClr val="tx1"/>
                </a:solidFill>
                <a:latin typeface="Times New Roman" panose="02020603050405020304" pitchFamily="18" charset="0"/>
                <a:ea typeface="Lora" pitchFamily="34" charset="-122"/>
                <a:cs typeface="Times New Roman" panose="02020603050405020304" pitchFamily="18" charset="0"/>
              </a:rPr>
              <a:t>Input Layer:</a:t>
            </a:r>
            <a:endParaRPr lang="en-US" sz="24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9" name="Text Placeholder 8">
            <a:extLst>
              <a:ext uri="{FF2B5EF4-FFF2-40B4-BE49-F238E27FC236}">
                <a16:creationId xmlns:a16="http://schemas.microsoft.com/office/drawing/2014/main" id="{2D7403F8-2378-8FBA-B555-B55A728E5333}"/>
              </a:ext>
            </a:extLst>
          </p:cNvPr>
          <p:cNvSpPr>
            <a:spLocks noGrp="1"/>
          </p:cNvSpPr>
          <p:nvPr>
            <p:ph type="body" sz="half" idx="15"/>
          </p:nvPr>
        </p:nvSpPr>
        <p:spPr>
          <a:xfrm>
            <a:off x="550607" y="3179764"/>
            <a:ext cx="3333135" cy="2847293"/>
          </a:xfrm>
        </p:spPr>
        <p:txBody>
          <a:bodyPr/>
          <a:lstStyle/>
          <a:p>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The input layer of the LSTM model accepts the previous time steps of the transformed data, providing the network with a sequence of historical information to process.</a:t>
            </a: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7" name="Text Placeholder 6">
            <a:extLst>
              <a:ext uri="{FF2B5EF4-FFF2-40B4-BE49-F238E27FC236}">
                <a16:creationId xmlns:a16="http://schemas.microsoft.com/office/drawing/2014/main" id="{224E1948-57B8-7687-85D7-17AD2DE68D6C}"/>
              </a:ext>
            </a:extLst>
          </p:cNvPr>
          <p:cNvSpPr>
            <a:spLocks noGrp="1"/>
          </p:cNvSpPr>
          <p:nvPr>
            <p:ph type="body" sz="quarter" idx="3"/>
          </p:nvPr>
        </p:nvSpPr>
        <p:spPr>
          <a:xfrm>
            <a:off x="4552335" y="2603500"/>
            <a:ext cx="3107396" cy="576262"/>
          </a:xfrm>
        </p:spPr>
        <p:txBody>
          <a:bodyPr/>
          <a:lstStyle/>
          <a:p>
            <a:r>
              <a:rPr lang="en-US" sz="2400" dirty="0">
                <a:solidFill>
                  <a:schemeClr val="tx1"/>
                </a:solidFill>
                <a:latin typeface="Times New Roman" panose="02020603050405020304" pitchFamily="18" charset="0"/>
                <a:ea typeface="Lora" pitchFamily="34" charset="-122"/>
                <a:cs typeface="Times New Roman" panose="02020603050405020304" pitchFamily="18" charset="0"/>
              </a:rPr>
              <a:t>Hidden Layers:</a:t>
            </a:r>
            <a:endParaRPr lang="en-US" sz="24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10" name="Text Placeholder 9">
            <a:extLst>
              <a:ext uri="{FF2B5EF4-FFF2-40B4-BE49-F238E27FC236}">
                <a16:creationId xmlns:a16="http://schemas.microsoft.com/office/drawing/2014/main" id="{B79CC784-9170-CEFA-B018-B5006EDB969F}"/>
              </a:ext>
            </a:extLst>
          </p:cNvPr>
          <p:cNvSpPr>
            <a:spLocks noGrp="1"/>
          </p:cNvSpPr>
          <p:nvPr>
            <p:ph type="body" sz="half" idx="16"/>
          </p:nvPr>
        </p:nvSpPr>
        <p:spPr>
          <a:xfrm>
            <a:off x="4552335" y="3179763"/>
            <a:ext cx="3107396" cy="2847293"/>
          </a:xfrm>
        </p:spPr>
        <p:txBody>
          <a:bodyPr/>
          <a:lstStyle/>
          <a:p>
            <a:r>
              <a:rPr lang="en-US" sz="1400" dirty="0">
                <a:solidFill>
                  <a:schemeClr val="tx1"/>
                </a:solidFill>
                <a:latin typeface="Times New Roman" panose="02020603050405020304" pitchFamily="18" charset="0"/>
                <a:ea typeface="Source Sans Pro" pitchFamily="34" charset="-122"/>
                <a:cs typeface="Times New Roman" panose="02020603050405020304" pitchFamily="18" charset="0"/>
              </a:rPr>
              <a:t>  </a:t>
            </a:r>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The model employs two hidden layers         with LSTM units, allowing it to learn and   remember long-term dependencies and capture the intricate patterns present in the stock price data.</a:t>
            </a: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8" name="Text Placeholder 7">
            <a:extLst>
              <a:ext uri="{FF2B5EF4-FFF2-40B4-BE49-F238E27FC236}">
                <a16:creationId xmlns:a16="http://schemas.microsoft.com/office/drawing/2014/main" id="{2B989467-FC7E-DCBB-C23F-6B55E08032DE}"/>
              </a:ext>
            </a:extLst>
          </p:cNvPr>
          <p:cNvSpPr>
            <a:spLocks noGrp="1"/>
          </p:cNvSpPr>
          <p:nvPr>
            <p:ph type="body" sz="quarter" idx="13"/>
          </p:nvPr>
        </p:nvSpPr>
        <p:spPr>
          <a:xfrm>
            <a:off x="7888134" y="2603501"/>
            <a:ext cx="3477955" cy="576262"/>
          </a:xfrm>
        </p:spPr>
        <p:txBody>
          <a:bodyPr/>
          <a:lstStyle/>
          <a:p>
            <a:r>
              <a:rPr lang="en-US" sz="2400" dirty="0">
                <a:solidFill>
                  <a:schemeClr val="tx1"/>
                </a:solidFill>
                <a:latin typeface="Times New Roman" panose="02020603050405020304" pitchFamily="18" charset="0"/>
                <a:ea typeface="Lora" pitchFamily="34" charset="-122"/>
                <a:cs typeface="Times New Roman" panose="02020603050405020304" pitchFamily="18" charset="0"/>
              </a:rPr>
              <a:t>Output Layer:</a:t>
            </a:r>
            <a:endParaRPr lang="en-US" sz="24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11" name="Text Placeholder 10">
            <a:extLst>
              <a:ext uri="{FF2B5EF4-FFF2-40B4-BE49-F238E27FC236}">
                <a16:creationId xmlns:a16="http://schemas.microsoft.com/office/drawing/2014/main" id="{A3F83CA4-1DF7-89AE-E9F4-CE488A248037}"/>
              </a:ext>
            </a:extLst>
          </p:cNvPr>
          <p:cNvSpPr>
            <a:spLocks noGrp="1"/>
          </p:cNvSpPr>
          <p:nvPr>
            <p:ph type="body" sz="half" idx="17"/>
          </p:nvPr>
        </p:nvSpPr>
        <p:spPr>
          <a:xfrm>
            <a:off x="7888328" y="3179762"/>
            <a:ext cx="3477761" cy="2847293"/>
          </a:xfrm>
        </p:spPr>
        <p:txBody>
          <a:bodyPr/>
          <a:lstStyle/>
          <a:p>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The output layer of the model predicts the stock price based on the learned patterns and the input sequence, providing a forecasted value for the stock price in the future.</a:t>
            </a: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22470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DA15B04-E3ED-AF0F-ED59-FFA4D050D256}"/>
              </a:ext>
            </a:extLst>
          </p:cNvPr>
          <p:cNvSpPr>
            <a:spLocks noGrp="1"/>
          </p:cNvSpPr>
          <p:nvPr>
            <p:ph type="title"/>
          </p:nvPr>
        </p:nvSpPr>
        <p:spPr/>
        <p:txBody>
          <a:bodyPr/>
          <a:lstStyle/>
          <a:p>
            <a:r>
              <a:rPr lang="en-US" sz="3600" dirty="0">
                <a:solidFill>
                  <a:srgbClr val="F98AC7"/>
                </a:solidFill>
                <a:latin typeface="Lora" pitchFamily="34" charset="0"/>
                <a:ea typeface="Lora" pitchFamily="34" charset="-122"/>
                <a:cs typeface="Lora" pitchFamily="34" charset="-120"/>
              </a:rPr>
              <a:t>         Model Training and Performance</a:t>
            </a:r>
            <a:br>
              <a:rPr lang="en-US" sz="3600" dirty="0"/>
            </a:br>
            <a:endParaRPr lang="en-IN" dirty="0"/>
          </a:p>
        </p:txBody>
      </p:sp>
      <p:graphicFrame>
        <p:nvGraphicFramePr>
          <p:cNvPr id="11" name="Content Placeholder 10">
            <a:extLst>
              <a:ext uri="{FF2B5EF4-FFF2-40B4-BE49-F238E27FC236}">
                <a16:creationId xmlns:a16="http://schemas.microsoft.com/office/drawing/2014/main" id="{48E3ED4D-34E2-2F4D-366E-5EBB699D7C56}"/>
              </a:ext>
            </a:extLst>
          </p:cNvPr>
          <p:cNvGraphicFramePr>
            <a:graphicFrameLocks noGrp="1"/>
          </p:cNvGraphicFramePr>
          <p:nvPr>
            <p:ph idx="1"/>
            <p:extLst>
              <p:ext uri="{D42A27DB-BD31-4B8C-83A1-F6EECF244321}">
                <p14:modId xmlns:p14="http://schemas.microsoft.com/office/powerpoint/2010/main" val="1733774858"/>
              </p:ext>
            </p:extLst>
          </p:nvPr>
        </p:nvGraphicFramePr>
        <p:xfrm>
          <a:off x="688258" y="2231923"/>
          <a:ext cx="10923639" cy="4060722"/>
        </p:xfrm>
        <a:graphic>
          <a:graphicData uri="http://schemas.openxmlformats.org/drawingml/2006/table">
            <a:tbl>
              <a:tblPr firstRow="1" bandRow="1">
                <a:tableStyleId>{5C22544A-7EE6-4342-B048-85BDC9FD1C3A}</a:tableStyleId>
              </a:tblPr>
              <a:tblGrid>
                <a:gridCol w="3840894">
                  <a:extLst>
                    <a:ext uri="{9D8B030D-6E8A-4147-A177-3AD203B41FA5}">
                      <a16:colId xmlns:a16="http://schemas.microsoft.com/office/drawing/2014/main" val="2803289912"/>
                    </a:ext>
                  </a:extLst>
                </a:gridCol>
                <a:gridCol w="7082745">
                  <a:extLst>
                    <a:ext uri="{9D8B030D-6E8A-4147-A177-3AD203B41FA5}">
                      <a16:colId xmlns:a16="http://schemas.microsoft.com/office/drawing/2014/main" val="2543852876"/>
                    </a:ext>
                  </a:extLst>
                </a:gridCol>
              </a:tblGrid>
              <a:tr h="135357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ea typeface="Lora" pitchFamily="34" charset="-122"/>
                          <a:cs typeface="Times New Roman" panose="02020603050405020304" pitchFamily="18" charset="0"/>
                        </a:rPr>
                        <a:t>Training Process</a:t>
                      </a: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Times New Roman" panose="02020603050405020304" pitchFamily="18" charset="0"/>
                          <a:ea typeface="Source Sans Pro" pitchFamily="34" charset="-122"/>
                          <a:cs typeface="Times New Roman" panose="02020603050405020304" pitchFamily="18" charset="0"/>
                        </a:rPr>
                        <a:t>The LSTM model was trained using a dataset of historical Google stock prices, encompassing various time periods and market conditions. The training process involved defining model parameters, including the number of layers, hidden units, and activation functions.</a:t>
                      </a:r>
                      <a:endParaRPr lang="en-US" sz="1600" b="0" dirty="0">
                        <a:solidFill>
                          <a:schemeClr val="tx1"/>
                        </a:solidFill>
                        <a:latin typeface="Times New Roman" panose="02020603050405020304" pitchFamily="18" charset="0"/>
                        <a:cs typeface="Times New Roman" panose="02020603050405020304" pitchFamily="18" charset="0"/>
                      </a:endParaRPr>
                    </a:p>
                    <a:p>
                      <a:endParaRPr lang="en-IN" dirty="0"/>
                    </a:p>
                  </a:txBody>
                  <a:tcPr/>
                </a:tc>
                <a:extLst>
                  <a:ext uri="{0D108BD9-81ED-4DB2-BD59-A6C34878D82A}">
                    <a16:rowId xmlns:a16="http://schemas.microsoft.com/office/drawing/2014/main" val="525082014"/>
                  </a:ext>
                </a:extLst>
              </a:tr>
              <a:tr h="135357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solidFill>
                            <a:schemeClr val="tx1">
                              <a:lumMod val="95000"/>
                              <a:lumOff val="5000"/>
                            </a:schemeClr>
                          </a:solidFill>
                          <a:latin typeface="Times New Roman" panose="02020603050405020304" pitchFamily="18" charset="0"/>
                          <a:ea typeface="Lora" pitchFamily="34" charset="-122"/>
                          <a:cs typeface="Times New Roman" panose="02020603050405020304" pitchFamily="18" charset="0"/>
                        </a:rPr>
                        <a:t>Optimizer and Loss Function</a:t>
                      </a:r>
                      <a:endParaRPr lang="en-US" sz="1800" b="1"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Times New Roman" panose="02020603050405020304" pitchFamily="18" charset="0"/>
                          <a:ea typeface="Source Sans Pro" pitchFamily="34" charset="-122"/>
                          <a:cs typeface="Times New Roman" panose="02020603050405020304" pitchFamily="18" charset="0"/>
                        </a:rPr>
                        <a:t>The Adam optimizer, a popular choice for deep learning models, was employed to minimize the Mean Squared Error (MSE) loss function. This combination aimed to optimize the model's weights by iteratively adjusting them to reduce prediction errors.</a:t>
                      </a:r>
                      <a:endParaRPr lang="en-US" sz="1600" dirty="0">
                        <a:solidFill>
                          <a:schemeClr val="tx1"/>
                        </a:solidFill>
                        <a:latin typeface="Times New Roman" panose="02020603050405020304" pitchFamily="18" charset="0"/>
                        <a:cs typeface="Times New Roman" panose="02020603050405020304" pitchFamily="18" charset="0"/>
                      </a:endParaRPr>
                    </a:p>
                    <a:p>
                      <a:endParaRPr lang="en-IN" dirty="0"/>
                    </a:p>
                  </a:txBody>
                  <a:tcPr/>
                </a:tc>
                <a:extLst>
                  <a:ext uri="{0D108BD9-81ED-4DB2-BD59-A6C34878D82A}">
                    <a16:rowId xmlns:a16="http://schemas.microsoft.com/office/drawing/2014/main" val="2827403881"/>
                  </a:ext>
                </a:extLst>
              </a:tr>
              <a:tr h="135357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solidFill>
                            <a:schemeClr val="tx1"/>
                          </a:solidFill>
                          <a:latin typeface="Times New Roman" panose="02020603050405020304" pitchFamily="18" charset="0"/>
                          <a:ea typeface="Lora" pitchFamily="34" charset="-122"/>
                          <a:cs typeface="Times New Roman" panose="02020603050405020304" pitchFamily="18" charset="0"/>
                        </a:rPr>
                        <a:t>Epochs and Batch Size</a:t>
                      </a:r>
                      <a:endParaRPr lang="en-US" sz="1800" b="1" dirty="0">
                        <a:solidFill>
                          <a:schemeClr val="tx1"/>
                        </a:solidFill>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Times New Roman" panose="02020603050405020304" pitchFamily="18" charset="0"/>
                          <a:ea typeface="Source Sans Pro" pitchFamily="34" charset="-122"/>
                          <a:cs typeface="Times New Roman" panose="02020603050405020304" pitchFamily="18" charset="0"/>
                        </a:rPr>
                        <a:t>The model was trained for 50 epochs, with each epoch representing a complete pass through the training data. A batch size of 64 was used, dividing the data into smaller batches for efficient processing and gradient descent updates.</a:t>
                      </a:r>
                      <a:endParaRPr lang="en-US" sz="1600" dirty="0">
                        <a:solidFill>
                          <a:schemeClr val="tx1"/>
                        </a:solidFill>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7345045"/>
                  </a:ext>
                </a:extLst>
              </a:tr>
            </a:tbl>
          </a:graphicData>
        </a:graphic>
      </p:graphicFrame>
    </p:spTree>
    <p:extLst>
      <p:ext uri="{BB962C8B-B14F-4D97-AF65-F5344CB8AC3E}">
        <p14:creationId xmlns:p14="http://schemas.microsoft.com/office/powerpoint/2010/main" val="2919822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0DA0F3-3951-7B45-113E-30FDC50EAAA6}"/>
              </a:ext>
            </a:extLst>
          </p:cNvPr>
          <p:cNvSpPr>
            <a:spLocks noGrp="1"/>
          </p:cNvSpPr>
          <p:nvPr>
            <p:ph type="title"/>
          </p:nvPr>
        </p:nvSpPr>
        <p:spPr/>
        <p:txBody>
          <a:bodyPr/>
          <a:lstStyle/>
          <a:p>
            <a:r>
              <a:rPr lang="en-US" sz="3600" dirty="0">
                <a:solidFill>
                  <a:srgbClr val="F98AC7"/>
                </a:solidFill>
                <a:latin typeface="Lora" pitchFamily="34" charset="0"/>
                <a:ea typeface="Lora" pitchFamily="34" charset="-122"/>
                <a:cs typeface="Lora" pitchFamily="34" charset="-120"/>
              </a:rPr>
              <a:t>                      Model Evaluation</a:t>
            </a:r>
            <a:br>
              <a:rPr lang="en-US" sz="3600" dirty="0"/>
            </a:br>
            <a:endParaRPr lang="en-IN" dirty="0"/>
          </a:p>
        </p:txBody>
      </p:sp>
      <p:sp>
        <p:nvSpPr>
          <p:cNvPr id="5" name="Text Placeholder 4">
            <a:extLst>
              <a:ext uri="{FF2B5EF4-FFF2-40B4-BE49-F238E27FC236}">
                <a16:creationId xmlns:a16="http://schemas.microsoft.com/office/drawing/2014/main" id="{90663A1B-A265-0AD6-434B-017757781D7A}"/>
              </a:ext>
            </a:extLst>
          </p:cNvPr>
          <p:cNvSpPr>
            <a:spLocks noGrp="1"/>
          </p:cNvSpPr>
          <p:nvPr>
            <p:ph type="body" idx="1"/>
          </p:nvPr>
        </p:nvSpPr>
        <p:spPr/>
        <p:txBody>
          <a:bodyPr/>
          <a:lstStyle/>
          <a:p>
            <a:r>
              <a:rPr lang="en-US" sz="2400" dirty="0">
                <a:solidFill>
                  <a:schemeClr val="tx1"/>
                </a:solidFill>
                <a:latin typeface="Lora" pitchFamily="34" charset="0"/>
                <a:ea typeface="Lora" pitchFamily="34" charset="-122"/>
                <a:cs typeface="Lora" pitchFamily="34" charset="-120"/>
              </a:rPr>
              <a:t>Accuracy</a:t>
            </a:r>
            <a:endParaRPr lang="en-US" sz="2400" dirty="0">
              <a:solidFill>
                <a:schemeClr val="tx1"/>
              </a:solidFill>
            </a:endParaRPr>
          </a:p>
          <a:p>
            <a:endParaRPr lang="en-IN" dirty="0"/>
          </a:p>
        </p:txBody>
      </p:sp>
      <p:sp>
        <p:nvSpPr>
          <p:cNvPr id="8" name="Text Placeholder 7">
            <a:extLst>
              <a:ext uri="{FF2B5EF4-FFF2-40B4-BE49-F238E27FC236}">
                <a16:creationId xmlns:a16="http://schemas.microsoft.com/office/drawing/2014/main" id="{5122A570-F01C-5179-BDA9-5AD05A42484F}"/>
              </a:ext>
            </a:extLst>
          </p:cNvPr>
          <p:cNvSpPr>
            <a:spLocks noGrp="1"/>
          </p:cNvSpPr>
          <p:nvPr>
            <p:ph type="body" sz="quarter" idx="15"/>
          </p:nvPr>
        </p:nvSpPr>
        <p:spPr/>
        <p:txBody>
          <a:bodyPr/>
          <a:lstStyle/>
          <a:p>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The model achieved an accuracy of 97.38%, indicating its ability to predict AAPL stock prices with a high degree of precision. This accuracy score reflects the model's ability to capture complex patterns and relationships in the data.</a:t>
            </a: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7" name="Text Placeholder 6">
            <a:extLst>
              <a:ext uri="{FF2B5EF4-FFF2-40B4-BE49-F238E27FC236}">
                <a16:creationId xmlns:a16="http://schemas.microsoft.com/office/drawing/2014/main" id="{16AB68BC-05AE-DB6A-98A3-18D9C9B50F41}"/>
              </a:ext>
            </a:extLst>
          </p:cNvPr>
          <p:cNvSpPr>
            <a:spLocks noGrp="1"/>
          </p:cNvSpPr>
          <p:nvPr>
            <p:ph type="body" sz="half" idx="13"/>
          </p:nvPr>
        </p:nvSpPr>
        <p:spPr>
          <a:xfrm>
            <a:off x="7888135" y="2182761"/>
            <a:ext cx="3145730" cy="576262"/>
          </a:xfrm>
        </p:spPr>
        <p:txBody>
          <a:bodyPr/>
          <a:lstStyle/>
          <a:p>
            <a:r>
              <a:rPr lang="en-US" sz="2400" dirty="0">
                <a:solidFill>
                  <a:schemeClr val="tx1"/>
                </a:solidFill>
                <a:latin typeface="Lora" pitchFamily="34" charset="0"/>
                <a:ea typeface="Lora" pitchFamily="34" charset="-122"/>
                <a:cs typeface="Lora" pitchFamily="34" charset="-120"/>
              </a:rPr>
              <a:t>MAPE</a:t>
            </a:r>
            <a:endParaRPr lang="en-IN" dirty="0">
              <a:solidFill>
                <a:schemeClr val="tx1"/>
              </a:solidFill>
            </a:endParaRPr>
          </a:p>
        </p:txBody>
      </p:sp>
      <p:sp>
        <p:nvSpPr>
          <p:cNvPr id="6" name="Text Placeholder 5">
            <a:extLst>
              <a:ext uri="{FF2B5EF4-FFF2-40B4-BE49-F238E27FC236}">
                <a16:creationId xmlns:a16="http://schemas.microsoft.com/office/drawing/2014/main" id="{009B1BAB-67B8-7BD2-DE48-00A178F1FDF6}"/>
              </a:ext>
            </a:extLst>
          </p:cNvPr>
          <p:cNvSpPr>
            <a:spLocks noGrp="1"/>
          </p:cNvSpPr>
          <p:nvPr>
            <p:ph type="body" sz="quarter" idx="3"/>
          </p:nvPr>
        </p:nvSpPr>
        <p:spPr/>
        <p:txBody>
          <a:bodyPr/>
          <a:lstStyle/>
          <a:p>
            <a:r>
              <a:rPr lang="en-US" sz="2400" dirty="0">
                <a:solidFill>
                  <a:schemeClr val="tx1"/>
                </a:solidFill>
                <a:latin typeface="Lora" pitchFamily="34" charset="0"/>
                <a:ea typeface="Lora" pitchFamily="34" charset="-122"/>
                <a:cs typeface="Lora" pitchFamily="34" charset="-120"/>
              </a:rPr>
              <a:t>MSE and RMSE</a:t>
            </a:r>
            <a:endParaRPr lang="en-US" sz="2400" dirty="0">
              <a:solidFill>
                <a:schemeClr val="tx1"/>
              </a:solidFill>
            </a:endParaRPr>
          </a:p>
          <a:p>
            <a:endParaRPr lang="en-IN" dirty="0"/>
          </a:p>
        </p:txBody>
      </p:sp>
      <p:sp>
        <p:nvSpPr>
          <p:cNvPr id="10" name="Text Placeholder 9">
            <a:extLst>
              <a:ext uri="{FF2B5EF4-FFF2-40B4-BE49-F238E27FC236}">
                <a16:creationId xmlns:a16="http://schemas.microsoft.com/office/drawing/2014/main" id="{70178EAA-3C36-284C-6323-30DF9ECCE5C0}"/>
              </a:ext>
            </a:extLst>
          </p:cNvPr>
          <p:cNvSpPr>
            <a:spLocks noGrp="1"/>
          </p:cNvSpPr>
          <p:nvPr>
            <p:ph type="body" sz="half" idx="17"/>
          </p:nvPr>
        </p:nvSpPr>
        <p:spPr/>
        <p:txBody>
          <a:bodyPr/>
          <a:lstStyle/>
          <a:p>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The Mean Absolute Percentage Error (MAPE) of 2.62% represents the average percentage error of the model's predictions. A lower MAPE score signifies higher prediction accuracy, demonstrating the model's effectiveness in capturing the fluctuations and variations in the stock prices.</a:t>
            </a: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9" name="Text Placeholder 8">
            <a:extLst>
              <a:ext uri="{FF2B5EF4-FFF2-40B4-BE49-F238E27FC236}">
                <a16:creationId xmlns:a16="http://schemas.microsoft.com/office/drawing/2014/main" id="{56039FE8-D6A5-233F-AF65-0FE4A5CAA803}"/>
              </a:ext>
            </a:extLst>
          </p:cNvPr>
          <p:cNvSpPr>
            <a:spLocks noGrp="1"/>
          </p:cNvSpPr>
          <p:nvPr>
            <p:ph type="body" sz="half" idx="16"/>
          </p:nvPr>
        </p:nvSpPr>
        <p:spPr/>
        <p:txBody>
          <a:bodyPr>
            <a:normAutofit lnSpcReduction="10000"/>
          </a:bodyPr>
          <a:lstStyle/>
          <a:p>
            <a:r>
              <a:rPr lang="en-US" sz="1800" dirty="0">
                <a:solidFill>
                  <a:schemeClr val="tx1"/>
                </a:solidFill>
                <a:latin typeface="Times New Roman" panose="02020603050405020304" pitchFamily="18" charset="0"/>
                <a:ea typeface="Source Sans Pro" pitchFamily="34" charset="-122"/>
                <a:cs typeface="Times New Roman" panose="02020603050405020304" pitchFamily="18" charset="0"/>
              </a:rPr>
              <a:t>The Mean Squared Error (MSE) of 13.39 and the Root Mean Squared Error (RMSE) of 3.66 provide quantitative measures of the average prediction error. Lower MSE and RMSE values indicate better model accuracy, suggesting that the LSTM model effectively captured the underlying trends in the stock price data.</a:t>
            </a:r>
            <a:endParaRPr lang="en-US" sz="18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03445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4546DEC-585F-CC86-21FA-B4CE648E9FF5}"/>
              </a:ext>
            </a:extLst>
          </p:cNvPr>
          <p:cNvSpPr>
            <a:spLocks noGrp="1"/>
          </p:cNvSpPr>
          <p:nvPr>
            <p:ph type="title"/>
          </p:nvPr>
        </p:nvSpPr>
        <p:spPr/>
        <p:txBody>
          <a:bodyPr/>
          <a:lstStyle/>
          <a:p>
            <a:r>
              <a:rPr lang="en-US" dirty="0"/>
              <a:t>                  MODEL DEPLOYMENT</a:t>
            </a:r>
            <a:endParaRPr lang="en-IN" dirty="0"/>
          </a:p>
        </p:txBody>
      </p:sp>
      <p:sp>
        <p:nvSpPr>
          <p:cNvPr id="5" name="Content Placeholder 4">
            <a:extLst>
              <a:ext uri="{FF2B5EF4-FFF2-40B4-BE49-F238E27FC236}">
                <a16:creationId xmlns:a16="http://schemas.microsoft.com/office/drawing/2014/main" id="{C1630A96-5C15-A65E-B2B6-426A11B27E3E}"/>
              </a:ext>
            </a:extLst>
          </p:cNvPr>
          <p:cNvSpPr>
            <a:spLocks noGrp="1"/>
          </p:cNvSpPr>
          <p:nvPr>
            <p:ph sz="half" idx="1"/>
          </p:nvPr>
        </p:nvSpPr>
        <p:spPr/>
        <p:txBody>
          <a:bodyPr/>
          <a:lstStyle/>
          <a:p>
            <a:pPr>
              <a:buFont typeface="Wingdings" panose="05000000000000000000" pitchFamily="2" charset="2"/>
              <a:buChar char="v"/>
            </a:pPr>
            <a:r>
              <a:rPr lang="en-US" sz="1800" dirty="0">
                <a:solidFill>
                  <a:srgbClr val="F98AC7"/>
                </a:solidFill>
                <a:latin typeface="Times New Roman" panose="02020603050405020304" pitchFamily="18" charset="0"/>
                <a:ea typeface="Lora" pitchFamily="34" charset="-122"/>
                <a:cs typeface="Times New Roman" panose="02020603050405020304" pitchFamily="18" charset="0"/>
              </a:rPr>
              <a:t>Deployment Process</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solidFill>
                  <a:schemeClr val="tx1">
                    <a:lumMod val="95000"/>
                    <a:lumOff val="5000"/>
                  </a:schemeClr>
                </a:solidFill>
                <a:latin typeface="Times New Roman" panose="02020603050405020304" pitchFamily="18" charset="0"/>
                <a:ea typeface="Source Sans Pro" pitchFamily="34" charset="-122"/>
                <a:cs typeface="Times New Roman" panose="02020603050405020304" pitchFamily="18" charset="0"/>
              </a:rPr>
              <a:t>Stream lit was chosen for its user-friendly interface and ease of deployment. The LSTM model, along with necessary data preprocessing and visualization components, was integrated into a application. This process involved leveraging libraries and functions to create an interactive web-based interface.</a:t>
            </a:r>
            <a:endParaRPr lang="en-US" sz="18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dirty="0"/>
          </a:p>
        </p:txBody>
      </p:sp>
      <p:sp>
        <p:nvSpPr>
          <p:cNvPr id="6" name="Content Placeholder 5">
            <a:extLst>
              <a:ext uri="{FF2B5EF4-FFF2-40B4-BE49-F238E27FC236}">
                <a16:creationId xmlns:a16="http://schemas.microsoft.com/office/drawing/2014/main" id="{B15B55E2-DE4B-AC00-1280-E77EA1C92723}"/>
              </a:ext>
            </a:extLst>
          </p:cNvPr>
          <p:cNvSpPr>
            <a:spLocks noGrp="1"/>
          </p:cNvSpPr>
          <p:nvPr>
            <p:ph sz="half" idx="2"/>
          </p:nvPr>
        </p:nvSpPr>
        <p:spPr/>
        <p:txBody>
          <a:bodyPr/>
          <a:lstStyle/>
          <a:p>
            <a:pPr>
              <a:buFont typeface="Wingdings" panose="05000000000000000000" pitchFamily="2" charset="2"/>
              <a:buChar char="v"/>
            </a:pPr>
            <a:r>
              <a:rPr lang="en-US" sz="1800" dirty="0">
                <a:solidFill>
                  <a:srgbClr val="F98AC7"/>
                </a:solidFill>
                <a:latin typeface="Times New Roman" panose="02020603050405020304" pitchFamily="18" charset="0"/>
                <a:ea typeface="Lora" pitchFamily="34" charset="-122"/>
                <a:cs typeface="Times New Roman" panose="02020603050405020304" pitchFamily="18" charset="0"/>
              </a:rPr>
              <a:t>Features</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solidFill>
                  <a:schemeClr val="tx1">
                    <a:lumMod val="95000"/>
                    <a:lumOff val="5000"/>
                  </a:schemeClr>
                </a:solidFill>
                <a:latin typeface="Times New Roman" panose="02020603050405020304" pitchFamily="18" charset="0"/>
                <a:ea typeface="Source Sans Pro" pitchFamily="34" charset="-122"/>
                <a:cs typeface="Times New Roman" panose="02020603050405020304" pitchFamily="18" charset="0"/>
              </a:rPr>
              <a:t>The application provides users with a range of features, including the ability to input historical stock data, visualize predicted stock prices, and access real-time forecasts. The application allows users to explore various parameters and observe their impact on prediction accuracy.</a:t>
            </a:r>
            <a:endParaRPr lang="en-US" sz="18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13797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01FF1F-4878-1A88-1FEE-4437AF00DA8A}"/>
              </a:ext>
            </a:extLst>
          </p:cNvPr>
          <p:cNvPicPr>
            <a:picLocks noChangeAspect="1"/>
          </p:cNvPicPr>
          <p:nvPr/>
        </p:nvPicPr>
        <p:blipFill>
          <a:blip r:embed="rId2"/>
          <a:stretch>
            <a:fillRect/>
          </a:stretch>
        </p:blipFill>
        <p:spPr>
          <a:xfrm>
            <a:off x="1022555" y="1317523"/>
            <a:ext cx="9763432" cy="4876801"/>
          </a:xfrm>
          <a:prstGeom prst="rect">
            <a:avLst/>
          </a:prstGeom>
        </p:spPr>
      </p:pic>
    </p:spTree>
    <p:extLst>
      <p:ext uri="{BB962C8B-B14F-4D97-AF65-F5344CB8AC3E}">
        <p14:creationId xmlns:p14="http://schemas.microsoft.com/office/powerpoint/2010/main" val="2800376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411E49-057F-4409-8246-DE8930E96113}"/>
              </a:ext>
            </a:extLst>
          </p:cNvPr>
          <p:cNvPicPr>
            <a:picLocks noChangeAspect="1"/>
          </p:cNvPicPr>
          <p:nvPr/>
        </p:nvPicPr>
        <p:blipFill>
          <a:blip r:embed="rId2"/>
          <a:stretch>
            <a:fillRect/>
          </a:stretch>
        </p:blipFill>
        <p:spPr>
          <a:xfrm>
            <a:off x="1209368" y="854909"/>
            <a:ext cx="8180438" cy="5262735"/>
          </a:xfrm>
          <a:prstGeom prst="rect">
            <a:avLst/>
          </a:prstGeom>
        </p:spPr>
      </p:pic>
    </p:spTree>
    <p:extLst>
      <p:ext uri="{BB962C8B-B14F-4D97-AF65-F5344CB8AC3E}">
        <p14:creationId xmlns:p14="http://schemas.microsoft.com/office/powerpoint/2010/main" val="1219956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5B62AA-F748-AD59-C9B9-6C33776BF1B6}"/>
              </a:ext>
            </a:extLst>
          </p:cNvPr>
          <p:cNvPicPr>
            <a:picLocks noChangeAspect="1"/>
          </p:cNvPicPr>
          <p:nvPr/>
        </p:nvPicPr>
        <p:blipFill>
          <a:blip r:embed="rId2"/>
          <a:stretch>
            <a:fillRect/>
          </a:stretch>
        </p:blipFill>
        <p:spPr>
          <a:xfrm>
            <a:off x="1071562" y="909637"/>
            <a:ext cx="10048875" cy="5038725"/>
          </a:xfrm>
          <a:prstGeom prst="rect">
            <a:avLst/>
          </a:prstGeom>
        </p:spPr>
      </p:pic>
    </p:spTree>
    <p:extLst>
      <p:ext uri="{BB962C8B-B14F-4D97-AF65-F5344CB8AC3E}">
        <p14:creationId xmlns:p14="http://schemas.microsoft.com/office/powerpoint/2010/main" val="1749865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ECF1BF-4C12-036D-8652-2A902CBAAD3B}"/>
              </a:ext>
            </a:extLst>
          </p:cNvPr>
          <p:cNvPicPr>
            <a:picLocks noChangeAspect="1"/>
          </p:cNvPicPr>
          <p:nvPr/>
        </p:nvPicPr>
        <p:blipFill>
          <a:blip r:embed="rId2"/>
          <a:stretch>
            <a:fillRect/>
          </a:stretch>
        </p:blipFill>
        <p:spPr>
          <a:xfrm>
            <a:off x="941465" y="1143121"/>
            <a:ext cx="9618379" cy="4571758"/>
          </a:xfrm>
          <a:prstGeom prst="rect">
            <a:avLst/>
          </a:prstGeom>
        </p:spPr>
      </p:pic>
    </p:spTree>
    <p:extLst>
      <p:ext uri="{BB962C8B-B14F-4D97-AF65-F5344CB8AC3E}">
        <p14:creationId xmlns:p14="http://schemas.microsoft.com/office/powerpoint/2010/main" val="446429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8E5ED-0CCF-5251-D602-EDAC82A8CEB1}"/>
              </a:ext>
            </a:extLst>
          </p:cNvPr>
          <p:cNvSpPr>
            <a:spLocks noGrp="1"/>
          </p:cNvSpPr>
          <p:nvPr>
            <p:ph type="title"/>
          </p:nvPr>
        </p:nvSpPr>
        <p:spPr/>
        <p:txBody>
          <a:bodyPr/>
          <a:lstStyle/>
          <a:p>
            <a:r>
              <a:rPr lang="en-US" dirty="0"/>
              <a:t>         CHALLENGES AND LEARNING</a:t>
            </a:r>
            <a:endParaRPr lang="en-IN" dirty="0"/>
          </a:p>
        </p:txBody>
      </p:sp>
      <p:sp>
        <p:nvSpPr>
          <p:cNvPr id="3" name="Content Placeholder 2">
            <a:extLst>
              <a:ext uri="{FF2B5EF4-FFF2-40B4-BE49-F238E27FC236}">
                <a16:creationId xmlns:a16="http://schemas.microsoft.com/office/drawing/2014/main" id="{297A0AD8-CF89-173C-FD83-5ADC6AA5C564}"/>
              </a:ext>
            </a:extLst>
          </p:cNvPr>
          <p:cNvSpPr>
            <a:spLocks noGrp="1"/>
          </p:cNvSpPr>
          <p:nvPr>
            <p:ph idx="1"/>
          </p:nvPr>
        </p:nvSpPr>
        <p:spPr>
          <a:xfrm>
            <a:off x="678426" y="2281083"/>
            <a:ext cx="10785987" cy="4100051"/>
          </a:xfrm>
        </p:spPr>
        <p:txBody>
          <a:bodyPr/>
          <a:lstStyle/>
          <a:p>
            <a:pPr>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Challenges</a:t>
            </a:r>
            <a:r>
              <a:rPr lang="en-US" dirty="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Selecting the important features and best model.</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Setting up Stream lit for deployment.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Underfitting and Overfitting Of Model </a:t>
            </a:r>
          </a:p>
          <a:p>
            <a:pPr>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Learnings: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Importance of hyperparameter tuning for improved accuracy.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Effective feature engineering techniques.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Making the model pipeline save the lot of time for same process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2736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ABCBE-5BB0-631A-042A-20633D5CFB2D}"/>
              </a:ext>
            </a:extLst>
          </p:cNvPr>
          <p:cNvSpPr>
            <a:spLocks noGrp="1"/>
          </p:cNvSpPr>
          <p:nvPr>
            <p:ph type="title"/>
          </p:nvPr>
        </p:nvSpPr>
        <p:spPr>
          <a:xfrm>
            <a:off x="3126658" y="973668"/>
            <a:ext cx="7993626" cy="4748706"/>
          </a:xfrm>
        </p:spPr>
        <p:txBody>
          <a:bodyPr/>
          <a:lstStyle/>
          <a:p>
            <a:r>
              <a:rPr lang="en-US" sz="7200" dirty="0">
                <a:solidFill>
                  <a:schemeClr val="tx1"/>
                </a:solidFill>
              </a:rPr>
              <a:t>                                THANK YOU!</a:t>
            </a:r>
            <a:endParaRPr lang="en-IN" sz="7200" dirty="0">
              <a:solidFill>
                <a:schemeClr val="tx1"/>
              </a:solidFill>
            </a:endParaRPr>
          </a:p>
        </p:txBody>
      </p:sp>
    </p:spTree>
    <p:extLst>
      <p:ext uri="{BB962C8B-B14F-4D97-AF65-F5344CB8AC3E}">
        <p14:creationId xmlns:p14="http://schemas.microsoft.com/office/powerpoint/2010/main" val="38998957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{2892540D-EBE9-4462-80C8-BB25D7B40993}tf02900722</Template>
  <TotalTime>274</TotalTime>
  <Words>1482</Words>
  <Application>Microsoft Office PowerPoint</Application>
  <PresentationFormat>Widescreen</PresentationFormat>
  <Paragraphs>128</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Century Gothic</vt:lpstr>
      <vt:lpstr>Lora</vt:lpstr>
      <vt:lpstr>Times New Roman</vt:lpstr>
      <vt:lpstr>Wingdings</vt:lpstr>
      <vt:lpstr>Wingdings 3</vt:lpstr>
      <vt:lpstr>Ion Boardroom</vt:lpstr>
      <vt:lpstr>                          STOCK MARKET ANALYSIS </vt:lpstr>
      <vt:lpstr>                            INTRODUCTION</vt:lpstr>
      <vt:lpstr>                         OBJECTIVES</vt:lpstr>
      <vt:lpstr>                LIBRARIES AND TOOLS</vt:lpstr>
      <vt:lpstr>                EDA (Exploring Data Analysis)</vt:lpstr>
      <vt:lpstr>                                EDA</vt:lpstr>
      <vt:lpstr>                           TECHNIQUES</vt:lpstr>
      <vt:lpstr>                       DATA OVERVIEW</vt:lpstr>
      <vt:lpstr>                     VISUALIZATIONS                        OPEN OVER TIME</vt:lpstr>
      <vt:lpstr>                        HIGH OVER TIME</vt:lpstr>
      <vt:lpstr>                      LOW OVER TIME</vt:lpstr>
      <vt:lpstr>                      CLOSING PRICE</vt:lpstr>
      <vt:lpstr>                ADJ CLOSE OVER TIME</vt:lpstr>
      <vt:lpstr>                 VOLUME OVER TIME</vt:lpstr>
      <vt:lpstr>Summary of Key Insights from EDA </vt:lpstr>
      <vt:lpstr>                     MODEL BUILDING</vt:lpstr>
      <vt:lpstr>                Preparing Data for LSTM </vt:lpstr>
      <vt:lpstr>                 LSTM Model Architecture </vt:lpstr>
      <vt:lpstr>         Model Training and Performance </vt:lpstr>
      <vt:lpstr>                      Model Evaluation </vt:lpstr>
      <vt:lpstr>                  MODEL DEPLOYMENT</vt:lpstr>
      <vt:lpstr>PowerPoint Presentation</vt:lpstr>
      <vt:lpstr>PowerPoint Presentation</vt:lpstr>
      <vt:lpstr>PowerPoint Presentation</vt:lpstr>
      <vt:lpstr>PowerPoint Presentation</vt:lpstr>
      <vt:lpstr>         CHALLENGES AND LEARNING</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 saireddy</dc:creator>
  <cp:lastModifiedBy>Balaganesh S</cp:lastModifiedBy>
  <cp:revision>18</cp:revision>
  <dcterms:created xsi:type="dcterms:W3CDTF">2025-02-18T04:43:09Z</dcterms:created>
  <dcterms:modified xsi:type="dcterms:W3CDTF">2025-03-31T09:40:00Z</dcterms:modified>
</cp:coreProperties>
</file>