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media/image33.jpg" ContentType="image/pn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1"/>
  </p:notesMasterIdLst>
  <p:sldIdLst>
    <p:sldId id="266" r:id="rId2"/>
    <p:sldId id="267" r:id="rId3"/>
    <p:sldId id="284" r:id="rId4"/>
    <p:sldId id="256" r:id="rId5"/>
    <p:sldId id="257" r:id="rId6"/>
    <p:sldId id="258" r:id="rId7"/>
    <p:sldId id="259"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61" r:id="rId23"/>
    <p:sldId id="262" r:id="rId24"/>
    <p:sldId id="282" r:id="rId25"/>
    <p:sldId id="263" r:id="rId26"/>
    <p:sldId id="260" r:id="rId27"/>
    <p:sldId id="264" r:id="rId28"/>
    <p:sldId id="265" r:id="rId29"/>
    <p:sldId id="283" r:id="rId30"/>
  </p:sldIdLst>
  <p:sldSz cx="14630400" cy="8229600"/>
  <p:notesSz cx="8229600" cy="14630400"/>
  <p:embeddedFontLst>
    <p:embeddedFont>
      <p:font typeface="Algerian" panose="04020705040A02060702" pitchFamily="82" charset="0"/>
      <p:regular r:id="rId32"/>
    </p:embeddedFont>
    <p:embeddedFont>
      <p:font typeface="Open Sans" panose="020B0606030504020204" pitchFamily="34" charset="0"/>
      <p:regular r:id="rId33"/>
      <p:bold r:id="rId34"/>
      <p:italic r:id="rId35"/>
      <p:bold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911346-D436-4505-AEEF-43953A8C5EB6}" v="93" dt="2025-02-21T07:27:24.2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9" autoAdjust="0"/>
    <p:restoredTop sz="94610"/>
  </p:normalViewPr>
  <p:slideViewPr>
    <p:cSldViewPr snapToGrid="0" snapToObjects="1">
      <p:cViewPr varScale="1">
        <p:scale>
          <a:sx n="69" d="100"/>
          <a:sy n="69" d="100"/>
        </p:scale>
        <p:origin x="79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3.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elima Saka" userId="b8550b2a657ffea1" providerId="LiveId" clId="{4E3D0439-2339-4750-B78E-639C0FFE488E}"/>
    <pc:docChg chg="modSld">
      <pc:chgData name="Neelima Saka" userId="b8550b2a657ffea1" providerId="LiveId" clId="{4E3D0439-2339-4750-B78E-639C0FFE488E}" dt="2025-02-21T12:49:42.160" v="9" actId="20577"/>
      <pc:docMkLst>
        <pc:docMk/>
      </pc:docMkLst>
      <pc:sldChg chg="modSp mod">
        <pc:chgData name="Neelima Saka" userId="b8550b2a657ffea1" providerId="LiveId" clId="{4E3D0439-2339-4750-B78E-639C0FFE488E}" dt="2025-02-21T12:31:53.624" v="5" actId="1076"/>
        <pc:sldMkLst>
          <pc:docMk/>
          <pc:sldMk cId="962589229" sldId="266"/>
        </pc:sldMkLst>
        <pc:spChg chg="mod">
          <ac:chgData name="Neelima Saka" userId="b8550b2a657ffea1" providerId="LiveId" clId="{4E3D0439-2339-4750-B78E-639C0FFE488E}" dt="2025-02-21T12:31:53.624" v="5" actId="1076"/>
          <ac:spMkLst>
            <pc:docMk/>
            <pc:sldMk cId="962589229" sldId="266"/>
            <ac:spMk id="4" creationId="{273468FF-D670-3CCC-0366-BE4CE31D809E}"/>
          </ac:spMkLst>
        </pc:spChg>
      </pc:sldChg>
      <pc:sldChg chg="modSp mod">
        <pc:chgData name="Neelima Saka" userId="b8550b2a657ffea1" providerId="LiveId" clId="{4E3D0439-2339-4750-B78E-639C0FFE488E}" dt="2025-02-21T12:32:09.123" v="8" actId="1076"/>
        <pc:sldMkLst>
          <pc:docMk/>
          <pc:sldMk cId="2121784806" sldId="267"/>
        </pc:sldMkLst>
        <pc:spChg chg="mod">
          <ac:chgData name="Neelima Saka" userId="b8550b2a657ffea1" providerId="LiveId" clId="{4E3D0439-2339-4750-B78E-639C0FFE488E}" dt="2025-02-21T12:32:09.123" v="8" actId="1076"/>
          <ac:spMkLst>
            <pc:docMk/>
            <pc:sldMk cId="2121784806" sldId="267"/>
            <ac:spMk id="6" creationId="{EABBC655-09FD-4E7A-27C1-69EBD4656E62}"/>
          </ac:spMkLst>
        </pc:spChg>
      </pc:sldChg>
      <pc:sldChg chg="modSp mod">
        <pc:chgData name="Neelima Saka" userId="b8550b2a657ffea1" providerId="LiveId" clId="{4E3D0439-2339-4750-B78E-639C0FFE488E}" dt="2025-02-21T12:49:42.160" v="9" actId="20577"/>
        <pc:sldMkLst>
          <pc:docMk/>
          <pc:sldMk cId="816041083" sldId="269"/>
        </pc:sldMkLst>
        <pc:spChg chg="mod">
          <ac:chgData name="Neelima Saka" userId="b8550b2a657ffea1" providerId="LiveId" clId="{4E3D0439-2339-4750-B78E-639C0FFE488E}" dt="2025-02-21T12:49:42.160" v="9" actId="20577"/>
          <ac:spMkLst>
            <pc:docMk/>
            <pc:sldMk cId="816041083" sldId="269"/>
            <ac:spMk id="2" creationId="{90AE444F-535D-E383-A1A8-157DF595881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7730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B51D4-2B21-007E-9212-2BBC7B5AEC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E679B6-58E7-5C34-CDA1-7CC0BCF87A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2FF8F2-CC53-2089-02A1-9533D364E5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2F10E3-AC24-5B62-5B73-21CC5ED7027C}"/>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141373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0.xml"/><Relationship Id="rId5" Type="http://schemas.openxmlformats.org/officeDocument/2006/relationships/image" Target="../media/image31.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FD53509-36B5-45A3-DB24-D4EE457F68F0}"/>
              </a:ext>
            </a:extLst>
          </p:cNvPr>
          <p:cNvPicPr>
            <a:picLocks noChangeAspect="1"/>
          </p:cNvPicPr>
          <p:nvPr/>
        </p:nvPicPr>
        <p:blipFill>
          <a:blip r:embed="rId2"/>
          <a:srcRect l="12498" r="11863"/>
          <a:stretch/>
        </p:blipFill>
        <p:spPr>
          <a:xfrm rot="5400000">
            <a:off x="3817617" y="-3817620"/>
            <a:ext cx="8336280" cy="15971519"/>
          </a:xfrm>
          <a:prstGeom prst="rect">
            <a:avLst/>
          </a:prstGeom>
        </p:spPr>
      </p:pic>
      <p:sp>
        <p:nvSpPr>
          <p:cNvPr id="4" name="Rectangle 3">
            <a:extLst>
              <a:ext uri="{FF2B5EF4-FFF2-40B4-BE49-F238E27FC236}">
                <a16:creationId xmlns:a16="http://schemas.microsoft.com/office/drawing/2014/main" id="{273468FF-D670-3CCC-0366-BE4CE31D809E}"/>
              </a:ext>
            </a:extLst>
          </p:cNvPr>
          <p:cNvSpPr/>
          <p:nvPr/>
        </p:nvSpPr>
        <p:spPr>
          <a:xfrm>
            <a:off x="1097280" y="979170"/>
            <a:ext cx="13810243" cy="126492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latin typeface="Algerian" panose="04020705040A02060702" pitchFamily="82" charset="0"/>
              </a:rPr>
              <a:t>Clustering Global Development</a:t>
            </a:r>
          </a:p>
        </p:txBody>
      </p:sp>
      <p:sp>
        <p:nvSpPr>
          <p:cNvPr id="5" name="Rectangle 4">
            <a:extLst>
              <a:ext uri="{FF2B5EF4-FFF2-40B4-BE49-F238E27FC236}">
                <a16:creationId xmlns:a16="http://schemas.microsoft.com/office/drawing/2014/main" id="{9A716409-650F-A178-72A1-2F0DFB7953D3}"/>
              </a:ext>
            </a:extLst>
          </p:cNvPr>
          <p:cNvSpPr/>
          <p:nvPr/>
        </p:nvSpPr>
        <p:spPr>
          <a:xfrm>
            <a:off x="1097280" y="68580"/>
            <a:ext cx="3078480" cy="7924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dirty="0">
                <a:solidFill>
                  <a:schemeClr val="tx1"/>
                </a:solidFill>
                <a:latin typeface="Algerian" panose="04020705040A02060702" pitchFamily="82" charset="0"/>
              </a:rPr>
              <a:t>TITLE:</a:t>
            </a:r>
            <a:endParaRPr lang="en-IN" sz="4400" dirty="0">
              <a:solidFill>
                <a:schemeClr val="tx1"/>
              </a:solidFill>
              <a:latin typeface="Algerian" panose="04020705040A02060702" pitchFamily="82" charset="0"/>
            </a:endParaRPr>
          </a:p>
        </p:txBody>
      </p:sp>
      <p:sp>
        <p:nvSpPr>
          <p:cNvPr id="6" name="Rectangle 5">
            <a:extLst>
              <a:ext uri="{FF2B5EF4-FFF2-40B4-BE49-F238E27FC236}">
                <a16:creationId xmlns:a16="http://schemas.microsoft.com/office/drawing/2014/main" id="{6B935B47-0DC9-5B4B-5038-B522F92D9EE0}"/>
              </a:ext>
            </a:extLst>
          </p:cNvPr>
          <p:cNvSpPr/>
          <p:nvPr/>
        </p:nvSpPr>
        <p:spPr>
          <a:xfrm>
            <a:off x="1097280" y="2362200"/>
            <a:ext cx="3429000" cy="75438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tx1"/>
                </a:solidFill>
                <a:latin typeface="Algerian" panose="04020705040A02060702" pitchFamily="82" charset="0"/>
              </a:rPr>
              <a:t>P-498 : GROPU-5</a:t>
            </a:r>
          </a:p>
        </p:txBody>
      </p:sp>
    </p:spTree>
    <p:extLst>
      <p:ext uri="{BB962C8B-B14F-4D97-AF65-F5344CB8AC3E}">
        <p14:creationId xmlns:p14="http://schemas.microsoft.com/office/powerpoint/2010/main" val="9625892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A344C-3257-5B8B-A449-83E98FDCFA4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B20AC9-005A-06F6-D3A8-274B67413D07}"/>
              </a:ext>
            </a:extLst>
          </p:cNvPr>
          <p:cNvPicPr>
            <a:picLocks noChangeAspect="1"/>
          </p:cNvPicPr>
          <p:nvPr/>
        </p:nvPicPr>
        <p:blipFill>
          <a:blip r:embed="rId2"/>
          <a:srcRect l="12498" r="11863"/>
          <a:stretch/>
        </p:blipFill>
        <p:spPr>
          <a:xfrm rot="5400000">
            <a:off x="3604258" y="-3817619"/>
            <a:ext cx="8336280" cy="15971519"/>
          </a:xfrm>
          <a:prstGeom prst="rect">
            <a:avLst/>
          </a:prstGeom>
        </p:spPr>
      </p:pic>
      <p:sp>
        <p:nvSpPr>
          <p:cNvPr id="4" name="Rectangle 3">
            <a:extLst>
              <a:ext uri="{FF2B5EF4-FFF2-40B4-BE49-F238E27FC236}">
                <a16:creationId xmlns:a16="http://schemas.microsoft.com/office/drawing/2014/main" id="{B7CB7B5B-D7FB-0642-08EA-DE9DAB2E3670}"/>
              </a:ext>
            </a:extLst>
          </p:cNvPr>
          <p:cNvSpPr/>
          <p:nvPr/>
        </p:nvSpPr>
        <p:spPr>
          <a:xfrm>
            <a:off x="6589541" y="2263724"/>
            <a:ext cx="8016240" cy="103632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6000" u="sng" dirty="0">
                <a:solidFill>
                  <a:schemeClr val="tx1"/>
                </a:solidFill>
                <a:latin typeface="Algerian" panose="04020705040A02060702" pitchFamily="82" charset="0"/>
              </a:rPr>
              <a:t>Behind the Project:</a:t>
            </a:r>
            <a:endParaRPr lang="en-GB" sz="6000" u="sng" dirty="0">
              <a:solidFill>
                <a:schemeClr val="tx1"/>
              </a:solidFill>
              <a:latin typeface="Algerian" panose="04020705040A02060702" pitchFamily="82" charset="0"/>
            </a:endParaRPr>
          </a:p>
        </p:txBody>
      </p:sp>
      <p:sp>
        <p:nvSpPr>
          <p:cNvPr id="2" name="Rectangle 1">
            <a:extLst>
              <a:ext uri="{FF2B5EF4-FFF2-40B4-BE49-F238E27FC236}">
                <a16:creationId xmlns:a16="http://schemas.microsoft.com/office/drawing/2014/main" id="{EEA56952-7DB6-A9FE-0C04-86C93DFA73A0}"/>
              </a:ext>
            </a:extLst>
          </p:cNvPr>
          <p:cNvSpPr/>
          <p:nvPr/>
        </p:nvSpPr>
        <p:spPr>
          <a:xfrm>
            <a:off x="7315200" y="3406725"/>
            <a:ext cx="6564923" cy="482287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tx1"/>
                </a:solidFill>
                <a:latin typeface="Algerian" panose="04020705040A02060702" pitchFamily="82" charset="0"/>
              </a:rPr>
              <a:t>SUDHEER KUMAR</a:t>
            </a:r>
          </a:p>
          <a:p>
            <a:pPr algn="ctr"/>
            <a:r>
              <a:rPr lang="en-GB" sz="4000" dirty="0">
                <a:solidFill>
                  <a:schemeClr val="tx1"/>
                </a:solidFill>
                <a:latin typeface="Algerian" panose="04020705040A02060702" pitchFamily="82" charset="0"/>
              </a:rPr>
              <a:t>RAVULA AKHIL</a:t>
            </a:r>
          </a:p>
          <a:p>
            <a:pPr algn="ctr"/>
            <a:r>
              <a:rPr lang="en-GB" sz="4000" dirty="0">
                <a:solidFill>
                  <a:schemeClr val="tx1"/>
                </a:solidFill>
                <a:latin typeface="Algerian" panose="04020705040A02060702" pitchFamily="82" charset="0"/>
              </a:rPr>
              <a:t>HRISHIKESH RAJENDRA</a:t>
            </a:r>
          </a:p>
          <a:p>
            <a:pPr algn="ctr"/>
            <a:r>
              <a:rPr lang="en-GB" sz="4000" dirty="0">
                <a:solidFill>
                  <a:schemeClr val="tx1"/>
                </a:solidFill>
                <a:latin typeface="Algerian" panose="04020705040A02060702" pitchFamily="82" charset="0"/>
              </a:rPr>
              <a:t>SHAIK NABI</a:t>
            </a:r>
          </a:p>
          <a:p>
            <a:pPr algn="ctr"/>
            <a:r>
              <a:rPr lang="en-GB" sz="4000" dirty="0">
                <a:solidFill>
                  <a:schemeClr val="tx1"/>
                </a:solidFill>
                <a:latin typeface="Algerian" panose="04020705040A02060702" pitchFamily="82" charset="0"/>
              </a:rPr>
              <a:t>SHAIK AYUB BIN TUFEAL</a:t>
            </a:r>
          </a:p>
          <a:p>
            <a:pPr algn="ctr"/>
            <a:r>
              <a:rPr lang="en-GB" sz="4000" dirty="0">
                <a:solidFill>
                  <a:schemeClr val="tx1"/>
                </a:solidFill>
                <a:latin typeface="Algerian" panose="04020705040A02060702" pitchFamily="82" charset="0"/>
              </a:rPr>
              <a:t>SIDDHARTH SUBHASH</a:t>
            </a:r>
          </a:p>
          <a:p>
            <a:pPr algn="ctr"/>
            <a:r>
              <a:rPr lang="en-GB" sz="4000" dirty="0">
                <a:solidFill>
                  <a:schemeClr val="tx1"/>
                </a:solidFill>
                <a:latin typeface="Algerian" panose="04020705040A02060702" pitchFamily="82" charset="0"/>
              </a:rPr>
              <a:t>SARVMBH SAWANT</a:t>
            </a:r>
          </a:p>
        </p:txBody>
      </p:sp>
      <p:sp>
        <p:nvSpPr>
          <p:cNvPr id="6" name="Rectangle 5">
            <a:extLst>
              <a:ext uri="{FF2B5EF4-FFF2-40B4-BE49-F238E27FC236}">
                <a16:creationId xmlns:a16="http://schemas.microsoft.com/office/drawing/2014/main" id="{EABBC655-09FD-4E7A-27C1-69EBD4656E62}"/>
              </a:ext>
            </a:extLst>
          </p:cNvPr>
          <p:cNvSpPr/>
          <p:nvPr/>
        </p:nvSpPr>
        <p:spPr>
          <a:xfrm>
            <a:off x="0" y="313004"/>
            <a:ext cx="13548732" cy="126492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dirty="0">
                <a:solidFill>
                  <a:schemeClr val="tx1"/>
                </a:solidFill>
                <a:latin typeface="Algerian" panose="04020705040A02060702" pitchFamily="82" charset="0"/>
              </a:rPr>
              <a:t>Clustering Global Development</a:t>
            </a:r>
          </a:p>
        </p:txBody>
      </p:sp>
    </p:spTree>
    <p:extLst>
      <p:ext uri="{BB962C8B-B14F-4D97-AF65-F5344CB8AC3E}">
        <p14:creationId xmlns:p14="http://schemas.microsoft.com/office/powerpoint/2010/main" val="21217848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2DC169-5556-4A4C-A594-D41E53CA26E8}"/>
              </a:ext>
            </a:extLst>
          </p:cNvPr>
          <p:cNvSpPr txBox="1"/>
          <p:nvPr/>
        </p:nvSpPr>
        <p:spPr>
          <a:xfrm>
            <a:off x="457200" y="548640"/>
            <a:ext cx="8717280" cy="646331"/>
          </a:xfrm>
          <a:prstGeom prst="rect">
            <a:avLst/>
          </a:prstGeom>
          <a:noFill/>
        </p:spPr>
        <p:txBody>
          <a:bodyPr wrap="square" rtlCol="0">
            <a:spAutoFit/>
          </a:bodyPr>
          <a:lstStyle/>
          <a:p>
            <a:r>
              <a:rPr lang="en-GB" sz="3600" dirty="0">
                <a:latin typeface="Algerian" panose="04020705040A02060702" pitchFamily="82" charset="0"/>
              </a:rPr>
              <a:t>TABLE OF CONTENT:</a:t>
            </a:r>
            <a:endParaRPr lang="en-IN" sz="3600" dirty="0">
              <a:latin typeface="Algerian" panose="04020705040A02060702" pitchFamily="82" charset="0"/>
            </a:endParaRPr>
          </a:p>
        </p:txBody>
      </p:sp>
      <p:sp>
        <p:nvSpPr>
          <p:cNvPr id="3" name="TextBox 2">
            <a:extLst>
              <a:ext uri="{FF2B5EF4-FFF2-40B4-BE49-F238E27FC236}">
                <a16:creationId xmlns:a16="http://schemas.microsoft.com/office/drawing/2014/main" id="{8C88D7E6-A864-E6FC-0E22-C2E87922FA18}"/>
              </a:ext>
            </a:extLst>
          </p:cNvPr>
          <p:cNvSpPr txBox="1"/>
          <p:nvPr/>
        </p:nvSpPr>
        <p:spPr>
          <a:xfrm>
            <a:off x="0" y="1508760"/>
            <a:ext cx="6797040" cy="6093976"/>
          </a:xfrm>
          <a:prstGeom prst="rect">
            <a:avLst/>
          </a:prstGeom>
          <a:noFill/>
        </p:spPr>
        <p:txBody>
          <a:bodyPr wrap="square" rtlCol="0">
            <a:spAutoFit/>
          </a:bodyPr>
          <a:lstStyle/>
          <a:p>
            <a:pPr marL="800100" lvl="1" indent="-342900">
              <a:buAutoNum type="arabicParenR"/>
            </a:pPr>
            <a:r>
              <a:rPr lang="en-GB" sz="2800" dirty="0"/>
              <a:t>Introduction</a:t>
            </a:r>
          </a:p>
          <a:p>
            <a:pPr marL="800100" lvl="1" indent="-342900">
              <a:buAutoNum type="arabicParenR"/>
            </a:pPr>
            <a:r>
              <a:rPr lang="en-GB" sz="2800" dirty="0"/>
              <a:t>Data Set Information</a:t>
            </a:r>
          </a:p>
          <a:p>
            <a:pPr marL="800100" lvl="1" indent="-342900">
              <a:buAutoNum type="arabicParenR"/>
            </a:pPr>
            <a:r>
              <a:rPr lang="en-GB" sz="2800" dirty="0"/>
              <a:t>Technology Stack</a:t>
            </a:r>
          </a:p>
          <a:p>
            <a:pPr marL="800100" lvl="1" indent="-342900">
              <a:buAutoNum type="arabicParenR"/>
            </a:pPr>
            <a:r>
              <a:rPr lang="en-GB" sz="2800" dirty="0" err="1"/>
              <a:t>Streamlit</a:t>
            </a:r>
            <a:r>
              <a:rPr lang="en-GB" sz="2800" dirty="0"/>
              <a:t> Overview</a:t>
            </a:r>
          </a:p>
          <a:p>
            <a:pPr marL="800100" lvl="1" indent="-342900">
              <a:buAutoNum type="arabicParenR"/>
            </a:pPr>
            <a:r>
              <a:rPr lang="en-US" sz="2800" dirty="0"/>
              <a:t>Evaluating Clustering Performance</a:t>
            </a:r>
          </a:p>
          <a:p>
            <a:pPr marL="800100" lvl="1" indent="-342900">
              <a:buFontTx/>
              <a:buAutoNum type="arabicParenR"/>
            </a:pPr>
            <a:r>
              <a:rPr lang="en-US" sz="2800" dirty="0"/>
              <a:t>Challenges and Limitations in Clustering Analysis</a:t>
            </a:r>
          </a:p>
          <a:p>
            <a:pPr marL="800100" lvl="1" indent="-342900">
              <a:buFontTx/>
              <a:buAutoNum type="arabicParenR"/>
            </a:pPr>
            <a:r>
              <a:rPr lang="en-US" sz="2800" dirty="0"/>
              <a:t>Practical Applications</a:t>
            </a:r>
          </a:p>
          <a:p>
            <a:pPr marL="800100" lvl="1" indent="-342900">
              <a:buFontTx/>
              <a:buAutoNum type="arabicParenR"/>
            </a:pPr>
            <a:r>
              <a:rPr lang="en-US" sz="2800" dirty="0"/>
              <a:t>Real-World Case Studies</a:t>
            </a:r>
          </a:p>
          <a:p>
            <a:pPr marL="800100" lvl="1" indent="-342900">
              <a:buFontTx/>
              <a:buAutoNum type="arabicParenR"/>
            </a:pPr>
            <a:r>
              <a:rPr lang="en-US" sz="2800" dirty="0"/>
              <a:t>Future Trends and Emerging Technologies</a:t>
            </a:r>
          </a:p>
          <a:p>
            <a:pPr marL="800100" lvl="1" indent="-342900">
              <a:buFontTx/>
              <a:buAutoNum type="arabicParenR"/>
            </a:pPr>
            <a:r>
              <a:rPr lang="en-US" sz="2800" dirty="0"/>
              <a:t>Conclusion</a:t>
            </a:r>
          </a:p>
          <a:p>
            <a:pPr marL="342900" indent="-342900">
              <a:buFontTx/>
              <a:buAutoNum type="arabicParenR"/>
            </a:pPr>
            <a:endParaRPr lang="en-US" sz="1800" dirty="0"/>
          </a:p>
          <a:p>
            <a:pPr marL="342900" indent="-342900">
              <a:buAutoNum type="arabicParenR"/>
            </a:pPr>
            <a:endParaRPr lang="en-GB" dirty="0"/>
          </a:p>
          <a:p>
            <a:pPr marL="342900" indent="-342900">
              <a:buAutoNum type="arabicParenR"/>
            </a:pPr>
            <a:endParaRPr lang="en-IN" dirty="0"/>
          </a:p>
        </p:txBody>
      </p:sp>
      <p:pic>
        <p:nvPicPr>
          <p:cNvPr id="5" name="Picture 4">
            <a:extLst>
              <a:ext uri="{FF2B5EF4-FFF2-40B4-BE49-F238E27FC236}">
                <a16:creationId xmlns:a16="http://schemas.microsoft.com/office/drawing/2014/main" id="{863D2EB1-BE13-82F2-CE56-8F6549516A99}"/>
              </a:ext>
            </a:extLst>
          </p:cNvPr>
          <p:cNvPicPr>
            <a:picLocks noChangeAspect="1"/>
          </p:cNvPicPr>
          <p:nvPr/>
        </p:nvPicPr>
        <p:blipFill>
          <a:blip r:embed="rId2"/>
          <a:stretch>
            <a:fillRect/>
          </a:stretch>
        </p:blipFill>
        <p:spPr>
          <a:xfrm>
            <a:off x="6644640" y="0"/>
            <a:ext cx="8229600" cy="8229600"/>
          </a:xfrm>
          <a:prstGeom prst="rect">
            <a:avLst/>
          </a:prstGeom>
        </p:spPr>
      </p:pic>
    </p:spTree>
    <p:extLst>
      <p:ext uri="{BB962C8B-B14F-4D97-AF65-F5344CB8AC3E}">
        <p14:creationId xmlns:p14="http://schemas.microsoft.com/office/powerpoint/2010/main" val="3474928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grpSp>
        <p:nvGrpSpPr>
          <p:cNvPr id="5" name="Group 4">
            <a:extLst>
              <a:ext uri="{FF2B5EF4-FFF2-40B4-BE49-F238E27FC236}">
                <a16:creationId xmlns:a16="http://schemas.microsoft.com/office/drawing/2014/main" id="{6C6EF5B6-732B-9086-1949-D84A38F31278}"/>
              </a:ext>
            </a:extLst>
          </p:cNvPr>
          <p:cNvGrpSpPr/>
          <p:nvPr/>
        </p:nvGrpSpPr>
        <p:grpSpPr>
          <a:xfrm>
            <a:off x="793790" y="1260872"/>
            <a:ext cx="7556421" cy="5357337"/>
            <a:chOff x="793790" y="1260872"/>
            <a:chExt cx="7556421" cy="5357337"/>
          </a:xfrm>
        </p:grpSpPr>
        <p:sp>
          <p:nvSpPr>
            <p:cNvPr id="3" name="Text 0"/>
            <p:cNvSpPr/>
            <p:nvPr/>
          </p:nvSpPr>
          <p:spPr>
            <a:xfrm>
              <a:off x="793790" y="1260872"/>
              <a:ext cx="7556421" cy="2126337"/>
            </a:xfrm>
            <a:prstGeom prst="rect">
              <a:avLst/>
            </a:prstGeom>
            <a:noFill/>
            <a:ln/>
          </p:spPr>
          <p:txBody>
            <a:bodyPr wrap="square" lIns="0" tIns="0" rIns="0" bIns="0" rtlCol="0" anchor="t"/>
            <a:lstStyle/>
            <a:p>
              <a:pPr marL="0" indent="0">
                <a:lnSpc>
                  <a:spcPts val="5550"/>
                </a:lnSpc>
                <a:buNone/>
              </a:pPr>
              <a:r>
                <a:rPr lang="en-US" sz="4450" b="1" dirty="0">
                  <a:solidFill>
                    <a:srgbClr val="443728"/>
                  </a:solidFill>
                  <a:latin typeface="Crimson Pro Bold" pitchFamily="34" charset="0"/>
                  <a:ea typeface="Crimson Pro Bold" pitchFamily="34" charset="-122"/>
                  <a:cs typeface="Crimson Pro Bold" pitchFamily="34" charset="-120"/>
                </a:rPr>
                <a:t>Clustering Analysis: Transforming Complex Data into Meaningful Insights</a:t>
              </a:r>
              <a:endParaRPr lang="en-US" sz="4450" dirty="0"/>
            </a:p>
          </p:txBody>
        </p:sp>
        <p:sp>
          <p:nvSpPr>
            <p:cNvPr id="4" name="Text 1"/>
            <p:cNvSpPr/>
            <p:nvPr/>
          </p:nvSpPr>
          <p:spPr>
            <a:xfrm>
              <a:off x="793790" y="4077891"/>
              <a:ext cx="7556421" cy="2540318"/>
            </a:xfrm>
            <a:prstGeom prst="rect">
              <a:avLst/>
            </a:prstGeom>
            <a:noFill/>
            <a:ln/>
          </p:spPr>
          <p:txBody>
            <a:bodyPr wrap="square" lIns="0" tIns="0" rIns="0" bIns="0" rtlCol="0" anchor="t"/>
            <a:lstStyle/>
            <a:p>
              <a:pPr marL="0" indent="0">
                <a:lnSpc>
                  <a:spcPts val="2850"/>
                </a:lnSpc>
                <a:buNone/>
              </a:pPr>
              <a:r>
                <a:rPr lang="en-US" sz="1750" dirty="0">
                  <a:solidFill>
                    <a:srgbClr val="443728"/>
                  </a:solidFill>
                  <a:latin typeface="Open Sans" pitchFamily="34" charset="0"/>
                  <a:ea typeface="Open Sans" pitchFamily="34" charset="-122"/>
                  <a:cs typeface="Open Sans" pitchFamily="34" charset="-120"/>
                </a:rPr>
                <a:t>Clustering analysis is a powerful technique used in data science to identify groups or clusters of similar objects within a larger dataset. It allows us to uncover hidden patterns, understand relationships between data points, and derive valuable insights. This presentation will delve into the fundamentals of clustering, explore key algorithms, discuss practical applications, and highlight emerging trends in the field.</a:t>
              </a:r>
              <a:endParaRPr lang="en-US" sz="1750" dirty="0"/>
            </a:p>
          </p:txBody>
        </p:sp>
      </p:grpSp>
      <p:sp>
        <p:nvSpPr>
          <p:cNvPr id="7" name="TextBox 6">
            <a:extLst>
              <a:ext uri="{FF2B5EF4-FFF2-40B4-BE49-F238E27FC236}">
                <a16:creationId xmlns:a16="http://schemas.microsoft.com/office/drawing/2014/main" id="{88F7C3B3-25FC-338D-36C1-F0AF99C87B66}"/>
              </a:ext>
            </a:extLst>
          </p:cNvPr>
          <p:cNvSpPr txBox="1"/>
          <p:nvPr/>
        </p:nvSpPr>
        <p:spPr>
          <a:xfrm>
            <a:off x="517506" y="194101"/>
            <a:ext cx="5486400" cy="830997"/>
          </a:xfrm>
          <a:prstGeom prst="rect">
            <a:avLst/>
          </a:prstGeom>
          <a:noFill/>
        </p:spPr>
        <p:txBody>
          <a:bodyPr wrap="square" rtlCol="0">
            <a:spAutoFit/>
          </a:bodyPr>
          <a:lstStyle/>
          <a:p>
            <a:r>
              <a:rPr lang="en-GB" sz="4800" b="1" dirty="0"/>
              <a:t>INTRODUCTION:</a:t>
            </a:r>
            <a:endParaRPr lang="en-IN" sz="4800" b="1"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decel="10000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fill="hold"/>
                                        <p:tgtEl>
                                          <p:spTgt spid="2"/>
                                        </p:tgtEl>
                                        <p:attrNameLst>
                                          <p:attrName>ppt_x</p:attrName>
                                        </p:attrNameLst>
                                      </p:cBhvr>
                                      <p:tavLst>
                                        <p:tav tm="0">
                                          <p:val>
                                            <p:strVal val="1+#ppt_w/2"/>
                                          </p:val>
                                        </p:tav>
                                        <p:tav tm="100000">
                                          <p:val>
                                            <p:strVal val="#ppt_x"/>
                                          </p:val>
                                        </p:tav>
                                      </p:tavLst>
                                    </p:anim>
                                    <p:anim calcmode="lin" valueType="num">
                                      <p:cBhvr additive="base">
                                        <p:cTn id="12" dur="1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82541"/>
            <a:ext cx="13042821" cy="1417558"/>
          </a:xfrm>
          <a:prstGeom prst="rect">
            <a:avLst/>
          </a:prstGeom>
          <a:noFill/>
          <a:ln/>
        </p:spPr>
        <p:txBody>
          <a:bodyPr wrap="square" lIns="0" tIns="0" rIns="0" bIns="0" rtlCol="0" anchor="t"/>
          <a:lstStyle/>
          <a:p>
            <a:pPr marL="0" indent="0">
              <a:lnSpc>
                <a:spcPts val="5550"/>
              </a:lnSpc>
              <a:buNone/>
            </a:pPr>
            <a:r>
              <a:rPr lang="en-US" sz="4450" b="1" dirty="0">
                <a:solidFill>
                  <a:srgbClr val="443728"/>
                </a:solidFill>
                <a:latin typeface="Crimson Pro Bold" pitchFamily="34" charset="0"/>
                <a:ea typeface="Crimson Pro Bold" pitchFamily="34" charset="-122"/>
                <a:cs typeface="Crimson Pro Bold" pitchFamily="34" charset="-120"/>
              </a:rPr>
              <a:t>The Fundamental Role of Clustering in Modern Data Science</a:t>
            </a:r>
            <a:endParaRPr lang="en-US" sz="4450" dirty="0"/>
          </a:p>
        </p:txBody>
      </p:sp>
      <p:grpSp>
        <p:nvGrpSpPr>
          <p:cNvPr id="9" name="Group 8">
            <a:extLst>
              <a:ext uri="{FF2B5EF4-FFF2-40B4-BE49-F238E27FC236}">
                <a16:creationId xmlns:a16="http://schemas.microsoft.com/office/drawing/2014/main" id="{1C01D842-0CAC-D41F-4506-D3A8959BB50E}"/>
              </a:ext>
            </a:extLst>
          </p:cNvPr>
          <p:cNvGrpSpPr/>
          <p:nvPr/>
        </p:nvGrpSpPr>
        <p:grpSpPr>
          <a:xfrm>
            <a:off x="793790" y="3267075"/>
            <a:ext cx="3978116" cy="3475792"/>
            <a:chOff x="793790" y="3267075"/>
            <a:chExt cx="3978116" cy="3475792"/>
          </a:xfrm>
        </p:grpSpPr>
        <p:sp>
          <p:nvSpPr>
            <p:cNvPr id="3" name="Text 1"/>
            <p:cNvSpPr/>
            <p:nvPr/>
          </p:nvSpPr>
          <p:spPr>
            <a:xfrm>
              <a:off x="793790" y="3267075"/>
              <a:ext cx="3978116" cy="708660"/>
            </a:xfrm>
            <a:prstGeom prst="rect">
              <a:avLst/>
            </a:prstGeom>
            <a:noFill/>
            <a:ln/>
          </p:spPr>
          <p:txBody>
            <a:bodyPr wrap="square" lIns="0" tIns="0" rIns="0" bIns="0" rtlCol="0" anchor="t"/>
            <a:lstStyle/>
            <a:p>
              <a:pPr marL="0" indent="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Data Reduction and Simplification</a:t>
              </a:r>
              <a:endParaRPr lang="en-US" sz="2200" dirty="0"/>
            </a:p>
          </p:txBody>
        </p:sp>
        <p:sp>
          <p:nvSpPr>
            <p:cNvPr id="4" name="Text 2"/>
            <p:cNvSpPr/>
            <p:nvPr/>
          </p:nvSpPr>
          <p:spPr>
            <a:xfrm>
              <a:off x="793790" y="4202549"/>
              <a:ext cx="3978116" cy="2540318"/>
            </a:xfrm>
            <a:prstGeom prst="rect">
              <a:avLst/>
            </a:prstGeom>
            <a:noFill/>
            <a:ln/>
          </p:spPr>
          <p:txBody>
            <a:bodyPr wrap="square" lIns="0" tIns="0" rIns="0" bIns="0" rtlCol="0" anchor="t"/>
            <a:lstStyle/>
            <a:p>
              <a:pPr marL="0" indent="0">
                <a:lnSpc>
                  <a:spcPts val="2850"/>
                </a:lnSpc>
                <a:buNone/>
              </a:pPr>
              <a:r>
                <a:rPr lang="en-US" sz="1750" dirty="0">
                  <a:solidFill>
                    <a:srgbClr val="443728"/>
                  </a:solidFill>
                  <a:latin typeface="Open Sans" pitchFamily="34" charset="0"/>
                  <a:ea typeface="Open Sans" pitchFamily="34" charset="-122"/>
                  <a:cs typeface="Open Sans" pitchFamily="34" charset="-120"/>
                </a:rPr>
                <a:t>Clustering helps to reduce the complexity of large datasets by grouping similar data points together, making it easier to analyze and interpret. This is especially valuable for data-intensive applications.</a:t>
              </a:r>
              <a:endParaRPr lang="en-US" sz="1750" dirty="0"/>
            </a:p>
          </p:txBody>
        </p:sp>
      </p:grpSp>
      <p:sp>
        <p:nvSpPr>
          <p:cNvPr id="5" name="Text 3"/>
          <p:cNvSpPr/>
          <p:nvPr/>
        </p:nvSpPr>
        <p:spPr>
          <a:xfrm>
            <a:off x="5332928" y="3267075"/>
            <a:ext cx="3978116" cy="708660"/>
          </a:xfrm>
          <a:prstGeom prst="rect">
            <a:avLst/>
          </a:prstGeom>
          <a:noFill/>
          <a:ln/>
        </p:spPr>
        <p:txBody>
          <a:bodyPr wrap="square" lIns="0" tIns="0" rIns="0" bIns="0" rtlCol="0" anchor="t"/>
          <a:lstStyle/>
          <a:p>
            <a:pPr marL="0" indent="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Pattern Recognition and Discovery</a:t>
            </a:r>
            <a:endParaRPr lang="en-US" sz="2200" dirty="0"/>
          </a:p>
        </p:txBody>
      </p:sp>
      <p:sp>
        <p:nvSpPr>
          <p:cNvPr id="6" name="Text 4"/>
          <p:cNvSpPr/>
          <p:nvPr/>
        </p:nvSpPr>
        <p:spPr>
          <a:xfrm>
            <a:off x="5332928" y="4202549"/>
            <a:ext cx="3978116" cy="2177415"/>
          </a:xfrm>
          <a:prstGeom prst="rect">
            <a:avLst/>
          </a:prstGeom>
          <a:noFill/>
          <a:ln/>
        </p:spPr>
        <p:txBody>
          <a:bodyPr wrap="square" lIns="0" tIns="0" rIns="0" bIns="0" rtlCol="0" anchor="t"/>
          <a:lstStyle/>
          <a:p>
            <a:pPr marL="0" indent="0">
              <a:lnSpc>
                <a:spcPts val="2850"/>
              </a:lnSpc>
              <a:buNone/>
            </a:pPr>
            <a:r>
              <a:rPr lang="en-US" sz="1750" dirty="0">
                <a:solidFill>
                  <a:srgbClr val="443728"/>
                </a:solidFill>
                <a:latin typeface="Open Sans" pitchFamily="34" charset="0"/>
                <a:ea typeface="Open Sans" pitchFamily="34" charset="-122"/>
                <a:cs typeface="Open Sans" pitchFamily="34" charset="-120"/>
              </a:rPr>
              <a:t>By identifying clusters, we can uncover hidden patterns and relationships within the data that might not be obvious through simple observation. This can lead to valuable insights and knowledge discovery.</a:t>
            </a:r>
            <a:endParaRPr lang="en-US" sz="1750" dirty="0"/>
          </a:p>
        </p:txBody>
      </p:sp>
      <p:grpSp>
        <p:nvGrpSpPr>
          <p:cNvPr id="10" name="Group 9">
            <a:extLst>
              <a:ext uri="{FF2B5EF4-FFF2-40B4-BE49-F238E27FC236}">
                <a16:creationId xmlns:a16="http://schemas.microsoft.com/office/drawing/2014/main" id="{C9A7545D-23FB-8FC9-F172-AE8F3633163B}"/>
              </a:ext>
            </a:extLst>
          </p:cNvPr>
          <p:cNvGrpSpPr/>
          <p:nvPr/>
        </p:nvGrpSpPr>
        <p:grpSpPr>
          <a:xfrm>
            <a:off x="9872067" y="3267075"/>
            <a:ext cx="3978116" cy="3112889"/>
            <a:chOff x="9872067" y="3267075"/>
            <a:chExt cx="3978116" cy="3112889"/>
          </a:xfrm>
        </p:grpSpPr>
        <p:sp>
          <p:nvSpPr>
            <p:cNvPr id="7" name="Text 5"/>
            <p:cNvSpPr/>
            <p:nvPr/>
          </p:nvSpPr>
          <p:spPr>
            <a:xfrm>
              <a:off x="9872067" y="3267075"/>
              <a:ext cx="3978116" cy="708660"/>
            </a:xfrm>
            <a:prstGeom prst="rect">
              <a:avLst/>
            </a:prstGeom>
            <a:noFill/>
            <a:ln/>
          </p:spPr>
          <p:txBody>
            <a:bodyPr wrap="square" lIns="0" tIns="0" rIns="0" bIns="0" rtlCol="0" anchor="t"/>
            <a:lstStyle/>
            <a:p>
              <a:pPr marL="0" indent="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Decision-Making and Optimization</a:t>
              </a:r>
              <a:endParaRPr lang="en-US" sz="2200" dirty="0"/>
            </a:p>
          </p:txBody>
        </p:sp>
        <p:sp>
          <p:nvSpPr>
            <p:cNvPr id="8" name="Text 6"/>
            <p:cNvSpPr/>
            <p:nvPr/>
          </p:nvSpPr>
          <p:spPr>
            <a:xfrm>
              <a:off x="9872067" y="4202549"/>
              <a:ext cx="3978116" cy="2177415"/>
            </a:xfrm>
            <a:prstGeom prst="rect">
              <a:avLst/>
            </a:prstGeom>
            <a:noFill/>
            <a:ln/>
          </p:spPr>
          <p:txBody>
            <a:bodyPr wrap="square" lIns="0" tIns="0" rIns="0" bIns="0" rtlCol="0" anchor="t"/>
            <a:lstStyle/>
            <a:p>
              <a:pPr marL="0" indent="0">
                <a:lnSpc>
                  <a:spcPts val="2850"/>
                </a:lnSpc>
                <a:buNone/>
              </a:pPr>
              <a:r>
                <a:rPr lang="en-US" sz="1750" dirty="0">
                  <a:solidFill>
                    <a:srgbClr val="443728"/>
                  </a:solidFill>
                  <a:latin typeface="Open Sans" pitchFamily="34" charset="0"/>
                  <a:ea typeface="Open Sans" pitchFamily="34" charset="-122"/>
                  <a:cs typeface="Open Sans" pitchFamily="34" charset="-120"/>
                </a:rPr>
                <a:t>Clustering results can inform decision-making processes by providing insights into customer behavior, product preferences, and market trends, helping to optimize operations and strategies.</a:t>
              </a:r>
              <a:endParaRPr lang="en-US" sz="175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ppt_x"/>
                                          </p:val>
                                        </p:tav>
                                        <p:tav tm="100000">
                                          <p:val>
                                            <p:strVal val="#ppt_x"/>
                                          </p:val>
                                        </p:tav>
                                      </p:tavLst>
                                    </p:anim>
                                    <p:anim calcmode="lin" valueType="num">
                                      <p:cBhvr additive="base">
                                        <p:cTn id="2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62463"/>
          </a:xfrm>
          <a:prstGeom prst="rect">
            <a:avLst/>
          </a:prstGeom>
        </p:spPr>
      </p:pic>
      <p:sp>
        <p:nvSpPr>
          <p:cNvPr id="3" name="Text 0"/>
          <p:cNvSpPr/>
          <p:nvPr/>
        </p:nvSpPr>
        <p:spPr>
          <a:xfrm>
            <a:off x="717471" y="3126105"/>
            <a:ext cx="13195459" cy="1281113"/>
          </a:xfrm>
          <a:prstGeom prst="rect">
            <a:avLst/>
          </a:prstGeom>
          <a:noFill/>
          <a:ln/>
        </p:spPr>
        <p:txBody>
          <a:bodyPr wrap="square" lIns="0" tIns="0" rIns="0" bIns="0" rtlCol="0" anchor="t"/>
          <a:lstStyle/>
          <a:p>
            <a:pPr marL="0" indent="0">
              <a:lnSpc>
                <a:spcPts val="5000"/>
              </a:lnSpc>
              <a:buNone/>
            </a:pPr>
            <a:r>
              <a:rPr lang="en-US" sz="4000" b="1" dirty="0">
                <a:solidFill>
                  <a:srgbClr val="443728"/>
                </a:solidFill>
                <a:latin typeface="Crimson Pro Bold" pitchFamily="34" charset="0"/>
                <a:ea typeface="Crimson Pro Bold" pitchFamily="34" charset="-122"/>
                <a:cs typeface="Crimson Pro Bold" pitchFamily="34" charset="-120"/>
              </a:rPr>
              <a:t>Key Clustering Algorithms: K-means, DBSCAN, and Hierarchical Methods</a:t>
            </a:r>
            <a:endParaRPr lang="en-US" sz="4000" dirty="0"/>
          </a:p>
        </p:txBody>
      </p:sp>
      <p:sp>
        <p:nvSpPr>
          <p:cNvPr id="4" name="Shape 1"/>
          <p:cNvSpPr/>
          <p:nvPr/>
        </p:nvSpPr>
        <p:spPr>
          <a:xfrm>
            <a:off x="717471" y="4945261"/>
            <a:ext cx="461248" cy="461248"/>
          </a:xfrm>
          <a:prstGeom prst="roundRect">
            <a:avLst>
              <a:gd name="adj" fmla="val 18667"/>
            </a:avLst>
          </a:prstGeom>
          <a:solidFill>
            <a:srgbClr val="EBE2E0"/>
          </a:solidFill>
          <a:ln w="7620">
            <a:solidFill>
              <a:srgbClr val="D1C8C6"/>
            </a:solidFill>
            <a:prstDash val="solid"/>
          </a:ln>
        </p:spPr>
      </p:sp>
      <p:sp>
        <p:nvSpPr>
          <p:cNvPr id="5" name="Text 2"/>
          <p:cNvSpPr/>
          <p:nvPr/>
        </p:nvSpPr>
        <p:spPr>
          <a:xfrm>
            <a:off x="890587" y="5022056"/>
            <a:ext cx="115014" cy="307538"/>
          </a:xfrm>
          <a:prstGeom prst="rect">
            <a:avLst/>
          </a:prstGeom>
          <a:noFill/>
          <a:ln/>
        </p:spPr>
        <p:txBody>
          <a:bodyPr wrap="none" lIns="0" tIns="0" rIns="0" bIns="0" rtlCol="0" anchor="t"/>
          <a:lstStyle/>
          <a:p>
            <a:pPr marL="0" indent="0" algn="ctr">
              <a:lnSpc>
                <a:spcPts val="2400"/>
              </a:lnSpc>
              <a:buNone/>
            </a:pPr>
            <a:r>
              <a:rPr lang="en-US" sz="2400" b="1" dirty="0">
                <a:solidFill>
                  <a:srgbClr val="443728"/>
                </a:solidFill>
                <a:latin typeface="Crimson Pro Bold" pitchFamily="34" charset="0"/>
                <a:ea typeface="Crimson Pro Bold" pitchFamily="34" charset="-122"/>
                <a:cs typeface="Crimson Pro Bold" pitchFamily="34" charset="-120"/>
              </a:rPr>
              <a:t>1</a:t>
            </a:r>
            <a:endParaRPr lang="en-US" sz="2400" dirty="0"/>
          </a:p>
        </p:txBody>
      </p:sp>
      <p:grpSp>
        <p:nvGrpSpPr>
          <p:cNvPr id="16" name="Group 15">
            <a:extLst>
              <a:ext uri="{FF2B5EF4-FFF2-40B4-BE49-F238E27FC236}">
                <a16:creationId xmlns:a16="http://schemas.microsoft.com/office/drawing/2014/main" id="{CA387C23-2A3C-13F3-6EF8-06D9F98CBB3F}"/>
              </a:ext>
            </a:extLst>
          </p:cNvPr>
          <p:cNvGrpSpPr/>
          <p:nvPr/>
        </p:nvGrpSpPr>
        <p:grpSpPr>
          <a:xfrm>
            <a:off x="1383625" y="4945261"/>
            <a:ext cx="3595688" cy="2083356"/>
            <a:chOff x="1383625" y="4945261"/>
            <a:chExt cx="3595688" cy="2083356"/>
          </a:xfrm>
        </p:grpSpPr>
        <p:sp>
          <p:nvSpPr>
            <p:cNvPr id="6" name="Text 3"/>
            <p:cNvSpPr/>
            <p:nvPr/>
          </p:nvSpPr>
          <p:spPr>
            <a:xfrm>
              <a:off x="1383625" y="4945261"/>
              <a:ext cx="2562463" cy="320278"/>
            </a:xfrm>
            <a:prstGeom prst="rect">
              <a:avLst/>
            </a:prstGeom>
            <a:noFill/>
            <a:ln/>
          </p:spPr>
          <p:txBody>
            <a:bodyPr wrap="none" lIns="0" tIns="0" rIns="0" bIns="0" rtlCol="0" anchor="t"/>
            <a:lstStyle/>
            <a:p>
              <a:pPr marL="0" indent="0">
                <a:lnSpc>
                  <a:spcPts val="2500"/>
                </a:lnSpc>
                <a:buNone/>
              </a:pPr>
              <a:r>
                <a:rPr lang="en-US" sz="2000" b="1" dirty="0">
                  <a:solidFill>
                    <a:srgbClr val="443728"/>
                  </a:solidFill>
                  <a:latin typeface="Crimson Pro Bold" pitchFamily="34" charset="0"/>
                  <a:ea typeface="Crimson Pro Bold" pitchFamily="34" charset="-122"/>
                  <a:cs typeface="Crimson Pro Bold" pitchFamily="34" charset="-120"/>
                </a:rPr>
                <a:t>K-means</a:t>
              </a:r>
              <a:endParaRPr lang="en-US" sz="2000" dirty="0"/>
            </a:p>
          </p:txBody>
        </p:sp>
        <p:sp>
          <p:nvSpPr>
            <p:cNvPr id="7" name="Text 4"/>
            <p:cNvSpPr/>
            <p:nvPr/>
          </p:nvSpPr>
          <p:spPr>
            <a:xfrm>
              <a:off x="1383625" y="5388531"/>
              <a:ext cx="3595688" cy="1640086"/>
            </a:xfrm>
            <a:prstGeom prst="rect">
              <a:avLst/>
            </a:prstGeom>
            <a:noFill/>
            <a:ln/>
          </p:spPr>
          <p:txBody>
            <a:bodyPr wrap="square" lIns="0" tIns="0" rIns="0" bIns="0" rtlCol="0" anchor="t"/>
            <a:lstStyle/>
            <a:p>
              <a:pPr marL="0" indent="0">
                <a:lnSpc>
                  <a:spcPts val="2550"/>
                </a:lnSpc>
                <a:buNone/>
              </a:pPr>
              <a:r>
                <a:rPr lang="en-US" sz="1600" dirty="0">
                  <a:solidFill>
                    <a:srgbClr val="443728"/>
                  </a:solidFill>
                  <a:latin typeface="Open Sans" pitchFamily="34" charset="0"/>
                  <a:ea typeface="Open Sans" pitchFamily="34" charset="-122"/>
                  <a:cs typeface="Open Sans" pitchFamily="34" charset="-120"/>
                </a:rPr>
                <a:t>A popular partitioning algorithm that assigns data points to K clusters based on their proximity to cluster centroids. It's known for its simplicity and efficiency.</a:t>
              </a:r>
              <a:endParaRPr lang="en-US" sz="1600" dirty="0"/>
            </a:p>
          </p:txBody>
        </p:sp>
      </p:grpSp>
      <p:sp>
        <p:nvSpPr>
          <p:cNvPr id="8" name="Shape 5"/>
          <p:cNvSpPr/>
          <p:nvPr/>
        </p:nvSpPr>
        <p:spPr>
          <a:xfrm>
            <a:off x="5184219" y="4945261"/>
            <a:ext cx="461248" cy="461248"/>
          </a:xfrm>
          <a:prstGeom prst="roundRect">
            <a:avLst>
              <a:gd name="adj" fmla="val 18667"/>
            </a:avLst>
          </a:prstGeom>
          <a:solidFill>
            <a:srgbClr val="EBE2E0"/>
          </a:solidFill>
          <a:ln w="7620">
            <a:solidFill>
              <a:srgbClr val="D1C8C6"/>
            </a:solidFill>
            <a:prstDash val="solid"/>
          </a:ln>
        </p:spPr>
      </p:sp>
      <p:sp>
        <p:nvSpPr>
          <p:cNvPr id="9" name="Text 6"/>
          <p:cNvSpPr/>
          <p:nvPr/>
        </p:nvSpPr>
        <p:spPr>
          <a:xfrm>
            <a:off x="5336381" y="5022056"/>
            <a:ext cx="156805" cy="307538"/>
          </a:xfrm>
          <a:prstGeom prst="rect">
            <a:avLst/>
          </a:prstGeom>
          <a:noFill/>
          <a:ln/>
        </p:spPr>
        <p:txBody>
          <a:bodyPr wrap="none" lIns="0" tIns="0" rIns="0" bIns="0" rtlCol="0" anchor="t"/>
          <a:lstStyle/>
          <a:p>
            <a:pPr marL="0" indent="0" algn="ctr">
              <a:lnSpc>
                <a:spcPts val="2400"/>
              </a:lnSpc>
              <a:buNone/>
            </a:pPr>
            <a:r>
              <a:rPr lang="en-US" sz="2400" b="1" dirty="0">
                <a:solidFill>
                  <a:srgbClr val="443728"/>
                </a:solidFill>
                <a:latin typeface="Crimson Pro Bold" pitchFamily="34" charset="0"/>
                <a:ea typeface="Crimson Pro Bold" pitchFamily="34" charset="-122"/>
                <a:cs typeface="Crimson Pro Bold" pitchFamily="34" charset="-120"/>
              </a:rPr>
              <a:t>2</a:t>
            </a:r>
            <a:endParaRPr lang="en-US" sz="2400" dirty="0"/>
          </a:p>
        </p:txBody>
      </p:sp>
      <p:sp>
        <p:nvSpPr>
          <p:cNvPr id="10" name="Text 7"/>
          <p:cNvSpPr/>
          <p:nvPr/>
        </p:nvSpPr>
        <p:spPr>
          <a:xfrm>
            <a:off x="5850374" y="4945261"/>
            <a:ext cx="3595688" cy="960834"/>
          </a:xfrm>
          <a:prstGeom prst="rect">
            <a:avLst/>
          </a:prstGeom>
          <a:noFill/>
          <a:ln/>
        </p:spPr>
        <p:txBody>
          <a:bodyPr wrap="square" lIns="0" tIns="0" rIns="0" bIns="0" rtlCol="0" anchor="t"/>
          <a:lstStyle/>
          <a:p>
            <a:pPr marL="0" indent="0">
              <a:lnSpc>
                <a:spcPts val="2500"/>
              </a:lnSpc>
              <a:buNone/>
            </a:pPr>
            <a:r>
              <a:rPr lang="en-US" sz="2000" b="1" dirty="0">
                <a:solidFill>
                  <a:srgbClr val="443728"/>
                </a:solidFill>
                <a:latin typeface="Crimson Pro Bold" pitchFamily="34" charset="0"/>
                <a:ea typeface="Crimson Pro Bold" pitchFamily="34" charset="-122"/>
                <a:cs typeface="Crimson Pro Bold" pitchFamily="34" charset="-120"/>
              </a:rPr>
              <a:t>DBSCAN (Density-Based Spatial Clustering of Applications with Noise)</a:t>
            </a:r>
            <a:endParaRPr lang="en-US" sz="2000" dirty="0"/>
          </a:p>
        </p:txBody>
      </p:sp>
      <p:sp>
        <p:nvSpPr>
          <p:cNvPr id="11" name="Text 8"/>
          <p:cNvSpPr/>
          <p:nvPr/>
        </p:nvSpPr>
        <p:spPr>
          <a:xfrm>
            <a:off x="5850374" y="6029087"/>
            <a:ext cx="3595688" cy="1640086"/>
          </a:xfrm>
          <a:prstGeom prst="rect">
            <a:avLst/>
          </a:prstGeom>
          <a:noFill/>
          <a:ln/>
        </p:spPr>
        <p:txBody>
          <a:bodyPr wrap="square" lIns="0" tIns="0" rIns="0" bIns="0" rtlCol="0" anchor="t"/>
          <a:lstStyle/>
          <a:p>
            <a:pPr marL="0" indent="0">
              <a:lnSpc>
                <a:spcPts val="2550"/>
              </a:lnSpc>
              <a:buNone/>
            </a:pPr>
            <a:r>
              <a:rPr lang="en-US" sz="1600" dirty="0">
                <a:solidFill>
                  <a:srgbClr val="443728"/>
                </a:solidFill>
                <a:latin typeface="Open Sans" pitchFamily="34" charset="0"/>
                <a:ea typeface="Open Sans" pitchFamily="34" charset="-122"/>
                <a:cs typeface="Open Sans" pitchFamily="34" charset="-120"/>
              </a:rPr>
              <a:t>An algorithm that groups data points based on their density, identifying clusters of high density and separating them from noise or outliers.</a:t>
            </a:r>
            <a:endParaRPr lang="en-US" sz="1600" dirty="0"/>
          </a:p>
        </p:txBody>
      </p:sp>
      <p:sp>
        <p:nvSpPr>
          <p:cNvPr id="12" name="Shape 9"/>
          <p:cNvSpPr/>
          <p:nvPr/>
        </p:nvSpPr>
        <p:spPr>
          <a:xfrm>
            <a:off x="9650968" y="4945261"/>
            <a:ext cx="461248" cy="461248"/>
          </a:xfrm>
          <a:prstGeom prst="roundRect">
            <a:avLst>
              <a:gd name="adj" fmla="val 18667"/>
            </a:avLst>
          </a:prstGeom>
          <a:solidFill>
            <a:srgbClr val="EBE2E0"/>
          </a:solidFill>
          <a:ln w="7620">
            <a:solidFill>
              <a:srgbClr val="D1C8C6"/>
            </a:solidFill>
            <a:prstDash val="solid"/>
          </a:ln>
        </p:spPr>
      </p:sp>
      <p:sp>
        <p:nvSpPr>
          <p:cNvPr id="13" name="Text 10"/>
          <p:cNvSpPr/>
          <p:nvPr/>
        </p:nvSpPr>
        <p:spPr>
          <a:xfrm>
            <a:off x="9806464" y="5022056"/>
            <a:ext cx="150138" cy="307538"/>
          </a:xfrm>
          <a:prstGeom prst="rect">
            <a:avLst/>
          </a:prstGeom>
          <a:noFill/>
          <a:ln/>
        </p:spPr>
        <p:txBody>
          <a:bodyPr wrap="none" lIns="0" tIns="0" rIns="0" bIns="0" rtlCol="0" anchor="t"/>
          <a:lstStyle/>
          <a:p>
            <a:pPr marL="0" indent="0" algn="ctr">
              <a:lnSpc>
                <a:spcPts val="2400"/>
              </a:lnSpc>
              <a:buNone/>
            </a:pPr>
            <a:r>
              <a:rPr lang="en-US" sz="2400" b="1" dirty="0">
                <a:solidFill>
                  <a:srgbClr val="443728"/>
                </a:solidFill>
                <a:latin typeface="Crimson Pro Bold" pitchFamily="34" charset="0"/>
                <a:ea typeface="Crimson Pro Bold" pitchFamily="34" charset="-122"/>
                <a:cs typeface="Crimson Pro Bold" pitchFamily="34" charset="-120"/>
              </a:rPr>
              <a:t>3</a:t>
            </a:r>
            <a:endParaRPr lang="en-US" sz="2400" dirty="0"/>
          </a:p>
        </p:txBody>
      </p:sp>
      <p:sp>
        <p:nvSpPr>
          <p:cNvPr id="14" name="Text 11"/>
          <p:cNvSpPr/>
          <p:nvPr/>
        </p:nvSpPr>
        <p:spPr>
          <a:xfrm>
            <a:off x="10317123" y="4945261"/>
            <a:ext cx="2562463" cy="320278"/>
          </a:xfrm>
          <a:prstGeom prst="rect">
            <a:avLst/>
          </a:prstGeom>
          <a:noFill/>
          <a:ln/>
        </p:spPr>
        <p:txBody>
          <a:bodyPr wrap="none" lIns="0" tIns="0" rIns="0" bIns="0" rtlCol="0" anchor="t"/>
          <a:lstStyle/>
          <a:p>
            <a:pPr marL="0" indent="0">
              <a:lnSpc>
                <a:spcPts val="2500"/>
              </a:lnSpc>
              <a:buNone/>
            </a:pPr>
            <a:r>
              <a:rPr lang="en-US" sz="2000" b="1" dirty="0">
                <a:solidFill>
                  <a:srgbClr val="443728"/>
                </a:solidFill>
                <a:latin typeface="Crimson Pro Bold" pitchFamily="34" charset="0"/>
                <a:ea typeface="Crimson Pro Bold" pitchFamily="34" charset="-122"/>
                <a:cs typeface="Crimson Pro Bold" pitchFamily="34" charset="-120"/>
              </a:rPr>
              <a:t>Hierarchical Clustering</a:t>
            </a:r>
            <a:endParaRPr lang="en-US" sz="2000" dirty="0"/>
          </a:p>
        </p:txBody>
      </p:sp>
      <p:sp>
        <p:nvSpPr>
          <p:cNvPr id="15" name="Text 12"/>
          <p:cNvSpPr/>
          <p:nvPr/>
        </p:nvSpPr>
        <p:spPr>
          <a:xfrm>
            <a:off x="10317123" y="5388531"/>
            <a:ext cx="3595688" cy="1640086"/>
          </a:xfrm>
          <a:prstGeom prst="rect">
            <a:avLst/>
          </a:prstGeom>
          <a:noFill/>
          <a:ln/>
        </p:spPr>
        <p:txBody>
          <a:bodyPr wrap="square" lIns="0" tIns="0" rIns="0" bIns="0" rtlCol="0" anchor="t"/>
          <a:lstStyle/>
          <a:p>
            <a:pPr marL="0" indent="0">
              <a:lnSpc>
                <a:spcPts val="2550"/>
              </a:lnSpc>
              <a:buNone/>
            </a:pPr>
            <a:r>
              <a:rPr lang="en-US" sz="1600" dirty="0">
                <a:solidFill>
                  <a:srgbClr val="443728"/>
                </a:solidFill>
                <a:latin typeface="Open Sans" pitchFamily="34" charset="0"/>
                <a:ea typeface="Open Sans" pitchFamily="34" charset="-122"/>
                <a:cs typeface="Open Sans" pitchFamily="34" charset="-120"/>
              </a:rPr>
              <a:t>A method that creates a hierarchy of clusters, starting with individual data points and merging or splitting clusters iteratively based on their similarity or distance.</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0-#ppt_w/2"/>
                                          </p:val>
                                        </p:tav>
                                        <p:tav tm="100000">
                                          <p:val>
                                            <p:strVal val="#ppt_x"/>
                                          </p:val>
                                        </p:tav>
                                      </p:tavLst>
                                    </p:anim>
                                    <p:anim calcmode="lin" valueType="num">
                                      <p:cBhvr additive="base">
                                        <p:cTn id="12" dur="10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0195"/>
          </a:xfrm>
          <a:prstGeom prst="rect">
            <a:avLst/>
          </a:prstGeom>
        </p:spPr>
      </p:pic>
      <p:sp>
        <p:nvSpPr>
          <p:cNvPr id="3" name="Text 0"/>
          <p:cNvSpPr/>
          <p:nvPr/>
        </p:nvSpPr>
        <p:spPr>
          <a:xfrm>
            <a:off x="625673" y="491609"/>
            <a:ext cx="7892653" cy="1117283"/>
          </a:xfrm>
          <a:prstGeom prst="rect">
            <a:avLst/>
          </a:prstGeom>
          <a:noFill/>
          <a:ln/>
        </p:spPr>
        <p:txBody>
          <a:bodyPr wrap="square" lIns="0" tIns="0" rIns="0" bIns="0" rtlCol="0" anchor="t"/>
          <a:lstStyle/>
          <a:p>
            <a:pPr marL="0" indent="0">
              <a:lnSpc>
                <a:spcPts val="4350"/>
              </a:lnSpc>
              <a:buNone/>
            </a:pPr>
            <a:r>
              <a:rPr lang="en-US" sz="3500" b="1" dirty="0">
                <a:solidFill>
                  <a:srgbClr val="443728"/>
                </a:solidFill>
                <a:latin typeface="Crimson Pro Bold" pitchFamily="34" charset="0"/>
                <a:ea typeface="Crimson Pro Bold" pitchFamily="34" charset="-122"/>
                <a:cs typeface="Crimson Pro Bold" pitchFamily="34" charset="-120"/>
              </a:rPr>
              <a:t>Mathematical Foundations: Distance Metrics and Similarity Measures</a:t>
            </a:r>
            <a:endParaRPr lang="en-US" sz="3500" dirty="0"/>
          </a:p>
        </p:txBody>
      </p:sp>
      <p:sp>
        <p:nvSpPr>
          <p:cNvPr id="4" name="Shape 1"/>
          <p:cNvSpPr/>
          <p:nvPr/>
        </p:nvSpPr>
        <p:spPr>
          <a:xfrm>
            <a:off x="625673" y="1877020"/>
            <a:ext cx="7892653" cy="1331357"/>
          </a:xfrm>
          <a:prstGeom prst="roundRect">
            <a:avLst>
              <a:gd name="adj" fmla="val 5640"/>
            </a:avLst>
          </a:prstGeom>
          <a:solidFill>
            <a:srgbClr val="EBE2E0"/>
          </a:solidFill>
          <a:ln w="7620">
            <a:solidFill>
              <a:srgbClr val="D1C8C6"/>
            </a:solidFill>
            <a:prstDash val="solid"/>
          </a:ln>
        </p:spPr>
      </p:sp>
      <p:sp>
        <p:nvSpPr>
          <p:cNvPr id="5" name="Text 2"/>
          <p:cNvSpPr/>
          <p:nvPr/>
        </p:nvSpPr>
        <p:spPr>
          <a:xfrm>
            <a:off x="812006" y="2063353"/>
            <a:ext cx="2234803" cy="279321"/>
          </a:xfrm>
          <a:prstGeom prst="rect">
            <a:avLst/>
          </a:prstGeom>
          <a:noFill/>
          <a:ln/>
        </p:spPr>
        <p:txBody>
          <a:bodyPr wrap="none" lIns="0" tIns="0" rIns="0" bIns="0" rtlCol="0" anchor="t"/>
          <a:lstStyle/>
          <a:p>
            <a:pPr marL="0" indent="0">
              <a:lnSpc>
                <a:spcPts val="2150"/>
              </a:lnSpc>
              <a:buNone/>
            </a:pPr>
            <a:r>
              <a:rPr lang="en-US" sz="1750" b="1" dirty="0">
                <a:solidFill>
                  <a:srgbClr val="443728"/>
                </a:solidFill>
                <a:latin typeface="Crimson Pro Bold" pitchFamily="34" charset="0"/>
                <a:ea typeface="Crimson Pro Bold" pitchFamily="34" charset="-122"/>
                <a:cs typeface="Crimson Pro Bold" pitchFamily="34" charset="-120"/>
              </a:rPr>
              <a:t>Euclidean Distance</a:t>
            </a:r>
            <a:endParaRPr lang="en-US" sz="1750" dirty="0"/>
          </a:p>
        </p:txBody>
      </p:sp>
      <p:sp>
        <p:nvSpPr>
          <p:cNvPr id="6" name="Text 3"/>
          <p:cNvSpPr/>
          <p:nvPr/>
        </p:nvSpPr>
        <p:spPr>
          <a:xfrm>
            <a:off x="812006" y="2449830"/>
            <a:ext cx="7519988" cy="572214"/>
          </a:xfrm>
          <a:prstGeom prst="rect">
            <a:avLst/>
          </a:prstGeom>
          <a:noFill/>
          <a:ln/>
        </p:spPr>
        <p:txBody>
          <a:bodyPr wrap="square" lIns="0" tIns="0" rIns="0" bIns="0" rtlCol="0" anchor="t"/>
          <a:lstStyle/>
          <a:p>
            <a:pPr marL="0" indent="0">
              <a:lnSpc>
                <a:spcPts val="2250"/>
              </a:lnSpc>
              <a:buNone/>
            </a:pPr>
            <a:r>
              <a:rPr lang="en-US" sz="1400" dirty="0">
                <a:solidFill>
                  <a:srgbClr val="443728"/>
                </a:solidFill>
                <a:latin typeface="Open Sans" pitchFamily="34" charset="0"/>
                <a:ea typeface="Open Sans" pitchFamily="34" charset="-122"/>
                <a:cs typeface="Open Sans" pitchFamily="34" charset="-120"/>
              </a:rPr>
              <a:t>The most common distance metric, calculating the straight-line distance between two points in a multi-dimensional space.</a:t>
            </a:r>
            <a:endParaRPr lang="en-US" sz="1400" dirty="0"/>
          </a:p>
        </p:txBody>
      </p:sp>
      <p:sp>
        <p:nvSpPr>
          <p:cNvPr id="7" name="Shape 4"/>
          <p:cNvSpPr/>
          <p:nvPr/>
        </p:nvSpPr>
        <p:spPr>
          <a:xfrm>
            <a:off x="625673" y="3387090"/>
            <a:ext cx="7892653" cy="1331357"/>
          </a:xfrm>
          <a:prstGeom prst="roundRect">
            <a:avLst>
              <a:gd name="adj" fmla="val 5640"/>
            </a:avLst>
          </a:prstGeom>
          <a:solidFill>
            <a:srgbClr val="EBE2E0"/>
          </a:solidFill>
          <a:ln w="7620">
            <a:solidFill>
              <a:srgbClr val="D1C8C6"/>
            </a:solidFill>
            <a:prstDash val="solid"/>
          </a:ln>
        </p:spPr>
      </p:sp>
      <p:sp>
        <p:nvSpPr>
          <p:cNvPr id="8" name="Text 5"/>
          <p:cNvSpPr/>
          <p:nvPr/>
        </p:nvSpPr>
        <p:spPr>
          <a:xfrm>
            <a:off x="812006" y="3573423"/>
            <a:ext cx="2234803" cy="279321"/>
          </a:xfrm>
          <a:prstGeom prst="rect">
            <a:avLst/>
          </a:prstGeom>
          <a:noFill/>
          <a:ln/>
        </p:spPr>
        <p:txBody>
          <a:bodyPr wrap="none" lIns="0" tIns="0" rIns="0" bIns="0" rtlCol="0" anchor="t"/>
          <a:lstStyle/>
          <a:p>
            <a:pPr marL="0" indent="0">
              <a:lnSpc>
                <a:spcPts val="2150"/>
              </a:lnSpc>
              <a:buNone/>
            </a:pPr>
            <a:r>
              <a:rPr lang="en-US" sz="1750" b="1" dirty="0">
                <a:solidFill>
                  <a:srgbClr val="443728"/>
                </a:solidFill>
                <a:latin typeface="Crimson Pro Bold" pitchFamily="34" charset="0"/>
                <a:ea typeface="Crimson Pro Bold" pitchFamily="34" charset="-122"/>
                <a:cs typeface="Crimson Pro Bold" pitchFamily="34" charset="-120"/>
              </a:rPr>
              <a:t>Manhattan Distance</a:t>
            </a:r>
            <a:endParaRPr lang="en-US" sz="1750" dirty="0"/>
          </a:p>
        </p:txBody>
      </p:sp>
      <p:sp>
        <p:nvSpPr>
          <p:cNvPr id="9" name="Text 6"/>
          <p:cNvSpPr/>
          <p:nvPr/>
        </p:nvSpPr>
        <p:spPr>
          <a:xfrm>
            <a:off x="812006" y="3959900"/>
            <a:ext cx="7519988" cy="572214"/>
          </a:xfrm>
          <a:prstGeom prst="rect">
            <a:avLst/>
          </a:prstGeom>
          <a:noFill/>
          <a:ln/>
        </p:spPr>
        <p:txBody>
          <a:bodyPr wrap="square" lIns="0" tIns="0" rIns="0" bIns="0" rtlCol="0" anchor="t"/>
          <a:lstStyle/>
          <a:p>
            <a:pPr marL="0" indent="0">
              <a:lnSpc>
                <a:spcPts val="2250"/>
              </a:lnSpc>
              <a:buNone/>
            </a:pPr>
            <a:r>
              <a:rPr lang="en-US" sz="1400" dirty="0">
                <a:solidFill>
                  <a:srgbClr val="443728"/>
                </a:solidFill>
                <a:latin typeface="Open Sans" pitchFamily="34" charset="0"/>
                <a:ea typeface="Open Sans" pitchFamily="34" charset="-122"/>
                <a:cs typeface="Open Sans" pitchFamily="34" charset="-120"/>
              </a:rPr>
              <a:t>A distance metric that calculates the sum of absolute differences between corresponding coordinates of two points.</a:t>
            </a:r>
            <a:endParaRPr lang="en-US" sz="1400" dirty="0"/>
          </a:p>
        </p:txBody>
      </p:sp>
      <p:sp>
        <p:nvSpPr>
          <p:cNvPr id="10" name="Shape 7"/>
          <p:cNvSpPr/>
          <p:nvPr/>
        </p:nvSpPr>
        <p:spPr>
          <a:xfrm>
            <a:off x="625673" y="4897160"/>
            <a:ext cx="7892653" cy="1331357"/>
          </a:xfrm>
          <a:prstGeom prst="roundRect">
            <a:avLst>
              <a:gd name="adj" fmla="val 5640"/>
            </a:avLst>
          </a:prstGeom>
          <a:solidFill>
            <a:srgbClr val="EBE2E0"/>
          </a:solidFill>
          <a:ln w="7620">
            <a:solidFill>
              <a:srgbClr val="D1C8C6"/>
            </a:solidFill>
            <a:prstDash val="solid"/>
          </a:ln>
        </p:spPr>
      </p:sp>
      <p:sp>
        <p:nvSpPr>
          <p:cNvPr id="11" name="Text 8"/>
          <p:cNvSpPr/>
          <p:nvPr/>
        </p:nvSpPr>
        <p:spPr>
          <a:xfrm>
            <a:off x="812006" y="5083493"/>
            <a:ext cx="2234803" cy="279321"/>
          </a:xfrm>
          <a:prstGeom prst="rect">
            <a:avLst/>
          </a:prstGeom>
          <a:noFill/>
          <a:ln/>
        </p:spPr>
        <p:txBody>
          <a:bodyPr wrap="none" lIns="0" tIns="0" rIns="0" bIns="0" rtlCol="0" anchor="t"/>
          <a:lstStyle/>
          <a:p>
            <a:pPr marL="0" indent="0">
              <a:lnSpc>
                <a:spcPts val="2150"/>
              </a:lnSpc>
              <a:buNone/>
            </a:pPr>
            <a:r>
              <a:rPr lang="en-US" sz="1750" b="1" dirty="0">
                <a:solidFill>
                  <a:srgbClr val="443728"/>
                </a:solidFill>
                <a:latin typeface="Crimson Pro Bold" pitchFamily="34" charset="0"/>
                <a:ea typeface="Crimson Pro Bold" pitchFamily="34" charset="-122"/>
                <a:cs typeface="Crimson Pro Bold" pitchFamily="34" charset="-120"/>
              </a:rPr>
              <a:t>Cosine Similarity</a:t>
            </a:r>
            <a:endParaRPr lang="en-US" sz="1750" dirty="0"/>
          </a:p>
        </p:txBody>
      </p:sp>
      <p:sp>
        <p:nvSpPr>
          <p:cNvPr id="12" name="Text 9"/>
          <p:cNvSpPr/>
          <p:nvPr/>
        </p:nvSpPr>
        <p:spPr>
          <a:xfrm>
            <a:off x="812006" y="5469969"/>
            <a:ext cx="7519988" cy="572214"/>
          </a:xfrm>
          <a:prstGeom prst="rect">
            <a:avLst/>
          </a:prstGeom>
          <a:noFill/>
          <a:ln/>
        </p:spPr>
        <p:txBody>
          <a:bodyPr wrap="square" lIns="0" tIns="0" rIns="0" bIns="0" rtlCol="0" anchor="t"/>
          <a:lstStyle/>
          <a:p>
            <a:pPr marL="0" indent="0">
              <a:lnSpc>
                <a:spcPts val="2250"/>
              </a:lnSpc>
              <a:buNone/>
            </a:pPr>
            <a:r>
              <a:rPr lang="en-US" sz="1400" dirty="0">
                <a:solidFill>
                  <a:srgbClr val="443728"/>
                </a:solidFill>
                <a:latin typeface="Open Sans" pitchFamily="34" charset="0"/>
                <a:ea typeface="Open Sans" pitchFamily="34" charset="-122"/>
                <a:cs typeface="Open Sans" pitchFamily="34" charset="-120"/>
              </a:rPr>
              <a:t>A similarity measure that calculates the cosine of the angle between two vectors, indicating how similar their directions are.</a:t>
            </a:r>
            <a:endParaRPr lang="en-US" sz="1400" dirty="0"/>
          </a:p>
        </p:txBody>
      </p:sp>
      <p:sp>
        <p:nvSpPr>
          <p:cNvPr id="13" name="Shape 10"/>
          <p:cNvSpPr/>
          <p:nvPr/>
        </p:nvSpPr>
        <p:spPr>
          <a:xfrm>
            <a:off x="625673" y="6407229"/>
            <a:ext cx="7892653" cy="1331357"/>
          </a:xfrm>
          <a:prstGeom prst="roundRect">
            <a:avLst>
              <a:gd name="adj" fmla="val 5640"/>
            </a:avLst>
          </a:prstGeom>
          <a:solidFill>
            <a:srgbClr val="EBE2E0"/>
          </a:solidFill>
          <a:ln w="7620">
            <a:solidFill>
              <a:srgbClr val="D1C8C6"/>
            </a:solidFill>
            <a:prstDash val="solid"/>
          </a:ln>
        </p:spPr>
      </p:sp>
      <p:sp>
        <p:nvSpPr>
          <p:cNvPr id="14" name="Text 11"/>
          <p:cNvSpPr/>
          <p:nvPr/>
        </p:nvSpPr>
        <p:spPr>
          <a:xfrm>
            <a:off x="812006" y="6593562"/>
            <a:ext cx="2234803" cy="279321"/>
          </a:xfrm>
          <a:prstGeom prst="rect">
            <a:avLst/>
          </a:prstGeom>
          <a:noFill/>
          <a:ln/>
        </p:spPr>
        <p:txBody>
          <a:bodyPr wrap="none" lIns="0" tIns="0" rIns="0" bIns="0" rtlCol="0" anchor="t"/>
          <a:lstStyle/>
          <a:p>
            <a:pPr marL="0" indent="0">
              <a:lnSpc>
                <a:spcPts val="2150"/>
              </a:lnSpc>
              <a:buNone/>
            </a:pPr>
            <a:r>
              <a:rPr lang="en-US" sz="1750" b="1" dirty="0">
                <a:solidFill>
                  <a:srgbClr val="443728"/>
                </a:solidFill>
                <a:latin typeface="Crimson Pro Bold" pitchFamily="34" charset="0"/>
                <a:ea typeface="Crimson Pro Bold" pitchFamily="34" charset="-122"/>
                <a:cs typeface="Crimson Pro Bold" pitchFamily="34" charset="-120"/>
              </a:rPr>
              <a:t>Jaccard Similarity</a:t>
            </a:r>
            <a:endParaRPr lang="en-US" sz="1750" dirty="0"/>
          </a:p>
        </p:txBody>
      </p:sp>
      <p:sp>
        <p:nvSpPr>
          <p:cNvPr id="15" name="Text 12"/>
          <p:cNvSpPr/>
          <p:nvPr/>
        </p:nvSpPr>
        <p:spPr>
          <a:xfrm>
            <a:off x="812006" y="6980039"/>
            <a:ext cx="7519988" cy="572214"/>
          </a:xfrm>
          <a:prstGeom prst="rect">
            <a:avLst/>
          </a:prstGeom>
          <a:noFill/>
          <a:ln/>
        </p:spPr>
        <p:txBody>
          <a:bodyPr wrap="square" lIns="0" tIns="0" rIns="0" bIns="0" rtlCol="0" anchor="t"/>
          <a:lstStyle/>
          <a:p>
            <a:pPr marL="0" indent="0">
              <a:lnSpc>
                <a:spcPts val="2250"/>
              </a:lnSpc>
              <a:buNone/>
            </a:pPr>
            <a:r>
              <a:rPr lang="en-US" sz="1400" dirty="0">
                <a:solidFill>
                  <a:srgbClr val="443728"/>
                </a:solidFill>
                <a:latin typeface="Open Sans" pitchFamily="34" charset="0"/>
                <a:ea typeface="Open Sans" pitchFamily="34" charset="-122"/>
                <a:cs typeface="Open Sans" pitchFamily="34" charset="-120"/>
              </a:rPr>
              <a:t>A similarity measure that calculates the ratio of intersection to union of two sets, commonly used for categorical data.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161F1B6-DEC9-4C70-98B4-98E69B739039}"/>
              </a:ext>
            </a:extLst>
          </p:cNvPr>
          <p:cNvPicPr>
            <a:picLocks noChangeAspect="1"/>
          </p:cNvPicPr>
          <p:nvPr/>
        </p:nvPicPr>
        <p:blipFill>
          <a:blip r:embed="rId2"/>
          <a:stretch>
            <a:fillRect/>
          </a:stretch>
        </p:blipFill>
        <p:spPr>
          <a:xfrm>
            <a:off x="14843760" y="180052"/>
            <a:ext cx="4450564" cy="7287187"/>
          </a:xfrm>
          <a:prstGeom prst="rect">
            <a:avLst/>
          </a:prstGeom>
        </p:spPr>
      </p:pic>
      <p:pic>
        <p:nvPicPr>
          <p:cNvPr id="9" name="Picture 8">
            <a:extLst>
              <a:ext uri="{FF2B5EF4-FFF2-40B4-BE49-F238E27FC236}">
                <a16:creationId xmlns:a16="http://schemas.microsoft.com/office/drawing/2014/main" id="{3CAC0821-8063-B0B9-035B-63CC4CFCD6C4}"/>
              </a:ext>
            </a:extLst>
          </p:cNvPr>
          <p:cNvPicPr>
            <a:picLocks noChangeAspect="1"/>
          </p:cNvPicPr>
          <p:nvPr/>
        </p:nvPicPr>
        <p:blipFill>
          <a:blip r:embed="rId3"/>
          <a:stretch>
            <a:fillRect/>
          </a:stretch>
        </p:blipFill>
        <p:spPr>
          <a:xfrm>
            <a:off x="9387356" y="845382"/>
            <a:ext cx="5029684" cy="7384218"/>
          </a:xfrm>
          <a:prstGeom prst="rect">
            <a:avLst/>
          </a:prstGeom>
        </p:spPr>
      </p:pic>
      <p:sp>
        <p:nvSpPr>
          <p:cNvPr id="10" name="TextBox 9">
            <a:extLst>
              <a:ext uri="{FF2B5EF4-FFF2-40B4-BE49-F238E27FC236}">
                <a16:creationId xmlns:a16="http://schemas.microsoft.com/office/drawing/2014/main" id="{FF76AC12-A4B3-A19F-B0B3-B4CC2D5F0B2B}"/>
              </a:ext>
            </a:extLst>
          </p:cNvPr>
          <p:cNvSpPr txBox="1"/>
          <p:nvPr/>
        </p:nvSpPr>
        <p:spPr>
          <a:xfrm>
            <a:off x="6537960" y="271492"/>
            <a:ext cx="7879080" cy="584775"/>
          </a:xfrm>
          <a:prstGeom prst="rect">
            <a:avLst/>
          </a:prstGeom>
          <a:noFill/>
        </p:spPr>
        <p:txBody>
          <a:bodyPr wrap="square" rtlCol="0">
            <a:spAutoFit/>
          </a:bodyPr>
          <a:lstStyle/>
          <a:p>
            <a:r>
              <a:rPr lang="en-GB" sz="3200" b="1" dirty="0">
                <a:latin typeface="Crimson Pro Bold"/>
              </a:rPr>
              <a:t>DATA SET INFORMATION AND NULL VALUES</a:t>
            </a:r>
            <a:endParaRPr lang="en-IN" sz="3200" b="1" dirty="0">
              <a:latin typeface="Crimson Pro Bold"/>
            </a:endParaRPr>
          </a:p>
        </p:txBody>
      </p:sp>
      <p:sp>
        <p:nvSpPr>
          <p:cNvPr id="11" name="TextBox 10">
            <a:extLst>
              <a:ext uri="{FF2B5EF4-FFF2-40B4-BE49-F238E27FC236}">
                <a16:creationId xmlns:a16="http://schemas.microsoft.com/office/drawing/2014/main" id="{33A8AE3F-A2CD-D74F-8D45-8AF4B6F0C293}"/>
              </a:ext>
            </a:extLst>
          </p:cNvPr>
          <p:cNvSpPr txBox="1"/>
          <p:nvPr/>
        </p:nvSpPr>
        <p:spPr>
          <a:xfrm>
            <a:off x="502920" y="1127760"/>
            <a:ext cx="7025640" cy="5201424"/>
          </a:xfrm>
          <a:prstGeom prst="rect">
            <a:avLst/>
          </a:prstGeom>
          <a:noFill/>
        </p:spPr>
        <p:txBody>
          <a:bodyPr wrap="square" rtlCol="0">
            <a:spAutoFit/>
          </a:bodyPr>
          <a:lstStyle/>
          <a:p>
            <a:r>
              <a:rPr lang="en-GB" sz="2800" b="1" u="sng" dirty="0"/>
              <a:t>Dataset Structure</a:t>
            </a:r>
          </a:p>
          <a:p>
            <a:pPr>
              <a:buFont typeface="Arial" panose="020B0604020202020204" pitchFamily="34" charset="0"/>
              <a:buChar char="•"/>
            </a:pPr>
            <a:r>
              <a:rPr lang="en-GB" sz="2000" b="1" dirty="0"/>
              <a:t>Number of Rows:</a:t>
            </a:r>
            <a:r>
              <a:rPr lang="en-GB" sz="2000" dirty="0"/>
              <a:t> 2704</a:t>
            </a:r>
          </a:p>
          <a:p>
            <a:pPr>
              <a:buFont typeface="Arial" panose="020B0604020202020204" pitchFamily="34" charset="0"/>
              <a:buChar char="•"/>
            </a:pPr>
            <a:r>
              <a:rPr lang="en-GB" sz="2000" b="1" dirty="0"/>
              <a:t>Number of Columns:</a:t>
            </a:r>
            <a:r>
              <a:rPr lang="en-GB" sz="2000" dirty="0"/>
              <a:t> 25</a:t>
            </a:r>
          </a:p>
          <a:p>
            <a:pPr>
              <a:buFont typeface="Arial" panose="020B0604020202020204" pitchFamily="34" charset="0"/>
              <a:buChar char="•"/>
            </a:pPr>
            <a:r>
              <a:rPr lang="en-GB" sz="2000" b="1" dirty="0"/>
              <a:t>Data Type:</a:t>
            </a:r>
            <a:r>
              <a:rPr lang="en-GB" sz="2000" dirty="0"/>
              <a:t> Mostly numerical</a:t>
            </a:r>
          </a:p>
          <a:p>
            <a:endParaRPr lang="en-IN" dirty="0"/>
          </a:p>
          <a:p>
            <a:r>
              <a:rPr lang="en-GB" sz="2800" b="1" u="sng" dirty="0"/>
              <a:t>Key Features</a:t>
            </a:r>
          </a:p>
          <a:p>
            <a:r>
              <a:rPr lang="en-GB" sz="2000" dirty="0"/>
              <a:t>Some of the important columns in the dataset include:</a:t>
            </a:r>
            <a:br>
              <a:rPr lang="en-GB" sz="2000" dirty="0"/>
            </a:br>
            <a:r>
              <a:rPr lang="en-GB" sz="2000" dirty="0"/>
              <a:t>✅ </a:t>
            </a:r>
            <a:r>
              <a:rPr lang="en-GB" sz="2000" b="1" dirty="0"/>
              <a:t>Birth Rate</a:t>
            </a:r>
            <a:r>
              <a:rPr lang="en-GB" sz="2000" dirty="0"/>
              <a:t> – Measures the number of births per 1,000 people.</a:t>
            </a:r>
            <a:br>
              <a:rPr lang="en-GB" sz="2000" dirty="0"/>
            </a:br>
            <a:r>
              <a:rPr lang="en-GB" sz="2000" dirty="0"/>
              <a:t>✅ </a:t>
            </a:r>
            <a:r>
              <a:rPr lang="en-GB" sz="2000" b="1" dirty="0"/>
              <a:t>CO2 Emissions</a:t>
            </a:r>
            <a:r>
              <a:rPr lang="en-GB" sz="2000" dirty="0"/>
              <a:t> – Represents carbon dioxide emissions per capita.</a:t>
            </a:r>
            <a:br>
              <a:rPr lang="en-GB" sz="2000" dirty="0"/>
            </a:br>
            <a:r>
              <a:rPr lang="en-GB" sz="2000" dirty="0"/>
              <a:t>✅ </a:t>
            </a:r>
            <a:r>
              <a:rPr lang="en-GB" sz="2000" b="1" dirty="0"/>
              <a:t>GDP</a:t>
            </a:r>
            <a:r>
              <a:rPr lang="en-GB" sz="2000" dirty="0"/>
              <a:t> – Gross Domestic Product of the country.</a:t>
            </a:r>
            <a:br>
              <a:rPr lang="en-GB" sz="2000" dirty="0"/>
            </a:br>
            <a:r>
              <a:rPr lang="en-GB" sz="2000" dirty="0"/>
              <a:t>✅ </a:t>
            </a:r>
            <a:r>
              <a:rPr lang="en-GB" sz="2000" b="1" dirty="0"/>
              <a:t>Energy Usage</a:t>
            </a:r>
            <a:r>
              <a:rPr lang="en-GB" sz="2000" dirty="0"/>
              <a:t> – Measures per capita energy consumption.</a:t>
            </a:r>
            <a:br>
              <a:rPr lang="en-GB" sz="2000" dirty="0"/>
            </a:br>
            <a:r>
              <a:rPr lang="en-GB" sz="2000" dirty="0"/>
              <a:t>✅ </a:t>
            </a:r>
            <a:r>
              <a:rPr lang="en-GB" sz="2000" b="1" dirty="0"/>
              <a:t>Internet Usage</a:t>
            </a:r>
            <a:r>
              <a:rPr lang="en-GB" sz="2000" dirty="0"/>
              <a:t> – Percentage of people using the internet.</a:t>
            </a:r>
            <a:br>
              <a:rPr lang="en-GB" sz="2000" dirty="0"/>
            </a:br>
            <a:r>
              <a:rPr lang="en-GB" sz="2000" dirty="0"/>
              <a:t>✅ </a:t>
            </a:r>
            <a:r>
              <a:rPr lang="en-GB" sz="2000" b="1" dirty="0"/>
              <a:t>Life Expectancy (Male &amp; Female)</a:t>
            </a:r>
            <a:r>
              <a:rPr lang="en-GB" sz="2000" dirty="0"/>
              <a:t> – Average life span by gender.</a:t>
            </a:r>
          </a:p>
          <a:p>
            <a:endParaRPr lang="en-IN" dirty="0"/>
          </a:p>
        </p:txBody>
      </p:sp>
    </p:spTree>
    <p:extLst>
      <p:ext uri="{BB962C8B-B14F-4D97-AF65-F5344CB8AC3E}">
        <p14:creationId xmlns:p14="http://schemas.microsoft.com/office/powerpoint/2010/main" val="10138966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897B1-497E-4178-9918-158280A427B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F56692F-3AA0-EA0F-56D9-B094522DB656}"/>
              </a:ext>
            </a:extLst>
          </p:cNvPr>
          <p:cNvPicPr>
            <a:picLocks noChangeAspect="1"/>
          </p:cNvPicPr>
          <p:nvPr/>
        </p:nvPicPr>
        <p:blipFill>
          <a:blip r:embed="rId2"/>
          <a:stretch>
            <a:fillRect/>
          </a:stretch>
        </p:blipFill>
        <p:spPr>
          <a:xfrm>
            <a:off x="6050038" y="942413"/>
            <a:ext cx="4450564" cy="7287187"/>
          </a:xfrm>
          <a:prstGeom prst="rect">
            <a:avLst/>
          </a:prstGeom>
        </p:spPr>
      </p:pic>
      <p:pic>
        <p:nvPicPr>
          <p:cNvPr id="9" name="Picture 8">
            <a:extLst>
              <a:ext uri="{FF2B5EF4-FFF2-40B4-BE49-F238E27FC236}">
                <a16:creationId xmlns:a16="http://schemas.microsoft.com/office/drawing/2014/main" id="{EE88A102-20FF-7858-0923-BA6912B16C42}"/>
              </a:ext>
            </a:extLst>
          </p:cNvPr>
          <p:cNvPicPr>
            <a:picLocks noChangeAspect="1"/>
          </p:cNvPicPr>
          <p:nvPr/>
        </p:nvPicPr>
        <p:blipFill>
          <a:blip r:embed="rId3"/>
          <a:stretch>
            <a:fillRect/>
          </a:stretch>
        </p:blipFill>
        <p:spPr>
          <a:xfrm>
            <a:off x="532916" y="845382"/>
            <a:ext cx="5029684" cy="7384218"/>
          </a:xfrm>
          <a:prstGeom prst="rect">
            <a:avLst/>
          </a:prstGeom>
        </p:spPr>
      </p:pic>
      <p:sp>
        <p:nvSpPr>
          <p:cNvPr id="10" name="TextBox 9">
            <a:extLst>
              <a:ext uri="{FF2B5EF4-FFF2-40B4-BE49-F238E27FC236}">
                <a16:creationId xmlns:a16="http://schemas.microsoft.com/office/drawing/2014/main" id="{27648F5C-7503-8DCA-93DF-D37CE6DA5F25}"/>
              </a:ext>
            </a:extLst>
          </p:cNvPr>
          <p:cNvSpPr txBox="1"/>
          <p:nvPr/>
        </p:nvSpPr>
        <p:spPr>
          <a:xfrm>
            <a:off x="396240" y="278674"/>
            <a:ext cx="7879080" cy="584775"/>
          </a:xfrm>
          <a:prstGeom prst="rect">
            <a:avLst/>
          </a:prstGeom>
          <a:noFill/>
        </p:spPr>
        <p:txBody>
          <a:bodyPr wrap="square" rtlCol="0">
            <a:spAutoFit/>
          </a:bodyPr>
          <a:lstStyle/>
          <a:p>
            <a:r>
              <a:rPr lang="en-GB" sz="3200" b="1" dirty="0">
                <a:latin typeface="Crimson Pro Bold"/>
              </a:rPr>
              <a:t>DATA SET INFORMATION AND NULL VALUES</a:t>
            </a:r>
            <a:endParaRPr lang="en-IN" sz="3200" b="1" dirty="0">
              <a:latin typeface="Crimson Pro Bold"/>
            </a:endParaRPr>
          </a:p>
        </p:txBody>
      </p:sp>
      <p:sp>
        <p:nvSpPr>
          <p:cNvPr id="2" name="TextBox 1">
            <a:extLst>
              <a:ext uri="{FF2B5EF4-FFF2-40B4-BE49-F238E27FC236}">
                <a16:creationId xmlns:a16="http://schemas.microsoft.com/office/drawing/2014/main" id="{90AE444F-535D-E383-A1A8-157DF595881A}"/>
              </a:ext>
            </a:extLst>
          </p:cNvPr>
          <p:cNvSpPr txBox="1"/>
          <p:nvPr/>
        </p:nvSpPr>
        <p:spPr>
          <a:xfrm>
            <a:off x="10500602" y="1382930"/>
            <a:ext cx="3779278" cy="5416868"/>
          </a:xfrm>
          <a:prstGeom prst="rect">
            <a:avLst/>
          </a:prstGeom>
          <a:noFill/>
        </p:spPr>
        <p:txBody>
          <a:bodyPr wrap="square" rtlCol="0">
            <a:spAutoFit/>
          </a:bodyPr>
          <a:lstStyle/>
          <a:p>
            <a:r>
              <a:rPr lang="en-GB" sz="2800" b="1" u="sng" dirty="0"/>
              <a:t>Handling Missing Values</a:t>
            </a:r>
          </a:p>
          <a:p>
            <a:pPr>
              <a:buFont typeface="Arial" panose="020B0604020202020204" pitchFamily="34" charset="0"/>
              <a:buChar char="•"/>
            </a:pPr>
            <a:r>
              <a:rPr lang="en-GB" sz="2000" dirty="0"/>
              <a:t>We applied imputation methods like:</a:t>
            </a:r>
          </a:p>
          <a:p>
            <a:pPr marL="742950" lvl="1" indent="-285750">
              <a:buFont typeface="Arial" panose="020B0604020202020204" pitchFamily="34" charset="0"/>
              <a:buChar char="•"/>
            </a:pPr>
            <a:r>
              <a:rPr lang="en-GB" sz="2000" dirty="0"/>
              <a:t>Mean/Median Imputation for numerical features.</a:t>
            </a:r>
          </a:p>
          <a:p>
            <a:pPr marL="742950" lvl="1" indent="-285750">
              <a:buFont typeface="Arial" panose="020B0604020202020204" pitchFamily="34" charset="0"/>
              <a:buChar char="•"/>
            </a:pPr>
            <a:r>
              <a:rPr lang="en-GB" sz="2000" dirty="0"/>
              <a:t>Dropping rows where missing data is minimal.</a:t>
            </a:r>
          </a:p>
          <a:p>
            <a:pPr>
              <a:buFont typeface="Arial" panose="020B0604020202020204" pitchFamily="34" charset="0"/>
              <a:buChar char="•"/>
            </a:pPr>
            <a:r>
              <a:rPr lang="en-GB" sz="2000" dirty="0"/>
              <a:t>Ensured that missing values do not impact clustering performance.</a:t>
            </a:r>
          </a:p>
          <a:p>
            <a:r>
              <a:rPr lang="en-GB" sz="2000" dirty="0"/>
              <a:t>This structured dataset allows us to apply K-Means Clustering effectively for analysis and visualization. 🚀</a:t>
            </a:r>
          </a:p>
          <a:p>
            <a:r>
              <a:rPr lang="en-GB" sz="2000" dirty="0"/>
              <a:t>Would you like any specific details added?</a:t>
            </a:r>
          </a:p>
          <a:p>
            <a:endParaRPr lang="en-IN" dirty="0"/>
          </a:p>
        </p:txBody>
      </p:sp>
    </p:spTree>
    <p:extLst>
      <p:ext uri="{BB962C8B-B14F-4D97-AF65-F5344CB8AC3E}">
        <p14:creationId xmlns:p14="http://schemas.microsoft.com/office/powerpoint/2010/main" val="816041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636DD8-0C3F-3B3E-E0DE-114261EF553A}"/>
              </a:ext>
            </a:extLst>
          </p:cNvPr>
          <p:cNvSpPr txBox="1"/>
          <p:nvPr/>
        </p:nvSpPr>
        <p:spPr>
          <a:xfrm>
            <a:off x="0" y="213360"/>
            <a:ext cx="14279880" cy="769441"/>
          </a:xfrm>
          <a:prstGeom prst="rect">
            <a:avLst/>
          </a:prstGeom>
          <a:noFill/>
        </p:spPr>
        <p:txBody>
          <a:bodyPr wrap="square" rtlCol="0">
            <a:spAutoFit/>
          </a:bodyPr>
          <a:lstStyle/>
          <a:p>
            <a:r>
              <a:rPr lang="en-GB" sz="4400" b="1" u="sng" dirty="0">
                <a:latin typeface="Crimson Pro Bold"/>
              </a:rPr>
              <a:t>Histogram &amp; Box Plot – Feature Distributions</a:t>
            </a:r>
            <a:endParaRPr lang="en-IN" sz="4400" b="1" u="sng" dirty="0">
              <a:latin typeface="Crimson Pro Bold"/>
            </a:endParaRPr>
          </a:p>
        </p:txBody>
      </p:sp>
      <p:sp>
        <p:nvSpPr>
          <p:cNvPr id="6" name="TextBox 5">
            <a:extLst>
              <a:ext uri="{FF2B5EF4-FFF2-40B4-BE49-F238E27FC236}">
                <a16:creationId xmlns:a16="http://schemas.microsoft.com/office/drawing/2014/main" id="{36639C08-15BC-818D-A5F6-9BC3F1D9B8E1}"/>
              </a:ext>
            </a:extLst>
          </p:cNvPr>
          <p:cNvSpPr txBox="1"/>
          <p:nvPr/>
        </p:nvSpPr>
        <p:spPr>
          <a:xfrm>
            <a:off x="320040" y="1498760"/>
            <a:ext cx="4145280" cy="3447098"/>
          </a:xfrm>
          <a:prstGeom prst="rect">
            <a:avLst/>
          </a:prstGeom>
          <a:noFill/>
        </p:spPr>
        <p:txBody>
          <a:bodyPr wrap="square" rtlCol="0">
            <a:spAutoFit/>
          </a:bodyPr>
          <a:lstStyle/>
          <a:p>
            <a:r>
              <a:rPr lang="en-GB" dirty="0"/>
              <a:t>📌 </a:t>
            </a:r>
            <a:r>
              <a:rPr lang="en-GB" sz="3200" b="1" dirty="0"/>
              <a:t>Histogram:</a:t>
            </a:r>
            <a:endParaRPr lang="en-GB" sz="3200" dirty="0"/>
          </a:p>
          <a:p>
            <a:pPr>
              <a:buFont typeface="Arial" panose="020B0604020202020204" pitchFamily="34" charset="0"/>
              <a:buChar char="•"/>
            </a:pPr>
            <a:r>
              <a:rPr lang="en-GB" sz="2400" dirty="0"/>
              <a:t>Used to visualize the distribution of numerical features.</a:t>
            </a:r>
          </a:p>
          <a:p>
            <a:pPr>
              <a:buFont typeface="Arial" panose="020B0604020202020204" pitchFamily="34" charset="0"/>
              <a:buChar char="•"/>
            </a:pPr>
            <a:r>
              <a:rPr lang="en-GB" sz="2400" dirty="0"/>
              <a:t>Example: CO2 Emissions, GDP, and Internet Usage show varying spread across different regions</a:t>
            </a:r>
          </a:p>
          <a:p>
            <a:endParaRPr lang="en-IN" dirty="0"/>
          </a:p>
        </p:txBody>
      </p:sp>
      <p:pic>
        <p:nvPicPr>
          <p:cNvPr id="1028" name="Picture 4">
            <a:extLst>
              <a:ext uri="{FF2B5EF4-FFF2-40B4-BE49-F238E27FC236}">
                <a16:creationId xmlns:a16="http://schemas.microsoft.com/office/drawing/2014/main" id="{9FB50E1A-7C5A-5F24-E1FA-2F65487914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5321" y="831058"/>
            <a:ext cx="10165080" cy="739854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5BBC54A6-2826-DCC6-36F2-ED781F2FD8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08729" y="598080"/>
            <a:ext cx="9644063" cy="69635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9D87FE8-674A-EFA8-A66B-69204B71286F}"/>
              </a:ext>
            </a:extLst>
          </p:cNvPr>
          <p:cNvSpPr txBox="1"/>
          <p:nvPr/>
        </p:nvSpPr>
        <p:spPr>
          <a:xfrm>
            <a:off x="15938646" y="3827328"/>
            <a:ext cx="4145280" cy="5355312"/>
          </a:xfrm>
          <a:prstGeom prst="rect">
            <a:avLst/>
          </a:prstGeom>
          <a:noFill/>
        </p:spPr>
        <p:txBody>
          <a:bodyPr wrap="square" rtlCol="0">
            <a:spAutoFit/>
          </a:bodyPr>
          <a:lstStyle/>
          <a:p>
            <a:r>
              <a:rPr lang="en-GB" dirty="0"/>
              <a:t>📌 </a:t>
            </a:r>
            <a:r>
              <a:rPr lang="en-GB" sz="4400" b="1" dirty="0"/>
              <a:t>BOXPLOT:</a:t>
            </a:r>
          </a:p>
          <a:p>
            <a:pPr>
              <a:buFont typeface="Arial" panose="020B0604020202020204" pitchFamily="34" charset="0"/>
              <a:buChar char="•"/>
            </a:pPr>
            <a:r>
              <a:rPr lang="en-GB" sz="3200" dirty="0"/>
              <a:t>Helps detect outliers and variability in features.</a:t>
            </a:r>
          </a:p>
          <a:p>
            <a:pPr>
              <a:buFont typeface="Arial" panose="020B0604020202020204" pitchFamily="34" charset="0"/>
              <a:buChar char="•"/>
            </a:pPr>
            <a:r>
              <a:rPr lang="en-GB" sz="3200" dirty="0"/>
              <a:t>Example: Life Expectancy has a narrow IQR, while Energy Usage shows high variation.</a:t>
            </a:r>
          </a:p>
          <a:p>
            <a:pPr>
              <a:buFont typeface="Arial" panose="020B0604020202020204" pitchFamily="34" charset="0"/>
              <a:buChar char="•"/>
            </a:pPr>
            <a:endParaRPr lang="en-GB" sz="2400" dirty="0"/>
          </a:p>
          <a:p>
            <a:endParaRPr lang="en-IN" dirty="0"/>
          </a:p>
        </p:txBody>
      </p:sp>
    </p:spTree>
    <p:extLst>
      <p:ext uri="{BB962C8B-B14F-4D97-AF65-F5344CB8AC3E}">
        <p14:creationId xmlns:p14="http://schemas.microsoft.com/office/powerpoint/2010/main" val="16134505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8885D-C913-8BA8-4D33-E5A6A142FF6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8A26A5A-6351-A2AB-A6BA-43CE7C70F819}"/>
              </a:ext>
            </a:extLst>
          </p:cNvPr>
          <p:cNvSpPr txBox="1"/>
          <p:nvPr/>
        </p:nvSpPr>
        <p:spPr>
          <a:xfrm>
            <a:off x="4243754" y="228265"/>
            <a:ext cx="14279880" cy="769441"/>
          </a:xfrm>
          <a:prstGeom prst="rect">
            <a:avLst/>
          </a:prstGeom>
          <a:noFill/>
        </p:spPr>
        <p:txBody>
          <a:bodyPr wrap="square" rtlCol="0">
            <a:spAutoFit/>
          </a:bodyPr>
          <a:lstStyle/>
          <a:p>
            <a:r>
              <a:rPr lang="en-GB" sz="4400" b="1" u="sng" dirty="0">
                <a:latin typeface="Crimson Pro Bold"/>
              </a:rPr>
              <a:t>Histogram &amp; Box Plot – Feature Distributions</a:t>
            </a:r>
            <a:endParaRPr lang="en-IN" sz="4400" b="1" u="sng" dirty="0">
              <a:latin typeface="Crimson Pro Bold"/>
            </a:endParaRPr>
          </a:p>
        </p:txBody>
      </p:sp>
      <p:sp>
        <p:nvSpPr>
          <p:cNvPr id="6" name="TextBox 5">
            <a:extLst>
              <a:ext uri="{FF2B5EF4-FFF2-40B4-BE49-F238E27FC236}">
                <a16:creationId xmlns:a16="http://schemas.microsoft.com/office/drawing/2014/main" id="{25A56667-8480-49C2-35F5-A50BF9842616}"/>
              </a:ext>
            </a:extLst>
          </p:cNvPr>
          <p:cNvSpPr txBox="1"/>
          <p:nvPr/>
        </p:nvSpPr>
        <p:spPr>
          <a:xfrm>
            <a:off x="10665606" y="1922328"/>
            <a:ext cx="4145280" cy="5355312"/>
          </a:xfrm>
          <a:prstGeom prst="rect">
            <a:avLst/>
          </a:prstGeom>
          <a:noFill/>
        </p:spPr>
        <p:txBody>
          <a:bodyPr wrap="square" rtlCol="0">
            <a:spAutoFit/>
          </a:bodyPr>
          <a:lstStyle/>
          <a:p>
            <a:r>
              <a:rPr lang="en-GB" dirty="0"/>
              <a:t>📌 </a:t>
            </a:r>
            <a:r>
              <a:rPr lang="en-GB" sz="4400" b="1" dirty="0"/>
              <a:t>BOXPLOT:</a:t>
            </a:r>
          </a:p>
          <a:p>
            <a:pPr>
              <a:buFont typeface="Arial" panose="020B0604020202020204" pitchFamily="34" charset="0"/>
              <a:buChar char="•"/>
            </a:pPr>
            <a:r>
              <a:rPr lang="en-GB" sz="3200" dirty="0"/>
              <a:t>Helps detect outliers and variability in features.</a:t>
            </a:r>
          </a:p>
          <a:p>
            <a:pPr>
              <a:buFont typeface="Arial" panose="020B0604020202020204" pitchFamily="34" charset="0"/>
              <a:buChar char="•"/>
            </a:pPr>
            <a:r>
              <a:rPr lang="en-GB" sz="3200" dirty="0"/>
              <a:t>Example: Life Expectancy has a narrow IQR, while Energy Usage shows high variation.</a:t>
            </a:r>
          </a:p>
          <a:p>
            <a:pPr>
              <a:buFont typeface="Arial" panose="020B0604020202020204" pitchFamily="34" charset="0"/>
              <a:buChar char="•"/>
            </a:pPr>
            <a:endParaRPr lang="en-GB" sz="2400" dirty="0"/>
          </a:p>
          <a:p>
            <a:endParaRPr lang="en-IN" dirty="0"/>
          </a:p>
        </p:txBody>
      </p:sp>
      <p:pic>
        <p:nvPicPr>
          <p:cNvPr id="1028" name="Picture 4">
            <a:extLst>
              <a:ext uri="{FF2B5EF4-FFF2-40B4-BE49-F238E27FC236}">
                <a16:creationId xmlns:a16="http://schemas.microsoft.com/office/drawing/2014/main" id="{0642B8D5-E012-8589-31FE-E505A9EE93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0926" y="1138236"/>
            <a:ext cx="10165080" cy="626030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37053EF8-C5B7-4109-9410-5EC1D18959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667" y="1037827"/>
            <a:ext cx="9644063" cy="6963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5936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633323-278A-36A0-1893-35629DBCCE37}"/>
              </a:ext>
            </a:extLst>
          </p:cNvPr>
          <p:cNvSpPr txBox="1"/>
          <p:nvPr/>
        </p:nvSpPr>
        <p:spPr>
          <a:xfrm>
            <a:off x="239894" y="228171"/>
            <a:ext cx="11112047" cy="2062103"/>
          </a:xfrm>
          <a:prstGeom prst="rect">
            <a:avLst/>
          </a:prstGeom>
          <a:noFill/>
        </p:spPr>
        <p:txBody>
          <a:bodyPr wrap="square" rtlCol="0">
            <a:spAutoFit/>
          </a:bodyPr>
          <a:lstStyle/>
          <a:p>
            <a:r>
              <a:rPr lang="en-GB" sz="4400" b="1" dirty="0"/>
              <a:t>Scatter Plot – Relationship Between Variables</a:t>
            </a:r>
          </a:p>
          <a:p>
            <a:r>
              <a:rPr lang="en-GB" sz="2800" dirty="0"/>
              <a:t>📌 </a:t>
            </a:r>
            <a:r>
              <a:rPr lang="en-GB" sz="2800" b="1" dirty="0"/>
              <a:t>Purpose:</a:t>
            </a:r>
            <a:endParaRPr lang="en-GB" sz="2800" dirty="0"/>
          </a:p>
          <a:p>
            <a:pPr>
              <a:buFont typeface="Arial" panose="020B0604020202020204" pitchFamily="34" charset="0"/>
              <a:buChar char="•"/>
            </a:pPr>
            <a:r>
              <a:rPr lang="en-GB" sz="2800" dirty="0"/>
              <a:t>Shows how two variables relate to each other.</a:t>
            </a:r>
          </a:p>
          <a:p>
            <a:pPr>
              <a:buFont typeface="Arial" panose="020B0604020202020204" pitchFamily="34" charset="0"/>
              <a:buChar char="•"/>
            </a:pPr>
            <a:r>
              <a:rPr lang="en-GB" sz="2800" dirty="0"/>
              <a:t>Helps identify </a:t>
            </a:r>
            <a:r>
              <a:rPr lang="en-GB" sz="2800" b="1" dirty="0"/>
              <a:t>clusters and trends</a:t>
            </a:r>
            <a:r>
              <a:rPr lang="en-GB" sz="2800" dirty="0"/>
              <a:t> in the data</a:t>
            </a:r>
            <a:r>
              <a:rPr lang="en-GB" dirty="0"/>
              <a:t>.</a:t>
            </a:r>
          </a:p>
        </p:txBody>
      </p:sp>
      <p:pic>
        <p:nvPicPr>
          <p:cNvPr id="3074" name="Picture 2">
            <a:extLst>
              <a:ext uri="{FF2B5EF4-FFF2-40B4-BE49-F238E27FC236}">
                <a16:creationId xmlns:a16="http://schemas.microsoft.com/office/drawing/2014/main" id="{1E00DBD9-A9D3-2541-3060-36FB02538B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6995" y="2290274"/>
            <a:ext cx="11786839" cy="587606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7">
            <a:extLst>
              <a:ext uri="{FF2B5EF4-FFF2-40B4-BE49-F238E27FC236}">
                <a16:creationId xmlns:a16="http://schemas.microsoft.com/office/drawing/2014/main" id="{06CC59B2-105C-41DD-D407-B4CCBF25FE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65122" y="1681865"/>
            <a:ext cx="11250295" cy="58162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BBC8ED4-FD1C-895A-E575-CF5E16A5C784}"/>
              </a:ext>
            </a:extLst>
          </p:cNvPr>
          <p:cNvSpPr txBox="1"/>
          <p:nvPr/>
        </p:nvSpPr>
        <p:spPr>
          <a:xfrm>
            <a:off x="14306414" y="-2941749"/>
            <a:ext cx="15182243" cy="2185214"/>
          </a:xfrm>
          <a:prstGeom prst="rect">
            <a:avLst/>
          </a:prstGeom>
          <a:noFill/>
        </p:spPr>
        <p:txBody>
          <a:bodyPr wrap="square" rtlCol="0">
            <a:spAutoFit/>
          </a:bodyPr>
          <a:lstStyle/>
          <a:p>
            <a:r>
              <a:rPr lang="en-GB" sz="4400" b="1" dirty="0"/>
              <a:t>Correlation Heatmap – Understanding Feature Relationships</a:t>
            </a:r>
          </a:p>
          <a:p>
            <a:r>
              <a:rPr lang="en-GB" sz="4400" dirty="0"/>
              <a:t>📌 </a:t>
            </a:r>
            <a:r>
              <a:rPr lang="en-GB" sz="4400" b="1" dirty="0"/>
              <a:t>Purpose:</a:t>
            </a:r>
            <a:endParaRPr lang="en-GB" sz="4400" dirty="0"/>
          </a:p>
          <a:p>
            <a:pPr>
              <a:buFont typeface="Arial" panose="020B0604020202020204" pitchFamily="34" charset="0"/>
              <a:buChar char="•"/>
            </a:pPr>
            <a:r>
              <a:rPr lang="en-GB" sz="2400" dirty="0"/>
              <a:t>Displays how strongly numerical variables are related using </a:t>
            </a:r>
            <a:r>
              <a:rPr lang="en-GB" sz="2400" dirty="0" err="1"/>
              <a:t>color</a:t>
            </a:r>
            <a:r>
              <a:rPr lang="en-GB" sz="2400" dirty="0"/>
              <a:t> intensity.</a:t>
            </a:r>
          </a:p>
          <a:p>
            <a:pPr>
              <a:buFont typeface="Arial" panose="020B0604020202020204" pitchFamily="34" charset="0"/>
              <a:buChar char="•"/>
            </a:pPr>
            <a:r>
              <a:rPr lang="en-GB" sz="2400" dirty="0"/>
              <a:t>Helps in feature selection for clustering.</a:t>
            </a:r>
          </a:p>
        </p:txBody>
      </p:sp>
    </p:spTree>
    <p:extLst>
      <p:ext uri="{BB962C8B-B14F-4D97-AF65-F5344CB8AC3E}">
        <p14:creationId xmlns:p14="http://schemas.microsoft.com/office/powerpoint/2010/main" val="21051159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D8939-9DDB-6D34-C91E-76D2617C3FC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AF9A7CC-BF60-0154-EBC6-31A1A9F960EB}"/>
              </a:ext>
            </a:extLst>
          </p:cNvPr>
          <p:cNvSpPr txBox="1"/>
          <p:nvPr/>
        </p:nvSpPr>
        <p:spPr>
          <a:xfrm>
            <a:off x="239894" y="228171"/>
            <a:ext cx="15182243" cy="2185214"/>
          </a:xfrm>
          <a:prstGeom prst="rect">
            <a:avLst/>
          </a:prstGeom>
          <a:noFill/>
        </p:spPr>
        <p:txBody>
          <a:bodyPr wrap="square" rtlCol="0">
            <a:spAutoFit/>
          </a:bodyPr>
          <a:lstStyle/>
          <a:p>
            <a:r>
              <a:rPr lang="en-GB" sz="4400" b="1" dirty="0"/>
              <a:t>Correlation Heatmap – Understanding Feature Relationships</a:t>
            </a:r>
          </a:p>
          <a:p>
            <a:r>
              <a:rPr lang="en-GB" sz="4400" dirty="0"/>
              <a:t>📌 </a:t>
            </a:r>
            <a:r>
              <a:rPr lang="en-GB" sz="4400" b="1" dirty="0"/>
              <a:t>Purpose:</a:t>
            </a:r>
            <a:endParaRPr lang="en-GB" sz="4400" dirty="0"/>
          </a:p>
          <a:p>
            <a:pPr>
              <a:buFont typeface="Arial" panose="020B0604020202020204" pitchFamily="34" charset="0"/>
              <a:buChar char="•"/>
            </a:pPr>
            <a:r>
              <a:rPr lang="en-GB" sz="2400" dirty="0"/>
              <a:t>Displays how strongly numerical variables are related using </a:t>
            </a:r>
            <a:r>
              <a:rPr lang="en-GB" sz="2400" dirty="0" err="1"/>
              <a:t>color</a:t>
            </a:r>
            <a:r>
              <a:rPr lang="en-GB" sz="2400" dirty="0"/>
              <a:t> intensity.</a:t>
            </a:r>
          </a:p>
          <a:p>
            <a:pPr>
              <a:buFont typeface="Arial" panose="020B0604020202020204" pitchFamily="34" charset="0"/>
              <a:buChar char="•"/>
            </a:pPr>
            <a:r>
              <a:rPr lang="en-GB" sz="2400" dirty="0"/>
              <a:t>Helps in feature selection for clustering.</a:t>
            </a:r>
          </a:p>
        </p:txBody>
      </p:sp>
      <p:pic>
        <p:nvPicPr>
          <p:cNvPr id="3074" name="Picture 2">
            <a:extLst>
              <a:ext uri="{FF2B5EF4-FFF2-40B4-BE49-F238E27FC236}">
                <a16:creationId xmlns:a16="http://schemas.microsoft.com/office/drawing/2014/main" id="{75C3A499-9305-5F8D-4135-9BA86CA6CF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83605" y="3913810"/>
            <a:ext cx="11149354" cy="4152872"/>
          </a:xfrm>
          <a:prstGeom prst="rect">
            <a:avLst/>
          </a:prstGeom>
          <a:noFill/>
          <a:extLst>
            <a:ext uri="{909E8E84-426E-40DD-AFC4-6F175D3DCCD1}">
              <a14:hiddenFill xmlns:a14="http://schemas.microsoft.com/office/drawing/2010/main">
                <a:solidFill>
                  <a:srgbClr val="FFFFFF"/>
                </a:solidFill>
              </a14:hiddenFill>
            </a:ext>
          </a:extLst>
        </p:spPr>
      </p:pic>
      <p:pic>
        <p:nvPicPr>
          <p:cNvPr id="4103" name="Picture 7">
            <a:extLst>
              <a:ext uri="{FF2B5EF4-FFF2-40B4-BE49-F238E27FC236}">
                <a16:creationId xmlns:a16="http://schemas.microsoft.com/office/drawing/2014/main" id="{3A529FEA-B7AB-941D-1B58-11345D4D3A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 y="2413385"/>
            <a:ext cx="11250295" cy="5816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1722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82FF8CF-4D4D-B80E-5D26-2560CD81165B}"/>
              </a:ext>
            </a:extLst>
          </p:cNvPr>
          <p:cNvGrpSpPr/>
          <p:nvPr/>
        </p:nvGrpSpPr>
        <p:grpSpPr>
          <a:xfrm>
            <a:off x="0" y="-91440"/>
            <a:ext cx="14752320" cy="8488680"/>
            <a:chOff x="0" y="-91440"/>
            <a:chExt cx="14752320" cy="8488680"/>
          </a:xfrm>
        </p:grpSpPr>
        <p:sp>
          <p:nvSpPr>
            <p:cNvPr id="2" name="Rectangle 1">
              <a:extLst>
                <a:ext uri="{FF2B5EF4-FFF2-40B4-BE49-F238E27FC236}">
                  <a16:creationId xmlns:a16="http://schemas.microsoft.com/office/drawing/2014/main" id="{18746869-16A3-4BAA-826E-2CC01D6730A3}"/>
                </a:ext>
              </a:extLst>
            </p:cNvPr>
            <p:cNvSpPr/>
            <p:nvPr/>
          </p:nvSpPr>
          <p:spPr>
            <a:xfrm>
              <a:off x="0" y="-91440"/>
              <a:ext cx="6263640" cy="150876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u="sng" dirty="0">
                  <a:solidFill>
                    <a:schemeClr val="tx1"/>
                  </a:solidFill>
                  <a:latin typeface="Algerian" panose="04020705040A02060702" pitchFamily="82" charset="0"/>
                </a:rPr>
                <a:t>Technology Stack:</a:t>
              </a:r>
            </a:p>
          </p:txBody>
        </p:sp>
        <p:pic>
          <p:nvPicPr>
            <p:cNvPr id="5" name="Picture 4">
              <a:extLst>
                <a:ext uri="{FF2B5EF4-FFF2-40B4-BE49-F238E27FC236}">
                  <a16:creationId xmlns:a16="http://schemas.microsoft.com/office/drawing/2014/main" id="{046DC2E4-61C2-0D65-5482-BFA2FB9ED84E}"/>
                </a:ext>
              </a:extLst>
            </p:cNvPr>
            <p:cNvPicPr>
              <a:picLocks noChangeAspect="1"/>
            </p:cNvPicPr>
            <p:nvPr/>
          </p:nvPicPr>
          <p:blipFill>
            <a:blip r:embed="rId2"/>
            <a:stretch>
              <a:fillRect/>
            </a:stretch>
          </p:blipFill>
          <p:spPr>
            <a:xfrm>
              <a:off x="6263640" y="-91440"/>
              <a:ext cx="8488680" cy="8488680"/>
            </a:xfrm>
            <a:prstGeom prst="rect">
              <a:avLst/>
            </a:prstGeom>
          </p:spPr>
        </p:pic>
      </p:grpSp>
      <p:sp>
        <p:nvSpPr>
          <p:cNvPr id="6" name="TextBox 5">
            <a:extLst>
              <a:ext uri="{FF2B5EF4-FFF2-40B4-BE49-F238E27FC236}">
                <a16:creationId xmlns:a16="http://schemas.microsoft.com/office/drawing/2014/main" id="{6768BD9D-82DB-F90B-B779-5D5119574645}"/>
              </a:ext>
            </a:extLst>
          </p:cNvPr>
          <p:cNvSpPr txBox="1"/>
          <p:nvPr/>
        </p:nvSpPr>
        <p:spPr>
          <a:xfrm>
            <a:off x="243840" y="1301413"/>
            <a:ext cx="5775960" cy="1908215"/>
          </a:xfrm>
          <a:prstGeom prst="rect">
            <a:avLst/>
          </a:prstGeom>
          <a:noFill/>
        </p:spPr>
        <p:txBody>
          <a:bodyPr wrap="square" rtlCol="0">
            <a:spAutoFit/>
          </a:bodyPr>
          <a:lstStyle/>
          <a:p>
            <a:r>
              <a:rPr lang="en-GB" sz="2800" b="1" dirty="0"/>
              <a:t>1. Programming Language</a:t>
            </a:r>
          </a:p>
          <a:p>
            <a:r>
              <a:rPr lang="en-GB" sz="2400" dirty="0"/>
              <a:t>✅ Python – Chosen for its flexibility, ease of use, and extensive machine learning libraries.</a:t>
            </a:r>
          </a:p>
          <a:p>
            <a:endParaRPr lang="en-IN" dirty="0"/>
          </a:p>
        </p:txBody>
      </p:sp>
      <p:sp>
        <p:nvSpPr>
          <p:cNvPr id="7" name="TextBox 6">
            <a:extLst>
              <a:ext uri="{FF2B5EF4-FFF2-40B4-BE49-F238E27FC236}">
                <a16:creationId xmlns:a16="http://schemas.microsoft.com/office/drawing/2014/main" id="{0E7B2ABC-F280-1633-C2DB-4893A489DA30}"/>
              </a:ext>
            </a:extLst>
          </p:cNvPr>
          <p:cNvSpPr txBox="1"/>
          <p:nvPr/>
        </p:nvSpPr>
        <p:spPr>
          <a:xfrm>
            <a:off x="213360" y="3093720"/>
            <a:ext cx="6050280" cy="4339650"/>
          </a:xfrm>
          <a:prstGeom prst="rect">
            <a:avLst/>
          </a:prstGeom>
          <a:noFill/>
        </p:spPr>
        <p:txBody>
          <a:bodyPr wrap="square" rtlCol="0">
            <a:spAutoFit/>
          </a:bodyPr>
          <a:lstStyle/>
          <a:p>
            <a:r>
              <a:rPr lang="en-IN" sz="3200" b="1" dirty="0"/>
              <a:t>2. Libraries Used</a:t>
            </a:r>
          </a:p>
          <a:p>
            <a:r>
              <a:rPr lang="en-IN" sz="2400" dirty="0"/>
              <a:t>📌 Key Python Libraries:</a:t>
            </a:r>
            <a:br>
              <a:rPr lang="en-IN" sz="2400" dirty="0"/>
            </a:br>
            <a:r>
              <a:rPr lang="en-IN" sz="2400" dirty="0"/>
              <a:t>🔹 </a:t>
            </a:r>
            <a:r>
              <a:rPr lang="en-IN" sz="2400" dirty="0" err="1"/>
              <a:t>Streamlit</a:t>
            </a:r>
            <a:r>
              <a:rPr lang="en-IN" sz="2400" dirty="0"/>
              <a:t> – Used to build an interactive web app for real-time clustering analysis.</a:t>
            </a:r>
            <a:br>
              <a:rPr lang="en-IN" sz="2400" dirty="0"/>
            </a:br>
            <a:r>
              <a:rPr lang="en-IN" sz="2400" dirty="0"/>
              <a:t>🔹 scikit-learn – Provides the K-Means clustering algorithm and preprocessing tools.</a:t>
            </a:r>
            <a:br>
              <a:rPr lang="en-IN" sz="2400" dirty="0"/>
            </a:br>
            <a:r>
              <a:rPr lang="en-IN" sz="2400" dirty="0"/>
              <a:t>🔹 matplotlib &amp; seaborn – Used for data visualizations like histograms, scatter plots, and heatmaps.</a:t>
            </a:r>
            <a:br>
              <a:rPr lang="en-IN" sz="2400" dirty="0"/>
            </a:br>
            <a:r>
              <a:rPr lang="en-IN" sz="2400" dirty="0"/>
              <a:t>🔹 pickle – Helps in saving and loading the trained K-Means model efficiently</a:t>
            </a:r>
            <a:r>
              <a:rPr lang="en-IN" sz="2800" dirty="0"/>
              <a:t>.</a:t>
            </a:r>
          </a:p>
        </p:txBody>
      </p:sp>
    </p:spTree>
    <p:extLst>
      <p:ext uri="{BB962C8B-B14F-4D97-AF65-F5344CB8AC3E}">
        <p14:creationId xmlns:p14="http://schemas.microsoft.com/office/powerpoint/2010/main" val="4263863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87DDA7-E215-766E-E2D3-A7F0C1DB1931}"/>
              </a:ext>
            </a:extLst>
          </p:cNvPr>
          <p:cNvPicPr>
            <a:picLocks noChangeAspect="1"/>
          </p:cNvPicPr>
          <p:nvPr/>
        </p:nvPicPr>
        <p:blipFill>
          <a:blip r:embed="rId2"/>
          <a:stretch>
            <a:fillRect/>
          </a:stretch>
        </p:blipFill>
        <p:spPr>
          <a:xfrm>
            <a:off x="0" y="0"/>
            <a:ext cx="14630400" cy="8229600"/>
          </a:xfrm>
          <a:prstGeom prst="rect">
            <a:avLst/>
          </a:prstGeom>
        </p:spPr>
      </p:pic>
      <p:sp>
        <p:nvSpPr>
          <p:cNvPr id="2" name="TextBox 1">
            <a:extLst>
              <a:ext uri="{FF2B5EF4-FFF2-40B4-BE49-F238E27FC236}">
                <a16:creationId xmlns:a16="http://schemas.microsoft.com/office/drawing/2014/main" id="{3A60ADF5-8AC8-7CFA-CFE8-42CDCF1CA720}"/>
              </a:ext>
            </a:extLst>
          </p:cNvPr>
          <p:cNvSpPr txBox="1"/>
          <p:nvPr/>
        </p:nvSpPr>
        <p:spPr>
          <a:xfrm>
            <a:off x="2331720" y="243840"/>
            <a:ext cx="10515600" cy="3016210"/>
          </a:xfrm>
          <a:prstGeom prst="rect">
            <a:avLst/>
          </a:prstGeom>
          <a:noFill/>
        </p:spPr>
        <p:txBody>
          <a:bodyPr wrap="square" rtlCol="0">
            <a:spAutoFit/>
          </a:bodyPr>
          <a:lstStyle/>
          <a:p>
            <a:r>
              <a:rPr lang="en-IN" sz="4400" u="sng" dirty="0" err="1">
                <a:highlight>
                  <a:srgbClr val="C0C0C0"/>
                </a:highlight>
                <a:latin typeface="Algerian" panose="04020705040A02060702" pitchFamily="82" charset="0"/>
              </a:rPr>
              <a:t>Streamlit</a:t>
            </a:r>
            <a:r>
              <a:rPr lang="en-IN" sz="4400" u="sng" dirty="0">
                <a:highlight>
                  <a:srgbClr val="C0C0C0"/>
                </a:highlight>
                <a:latin typeface="Algerian" panose="04020705040A02060702" pitchFamily="82" charset="0"/>
              </a:rPr>
              <a:t> App Overview:</a:t>
            </a:r>
          </a:p>
          <a:p>
            <a:r>
              <a:rPr lang="en-IN" sz="3200" dirty="0">
                <a:highlight>
                  <a:srgbClr val="C0C0C0"/>
                </a:highlight>
              </a:rPr>
              <a:t>Our </a:t>
            </a:r>
            <a:r>
              <a:rPr lang="en-IN" sz="3200" dirty="0" err="1">
                <a:highlight>
                  <a:srgbClr val="C0C0C0"/>
                </a:highlight>
              </a:rPr>
              <a:t>Streamlit</a:t>
            </a:r>
            <a:r>
              <a:rPr lang="en-IN" sz="3200" dirty="0">
                <a:highlight>
                  <a:srgbClr val="C0C0C0"/>
                </a:highlight>
              </a:rPr>
              <a:t>-based app provides an interactive and user-friendly experience for clustering analysis. It allows users to input data, upload datasets, and visualize patterns dynamically.</a:t>
            </a:r>
          </a:p>
          <a:p>
            <a:endParaRPr lang="en-IN" dirty="0">
              <a:highlight>
                <a:srgbClr val="C0C0C0"/>
              </a:highlight>
            </a:endParaRPr>
          </a:p>
        </p:txBody>
      </p:sp>
    </p:spTree>
    <p:extLst>
      <p:ext uri="{BB962C8B-B14F-4D97-AF65-F5344CB8AC3E}">
        <p14:creationId xmlns:p14="http://schemas.microsoft.com/office/powerpoint/2010/main" val="18207971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EE337-D649-AE97-43B9-E69231FB9FC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B3444BF-E8A3-D0DC-2BAA-5EF7C813A924}"/>
              </a:ext>
            </a:extLst>
          </p:cNvPr>
          <p:cNvPicPr>
            <a:picLocks noChangeAspect="1"/>
          </p:cNvPicPr>
          <p:nvPr/>
        </p:nvPicPr>
        <p:blipFill>
          <a:blip r:embed="rId2"/>
          <a:srcRect l="-3626" r="78363"/>
          <a:stretch/>
        </p:blipFill>
        <p:spPr>
          <a:xfrm>
            <a:off x="-749105" y="-176982"/>
            <a:ext cx="3952382" cy="8583564"/>
          </a:xfrm>
          <a:prstGeom prst="rect">
            <a:avLst/>
          </a:prstGeom>
        </p:spPr>
      </p:pic>
      <p:sp>
        <p:nvSpPr>
          <p:cNvPr id="2" name="TextBox 1">
            <a:extLst>
              <a:ext uri="{FF2B5EF4-FFF2-40B4-BE49-F238E27FC236}">
                <a16:creationId xmlns:a16="http://schemas.microsoft.com/office/drawing/2014/main" id="{966A3119-6E70-DC2E-5398-9BCCF85A48C1}"/>
              </a:ext>
            </a:extLst>
          </p:cNvPr>
          <p:cNvSpPr txBox="1"/>
          <p:nvPr/>
        </p:nvSpPr>
        <p:spPr>
          <a:xfrm>
            <a:off x="4343400" y="243840"/>
            <a:ext cx="10515600" cy="1046440"/>
          </a:xfrm>
          <a:prstGeom prst="rect">
            <a:avLst/>
          </a:prstGeom>
          <a:noFill/>
        </p:spPr>
        <p:txBody>
          <a:bodyPr wrap="square" rtlCol="0">
            <a:spAutoFit/>
          </a:bodyPr>
          <a:lstStyle/>
          <a:p>
            <a:r>
              <a:rPr lang="en-IN" sz="4400" u="sng" dirty="0" err="1">
                <a:highlight>
                  <a:srgbClr val="C0C0C0"/>
                </a:highlight>
                <a:latin typeface="Algerian" panose="04020705040A02060702" pitchFamily="82" charset="0"/>
              </a:rPr>
              <a:t>Streamlit</a:t>
            </a:r>
            <a:r>
              <a:rPr lang="en-IN" sz="4400" u="sng" dirty="0">
                <a:highlight>
                  <a:srgbClr val="C0C0C0"/>
                </a:highlight>
                <a:latin typeface="Algerian" panose="04020705040A02060702" pitchFamily="82" charset="0"/>
              </a:rPr>
              <a:t> App Overview:</a:t>
            </a:r>
          </a:p>
          <a:p>
            <a:endParaRPr lang="en-IN" dirty="0">
              <a:highlight>
                <a:srgbClr val="C0C0C0"/>
              </a:highlight>
            </a:endParaRPr>
          </a:p>
        </p:txBody>
      </p:sp>
      <p:sp>
        <p:nvSpPr>
          <p:cNvPr id="3" name="TextBox 2">
            <a:extLst>
              <a:ext uri="{FF2B5EF4-FFF2-40B4-BE49-F238E27FC236}">
                <a16:creationId xmlns:a16="http://schemas.microsoft.com/office/drawing/2014/main" id="{55394DAE-22D0-3C8D-A717-47B5598EFB85}"/>
              </a:ext>
            </a:extLst>
          </p:cNvPr>
          <p:cNvSpPr txBox="1"/>
          <p:nvPr/>
        </p:nvSpPr>
        <p:spPr>
          <a:xfrm>
            <a:off x="4343400" y="1783080"/>
            <a:ext cx="9845040" cy="4431983"/>
          </a:xfrm>
          <a:prstGeom prst="rect">
            <a:avLst/>
          </a:prstGeom>
          <a:noFill/>
        </p:spPr>
        <p:txBody>
          <a:bodyPr wrap="square" rtlCol="0">
            <a:spAutoFit/>
          </a:bodyPr>
          <a:lstStyle/>
          <a:p>
            <a:r>
              <a:rPr lang="en-GB" sz="4000" b="1" dirty="0"/>
              <a:t>User Input Features</a:t>
            </a:r>
          </a:p>
          <a:p>
            <a:r>
              <a:rPr lang="en-GB" sz="2800" dirty="0"/>
              <a:t>📌 How it Works:</a:t>
            </a:r>
            <a:br>
              <a:rPr lang="en-GB" sz="2800" dirty="0"/>
            </a:br>
            <a:r>
              <a:rPr lang="en-GB" sz="2800" dirty="0"/>
              <a:t>🔹 Users enter 20 numerical feature values through sidebar input fields.</a:t>
            </a:r>
            <a:br>
              <a:rPr lang="en-GB" sz="2800" dirty="0"/>
            </a:br>
            <a:r>
              <a:rPr lang="en-GB" sz="2800" dirty="0"/>
              <a:t>🔹 Input fields are dynamic and support a range of values.</a:t>
            </a:r>
            <a:br>
              <a:rPr lang="en-GB" sz="2800" dirty="0"/>
            </a:br>
            <a:r>
              <a:rPr lang="en-GB" sz="2800" dirty="0"/>
              <a:t>🔹 Once entered, the model processes and predicts the cluster.</a:t>
            </a:r>
          </a:p>
          <a:p>
            <a:r>
              <a:rPr lang="en-GB" sz="2800" dirty="0"/>
              <a:t>✅ Example: A user enters values for GDP, CO2 Emissions, Internet Usage, and other features. The model </a:t>
            </a:r>
            <a:r>
              <a:rPr lang="en-GB" sz="2800" dirty="0" err="1"/>
              <a:t>analyzes</a:t>
            </a:r>
            <a:r>
              <a:rPr lang="en-GB" sz="2800" dirty="0"/>
              <a:t> patterns and assigns the data to a cluster.</a:t>
            </a:r>
          </a:p>
          <a:p>
            <a:endParaRPr lang="en-IN" dirty="0"/>
          </a:p>
        </p:txBody>
      </p:sp>
    </p:spTree>
    <p:extLst>
      <p:ext uri="{BB962C8B-B14F-4D97-AF65-F5344CB8AC3E}">
        <p14:creationId xmlns:p14="http://schemas.microsoft.com/office/powerpoint/2010/main" val="25951098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95662-3083-D84B-F261-F6D84E499A3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713247E-E03E-8CD1-2A56-A8C4E1F99FDF}"/>
              </a:ext>
            </a:extLst>
          </p:cNvPr>
          <p:cNvPicPr>
            <a:picLocks noChangeAspect="1"/>
          </p:cNvPicPr>
          <p:nvPr/>
        </p:nvPicPr>
        <p:blipFill>
          <a:blip r:embed="rId2"/>
          <a:srcRect l="17512" t="19795" r="63" b="-2062"/>
          <a:stretch/>
        </p:blipFill>
        <p:spPr>
          <a:xfrm>
            <a:off x="5439482" y="3315074"/>
            <a:ext cx="8992798" cy="4924425"/>
          </a:xfrm>
          <a:prstGeom prst="rect">
            <a:avLst/>
          </a:prstGeom>
        </p:spPr>
      </p:pic>
      <p:sp>
        <p:nvSpPr>
          <p:cNvPr id="2" name="TextBox 1">
            <a:extLst>
              <a:ext uri="{FF2B5EF4-FFF2-40B4-BE49-F238E27FC236}">
                <a16:creationId xmlns:a16="http://schemas.microsoft.com/office/drawing/2014/main" id="{69C98C0A-4ED3-2845-7F3D-110E852DBC57}"/>
              </a:ext>
            </a:extLst>
          </p:cNvPr>
          <p:cNvSpPr txBox="1"/>
          <p:nvPr/>
        </p:nvSpPr>
        <p:spPr>
          <a:xfrm>
            <a:off x="181682" y="7269854"/>
            <a:ext cx="10515600" cy="1046440"/>
          </a:xfrm>
          <a:prstGeom prst="rect">
            <a:avLst/>
          </a:prstGeom>
          <a:noFill/>
        </p:spPr>
        <p:txBody>
          <a:bodyPr wrap="square" rtlCol="0">
            <a:spAutoFit/>
          </a:bodyPr>
          <a:lstStyle/>
          <a:p>
            <a:r>
              <a:rPr lang="en-IN" sz="4400" u="sng" dirty="0" err="1">
                <a:highlight>
                  <a:srgbClr val="C0C0C0"/>
                </a:highlight>
                <a:latin typeface="Algerian" panose="04020705040A02060702" pitchFamily="82" charset="0"/>
              </a:rPr>
              <a:t>Streamlit</a:t>
            </a:r>
            <a:r>
              <a:rPr lang="en-IN" sz="4400" u="sng" dirty="0">
                <a:highlight>
                  <a:srgbClr val="C0C0C0"/>
                </a:highlight>
                <a:latin typeface="Algerian" panose="04020705040A02060702" pitchFamily="82" charset="0"/>
              </a:rPr>
              <a:t> App Overview:</a:t>
            </a:r>
          </a:p>
          <a:p>
            <a:endParaRPr lang="en-IN" dirty="0">
              <a:highlight>
                <a:srgbClr val="C0C0C0"/>
              </a:highlight>
            </a:endParaRPr>
          </a:p>
        </p:txBody>
      </p:sp>
      <p:sp>
        <p:nvSpPr>
          <p:cNvPr id="3" name="TextBox 2">
            <a:extLst>
              <a:ext uri="{FF2B5EF4-FFF2-40B4-BE49-F238E27FC236}">
                <a16:creationId xmlns:a16="http://schemas.microsoft.com/office/drawing/2014/main" id="{4003600B-3892-A704-139D-0F6B86466965}"/>
              </a:ext>
            </a:extLst>
          </p:cNvPr>
          <p:cNvSpPr txBox="1"/>
          <p:nvPr/>
        </p:nvSpPr>
        <p:spPr>
          <a:xfrm>
            <a:off x="166442" y="0"/>
            <a:ext cx="14653260" cy="3939540"/>
          </a:xfrm>
          <a:prstGeom prst="rect">
            <a:avLst/>
          </a:prstGeom>
          <a:noFill/>
        </p:spPr>
        <p:txBody>
          <a:bodyPr wrap="square" rtlCol="0">
            <a:spAutoFit/>
          </a:bodyPr>
          <a:lstStyle/>
          <a:p>
            <a:r>
              <a:rPr lang="en-GB" sz="4000" b="1" dirty="0"/>
              <a:t> Dataset Upload Feature</a:t>
            </a:r>
          </a:p>
          <a:p>
            <a:r>
              <a:rPr lang="en-GB" sz="3200" dirty="0"/>
              <a:t>📌 How it Works:</a:t>
            </a:r>
            <a:br>
              <a:rPr lang="en-GB" sz="3200" dirty="0"/>
            </a:br>
            <a:r>
              <a:rPr lang="en-GB" sz="3200" dirty="0"/>
              <a:t>🔹 Users can upload a dataset (Excel format).</a:t>
            </a:r>
            <a:br>
              <a:rPr lang="en-GB" sz="3200" dirty="0"/>
            </a:br>
            <a:r>
              <a:rPr lang="en-GB" sz="3200" dirty="0"/>
              <a:t>🔹 The app automatically reads and displays the first few rows.</a:t>
            </a:r>
            <a:br>
              <a:rPr lang="en-GB" sz="3200" dirty="0"/>
            </a:br>
            <a:r>
              <a:rPr lang="en-GB" sz="3200" dirty="0"/>
              <a:t>🔹 Provides summary statistics (mean, median, standard deviation, etc.).</a:t>
            </a:r>
          </a:p>
          <a:p>
            <a:r>
              <a:rPr lang="en-GB" sz="3200" dirty="0"/>
              <a:t>✅ Why? This allows users to </a:t>
            </a:r>
            <a:r>
              <a:rPr lang="en-GB" sz="3200" dirty="0" err="1"/>
              <a:t>analyze</a:t>
            </a:r>
            <a:r>
              <a:rPr lang="en-GB" sz="3200" dirty="0"/>
              <a:t> their own data and see how clustering applies to real-world datasets.</a:t>
            </a:r>
          </a:p>
          <a:p>
            <a:endParaRPr lang="en-IN" dirty="0"/>
          </a:p>
        </p:txBody>
      </p:sp>
    </p:spTree>
    <p:extLst>
      <p:ext uri="{BB962C8B-B14F-4D97-AF65-F5344CB8AC3E}">
        <p14:creationId xmlns:p14="http://schemas.microsoft.com/office/powerpoint/2010/main" val="3857655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9F8FD-8229-E63D-B9BD-9FBC3B9F494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D1FDD33-8FFD-A1BF-2C97-89378F9E5B22}"/>
              </a:ext>
            </a:extLst>
          </p:cNvPr>
          <p:cNvPicPr>
            <a:picLocks noChangeAspect="1"/>
          </p:cNvPicPr>
          <p:nvPr/>
        </p:nvPicPr>
        <p:blipFill>
          <a:blip r:embed="rId2"/>
          <a:stretch>
            <a:fillRect/>
          </a:stretch>
        </p:blipFill>
        <p:spPr>
          <a:xfrm>
            <a:off x="0" y="8661010"/>
            <a:ext cx="14630400" cy="7751397"/>
          </a:xfrm>
          <a:prstGeom prst="rect">
            <a:avLst/>
          </a:prstGeom>
        </p:spPr>
      </p:pic>
      <p:sp>
        <p:nvSpPr>
          <p:cNvPr id="2" name="TextBox 1">
            <a:extLst>
              <a:ext uri="{FF2B5EF4-FFF2-40B4-BE49-F238E27FC236}">
                <a16:creationId xmlns:a16="http://schemas.microsoft.com/office/drawing/2014/main" id="{77485984-DDBC-07FB-414F-0609C6AD4EF2}"/>
              </a:ext>
            </a:extLst>
          </p:cNvPr>
          <p:cNvSpPr txBox="1"/>
          <p:nvPr/>
        </p:nvSpPr>
        <p:spPr>
          <a:xfrm>
            <a:off x="4343400" y="243840"/>
            <a:ext cx="10515600" cy="1046440"/>
          </a:xfrm>
          <a:prstGeom prst="rect">
            <a:avLst/>
          </a:prstGeom>
          <a:noFill/>
        </p:spPr>
        <p:txBody>
          <a:bodyPr wrap="square" rtlCol="0">
            <a:spAutoFit/>
          </a:bodyPr>
          <a:lstStyle/>
          <a:p>
            <a:r>
              <a:rPr lang="en-IN" sz="4400" u="sng" dirty="0" err="1">
                <a:highlight>
                  <a:srgbClr val="C0C0C0"/>
                </a:highlight>
                <a:latin typeface="Algerian" panose="04020705040A02060702" pitchFamily="82" charset="0"/>
              </a:rPr>
              <a:t>Streamlit</a:t>
            </a:r>
            <a:r>
              <a:rPr lang="en-IN" sz="4400" u="sng" dirty="0">
                <a:highlight>
                  <a:srgbClr val="C0C0C0"/>
                </a:highlight>
                <a:latin typeface="Algerian" panose="04020705040A02060702" pitchFamily="82" charset="0"/>
              </a:rPr>
              <a:t> App Overview:</a:t>
            </a:r>
          </a:p>
          <a:p>
            <a:endParaRPr lang="en-IN" dirty="0">
              <a:highlight>
                <a:srgbClr val="C0C0C0"/>
              </a:highlight>
            </a:endParaRPr>
          </a:p>
        </p:txBody>
      </p:sp>
      <p:sp>
        <p:nvSpPr>
          <p:cNvPr id="3" name="TextBox 2">
            <a:extLst>
              <a:ext uri="{FF2B5EF4-FFF2-40B4-BE49-F238E27FC236}">
                <a16:creationId xmlns:a16="http://schemas.microsoft.com/office/drawing/2014/main" id="{7573DF34-743F-264F-2672-8DFD6803439B}"/>
              </a:ext>
            </a:extLst>
          </p:cNvPr>
          <p:cNvSpPr txBox="1"/>
          <p:nvPr/>
        </p:nvSpPr>
        <p:spPr>
          <a:xfrm>
            <a:off x="716280" y="990868"/>
            <a:ext cx="12405360" cy="3477875"/>
          </a:xfrm>
          <a:prstGeom prst="rect">
            <a:avLst/>
          </a:prstGeom>
          <a:noFill/>
        </p:spPr>
        <p:txBody>
          <a:bodyPr wrap="square" rtlCol="0">
            <a:spAutoFit/>
          </a:bodyPr>
          <a:lstStyle/>
          <a:p>
            <a:r>
              <a:rPr lang="en-GB" sz="4000" b="1" dirty="0">
                <a:highlight>
                  <a:srgbClr val="C0C0C0"/>
                </a:highlight>
              </a:rPr>
              <a:t> Visualization Capabilities</a:t>
            </a:r>
          </a:p>
          <a:p>
            <a:r>
              <a:rPr lang="en-GB" sz="3600" dirty="0">
                <a:highlight>
                  <a:srgbClr val="C0C0C0"/>
                </a:highlight>
              </a:rPr>
              <a:t>📌 Key Visualizations Included:</a:t>
            </a:r>
            <a:br>
              <a:rPr lang="en-GB" sz="3600" dirty="0">
                <a:highlight>
                  <a:srgbClr val="C0C0C0"/>
                </a:highlight>
              </a:rPr>
            </a:br>
            <a:r>
              <a:rPr lang="en-GB" sz="3600" dirty="0">
                <a:highlight>
                  <a:srgbClr val="C0C0C0"/>
                </a:highlight>
              </a:rPr>
              <a:t>🔹 Histogram: Shows feature distributions and value frequencies.</a:t>
            </a:r>
            <a:br>
              <a:rPr lang="en-GB" sz="3600" dirty="0">
                <a:highlight>
                  <a:srgbClr val="C0C0C0"/>
                </a:highlight>
              </a:rPr>
            </a:br>
            <a:r>
              <a:rPr lang="en-GB" sz="3600" dirty="0">
                <a:highlight>
                  <a:srgbClr val="C0C0C0"/>
                </a:highlight>
              </a:rPr>
              <a:t>🔹 Box Plot: Helps in detecting outliers and understanding feature spread.</a:t>
            </a:r>
            <a:br>
              <a:rPr lang="en-GB" sz="3600" dirty="0">
                <a:highlight>
                  <a:srgbClr val="C0C0C0"/>
                </a:highlight>
              </a:rPr>
            </a:br>
            <a:endParaRPr lang="en-GB" sz="3600" dirty="0">
              <a:highlight>
                <a:srgbClr val="C0C0C0"/>
              </a:highlight>
            </a:endParaRPr>
          </a:p>
        </p:txBody>
      </p:sp>
    </p:spTree>
    <p:extLst>
      <p:ext uri="{BB962C8B-B14F-4D97-AF65-F5344CB8AC3E}">
        <p14:creationId xmlns:p14="http://schemas.microsoft.com/office/powerpoint/2010/main" val="2477899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44867-D73C-AB9A-DC3F-61A80B22370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546176C-B686-132B-B2FD-88BD5128E212}"/>
              </a:ext>
            </a:extLst>
          </p:cNvPr>
          <p:cNvPicPr>
            <a:picLocks noChangeAspect="1"/>
          </p:cNvPicPr>
          <p:nvPr/>
        </p:nvPicPr>
        <p:blipFill>
          <a:blip r:embed="rId2"/>
          <a:stretch>
            <a:fillRect/>
          </a:stretch>
        </p:blipFill>
        <p:spPr>
          <a:xfrm>
            <a:off x="0" y="234363"/>
            <a:ext cx="14630400" cy="7751397"/>
          </a:xfrm>
          <a:prstGeom prst="rect">
            <a:avLst/>
          </a:prstGeom>
        </p:spPr>
      </p:pic>
      <p:sp>
        <p:nvSpPr>
          <p:cNvPr id="2" name="TextBox 1">
            <a:extLst>
              <a:ext uri="{FF2B5EF4-FFF2-40B4-BE49-F238E27FC236}">
                <a16:creationId xmlns:a16="http://schemas.microsoft.com/office/drawing/2014/main" id="{91C472D8-C0BD-6D74-1D31-5AEEAD982983}"/>
              </a:ext>
            </a:extLst>
          </p:cNvPr>
          <p:cNvSpPr txBox="1"/>
          <p:nvPr/>
        </p:nvSpPr>
        <p:spPr>
          <a:xfrm>
            <a:off x="4343400" y="243840"/>
            <a:ext cx="10515600" cy="1046440"/>
          </a:xfrm>
          <a:prstGeom prst="rect">
            <a:avLst/>
          </a:prstGeom>
          <a:noFill/>
        </p:spPr>
        <p:txBody>
          <a:bodyPr wrap="square" rtlCol="0">
            <a:spAutoFit/>
          </a:bodyPr>
          <a:lstStyle/>
          <a:p>
            <a:r>
              <a:rPr lang="en-IN" sz="4400" u="sng" dirty="0" err="1">
                <a:highlight>
                  <a:srgbClr val="C0C0C0"/>
                </a:highlight>
                <a:latin typeface="Algerian" panose="04020705040A02060702" pitchFamily="82" charset="0"/>
              </a:rPr>
              <a:t>Streamlit</a:t>
            </a:r>
            <a:r>
              <a:rPr lang="en-IN" sz="4400" u="sng" dirty="0">
                <a:highlight>
                  <a:srgbClr val="C0C0C0"/>
                </a:highlight>
                <a:latin typeface="Algerian" panose="04020705040A02060702" pitchFamily="82" charset="0"/>
              </a:rPr>
              <a:t> App Overview:</a:t>
            </a:r>
          </a:p>
          <a:p>
            <a:endParaRPr lang="en-IN" dirty="0">
              <a:highlight>
                <a:srgbClr val="C0C0C0"/>
              </a:highlight>
            </a:endParaRPr>
          </a:p>
        </p:txBody>
      </p:sp>
      <p:sp>
        <p:nvSpPr>
          <p:cNvPr id="3" name="TextBox 2">
            <a:extLst>
              <a:ext uri="{FF2B5EF4-FFF2-40B4-BE49-F238E27FC236}">
                <a16:creationId xmlns:a16="http://schemas.microsoft.com/office/drawing/2014/main" id="{6383E53F-5003-280A-AF18-11B60E1A50AF}"/>
              </a:ext>
            </a:extLst>
          </p:cNvPr>
          <p:cNvSpPr txBox="1"/>
          <p:nvPr/>
        </p:nvSpPr>
        <p:spPr>
          <a:xfrm>
            <a:off x="716280" y="990868"/>
            <a:ext cx="12405360" cy="3477875"/>
          </a:xfrm>
          <a:prstGeom prst="rect">
            <a:avLst/>
          </a:prstGeom>
          <a:noFill/>
        </p:spPr>
        <p:txBody>
          <a:bodyPr wrap="square" rtlCol="0">
            <a:spAutoFit/>
          </a:bodyPr>
          <a:lstStyle/>
          <a:p>
            <a:r>
              <a:rPr lang="en-GB" sz="4000" b="1" dirty="0">
                <a:highlight>
                  <a:srgbClr val="C0C0C0"/>
                </a:highlight>
              </a:rPr>
              <a:t> Visualization Capabilities</a:t>
            </a:r>
          </a:p>
          <a:p>
            <a:r>
              <a:rPr lang="en-GB" sz="3600" dirty="0">
                <a:highlight>
                  <a:srgbClr val="C0C0C0"/>
                </a:highlight>
              </a:rPr>
              <a:t>📌 Key Visualizations Included:</a:t>
            </a:r>
            <a:br>
              <a:rPr lang="en-GB" sz="3600" dirty="0">
                <a:highlight>
                  <a:srgbClr val="C0C0C0"/>
                </a:highlight>
              </a:rPr>
            </a:br>
            <a:r>
              <a:rPr lang="en-GB" sz="3600" dirty="0">
                <a:highlight>
                  <a:srgbClr val="C0C0C0"/>
                </a:highlight>
              </a:rPr>
              <a:t>🔹 Histogram: Shows feature distributions and value frequencies.</a:t>
            </a:r>
            <a:br>
              <a:rPr lang="en-GB" sz="3600" dirty="0">
                <a:highlight>
                  <a:srgbClr val="C0C0C0"/>
                </a:highlight>
              </a:rPr>
            </a:br>
            <a:r>
              <a:rPr lang="en-GB" sz="3600" dirty="0">
                <a:highlight>
                  <a:srgbClr val="C0C0C0"/>
                </a:highlight>
              </a:rPr>
              <a:t>🔹 Box Plot: Helps in detecting outliers and understanding feature spread.</a:t>
            </a:r>
            <a:br>
              <a:rPr lang="en-GB" sz="3600" dirty="0">
                <a:highlight>
                  <a:srgbClr val="C0C0C0"/>
                </a:highlight>
              </a:rPr>
            </a:br>
            <a:endParaRPr lang="en-GB" sz="3600" dirty="0">
              <a:highlight>
                <a:srgbClr val="C0C0C0"/>
              </a:highlight>
            </a:endParaRPr>
          </a:p>
        </p:txBody>
      </p:sp>
      <p:pic>
        <p:nvPicPr>
          <p:cNvPr id="5" name="Picture 4">
            <a:extLst>
              <a:ext uri="{FF2B5EF4-FFF2-40B4-BE49-F238E27FC236}">
                <a16:creationId xmlns:a16="http://schemas.microsoft.com/office/drawing/2014/main" id="{A37A8C28-C13F-626A-C9E3-0130C74B80B2}"/>
              </a:ext>
            </a:extLst>
          </p:cNvPr>
          <p:cNvPicPr>
            <a:picLocks noChangeAspect="1"/>
          </p:cNvPicPr>
          <p:nvPr/>
        </p:nvPicPr>
        <p:blipFill>
          <a:blip r:embed="rId3"/>
          <a:stretch>
            <a:fillRect/>
          </a:stretch>
        </p:blipFill>
        <p:spPr>
          <a:xfrm>
            <a:off x="228600" y="8742265"/>
            <a:ext cx="14630400" cy="7826103"/>
          </a:xfrm>
          <a:prstGeom prst="rect">
            <a:avLst/>
          </a:prstGeom>
        </p:spPr>
      </p:pic>
    </p:spTree>
    <p:extLst>
      <p:ext uri="{BB962C8B-B14F-4D97-AF65-F5344CB8AC3E}">
        <p14:creationId xmlns:p14="http://schemas.microsoft.com/office/powerpoint/2010/main" val="3036258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2441F-5C8D-8B69-4343-202834ED977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0ACE4CC-CCD1-18A3-9894-0BBE4CC6C416}"/>
              </a:ext>
            </a:extLst>
          </p:cNvPr>
          <p:cNvPicPr>
            <a:picLocks noChangeAspect="1"/>
          </p:cNvPicPr>
          <p:nvPr/>
        </p:nvPicPr>
        <p:blipFill>
          <a:blip r:embed="rId2"/>
          <a:stretch>
            <a:fillRect/>
          </a:stretch>
        </p:blipFill>
        <p:spPr>
          <a:xfrm>
            <a:off x="-33997" y="159657"/>
            <a:ext cx="14630400" cy="7826103"/>
          </a:xfrm>
          <a:prstGeom prst="rect">
            <a:avLst/>
          </a:prstGeom>
        </p:spPr>
      </p:pic>
      <p:pic>
        <p:nvPicPr>
          <p:cNvPr id="6" name="Picture 5">
            <a:extLst>
              <a:ext uri="{FF2B5EF4-FFF2-40B4-BE49-F238E27FC236}">
                <a16:creationId xmlns:a16="http://schemas.microsoft.com/office/drawing/2014/main" id="{D7C714F2-C4FD-C761-FB63-CD9DAFFD8EF7}"/>
              </a:ext>
            </a:extLst>
          </p:cNvPr>
          <p:cNvPicPr>
            <a:picLocks noChangeAspect="1"/>
          </p:cNvPicPr>
          <p:nvPr/>
        </p:nvPicPr>
        <p:blipFill>
          <a:blip r:embed="rId3"/>
          <a:stretch>
            <a:fillRect/>
          </a:stretch>
        </p:blipFill>
        <p:spPr>
          <a:xfrm>
            <a:off x="-33997" y="-8200054"/>
            <a:ext cx="14630400" cy="7751397"/>
          </a:xfrm>
          <a:prstGeom prst="rect">
            <a:avLst/>
          </a:prstGeom>
        </p:spPr>
      </p:pic>
      <p:sp>
        <p:nvSpPr>
          <p:cNvPr id="2" name="TextBox 1">
            <a:extLst>
              <a:ext uri="{FF2B5EF4-FFF2-40B4-BE49-F238E27FC236}">
                <a16:creationId xmlns:a16="http://schemas.microsoft.com/office/drawing/2014/main" id="{9888EC96-C632-DA10-2948-9A24DCA05F22}"/>
              </a:ext>
            </a:extLst>
          </p:cNvPr>
          <p:cNvSpPr txBox="1"/>
          <p:nvPr/>
        </p:nvSpPr>
        <p:spPr>
          <a:xfrm>
            <a:off x="4343400" y="243840"/>
            <a:ext cx="10515600" cy="1046440"/>
          </a:xfrm>
          <a:prstGeom prst="rect">
            <a:avLst/>
          </a:prstGeom>
          <a:noFill/>
        </p:spPr>
        <p:txBody>
          <a:bodyPr wrap="square" rtlCol="0">
            <a:spAutoFit/>
          </a:bodyPr>
          <a:lstStyle/>
          <a:p>
            <a:r>
              <a:rPr lang="en-IN" sz="4400" u="sng" dirty="0" err="1">
                <a:highlight>
                  <a:srgbClr val="C0C0C0"/>
                </a:highlight>
                <a:latin typeface="Algerian" panose="04020705040A02060702" pitchFamily="82" charset="0"/>
              </a:rPr>
              <a:t>Streamlit</a:t>
            </a:r>
            <a:r>
              <a:rPr lang="en-IN" sz="4400" u="sng" dirty="0">
                <a:highlight>
                  <a:srgbClr val="C0C0C0"/>
                </a:highlight>
                <a:latin typeface="Algerian" panose="04020705040A02060702" pitchFamily="82" charset="0"/>
              </a:rPr>
              <a:t> App Overview:</a:t>
            </a:r>
          </a:p>
          <a:p>
            <a:endParaRPr lang="en-IN" dirty="0">
              <a:highlight>
                <a:srgbClr val="C0C0C0"/>
              </a:highlight>
            </a:endParaRPr>
          </a:p>
        </p:txBody>
      </p:sp>
      <p:sp>
        <p:nvSpPr>
          <p:cNvPr id="3" name="TextBox 2">
            <a:extLst>
              <a:ext uri="{FF2B5EF4-FFF2-40B4-BE49-F238E27FC236}">
                <a16:creationId xmlns:a16="http://schemas.microsoft.com/office/drawing/2014/main" id="{4B8A50BB-8B77-8BB4-25CA-AD7984505274}"/>
              </a:ext>
            </a:extLst>
          </p:cNvPr>
          <p:cNvSpPr txBox="1"/>
          <p:nvPr/>
        </p:nvSpPr>
        <p:spPr>
          <a:xfrm>
            <a:off x="716280" y="990868"/>
            <a:ext cx="12405360" cy="4031873"/>
          </a:xfrm>
          <a:prstGeom prst="rect">
            <a:avLst/>
          </a:prstGeom>
          <a:noFill/>
        </p:spPr>
        <p:txBody>
          <a:bodyPr wrap="square" rtlCol="0">
            <a:spAutoFit/>
          </a:bodyPr>
          <a:lstStyle/>
          <a:p>
            <a:r>
              <a:rPr lang="en-GB" sz="4000" b="1" dirty="0">
                <a:highlight>
                  <a:srgbClr val="C0C0C0"/>
                </a:highlight>
              </a:rPr>
              <a:t> Visualization Capabilities</a:t>
            </a:r>
          </a:p>
          <a:p>
            <a:r>
              <a:rPr lang="en-GB" sz="3600" dirty="0">
                <a:highlight>
                  <a:srgbClr val="C0C0C0"/>
                </a:highlight>
              </a:rPr>
              <a:t>📌 Key Visualizations Included:</a:t>
            </a:r>
          </a:p>
          <a:p>
            <a:r>
              <a:rPr lang="en-GB" sz="3600" b="1" dirty="0">
                <a:highlight>
                  <a:srgbClr val="C0C0C0"/>
                </a:highlight>
              </a:rPr>
              <a:t>Scatter Plot:</a:t>
            </a:r>
            <a:r>
              <a:rPr lang="en-GB" sz="3600" dirty="0">
                <a:highlight>
                  <a:srgbClr val="C0C0C0"/>
                </a:highlight>
              </a:rPr>
              <a:t> Displays relationships between two selected features.</a:t>
            </a:r>
            <a:br>
              <a:rPr lang="en-GB" sz="3600" dirty="0">
                <a:highlight>
                  <a:srgbClr val="C0C0C0"/>
                </a:highlight>
              </a:rPr>
            </a:br>
            <a:br>
              <a:rPr lang="en-GB" sz="3600" dirty="0">
                <a:highlight>
                  <a:srgbClr val="C0C0C0"/>
                </a:highlight>
              </a:rPr>
            </a:br>
            <a:br>
              <a:rPr lang="en-GB" sz="3600" dirty="0">
                <a:highlight>
                  <a:srgbClr val="C0C0C0"/>
                </a:highlight>
              </a:rPr>
            </a:br>
            <a:endParaRPr lang="en-GB" sz="3600" dirty="0">
              <a:highlight>
                <a:srgbClr val="C0C0C0"/>
              </a:highlight>
            </a:endParaRPr>
          </a:p>
        </p:txBody>
      </p:sp>
      <p:pic>
        <p:nvPicPr>
          <p:cNvPr id="8" name="Picture 7">
            <a:extLst>
              <a:ext uri="{FF2B5EF4-FFF2-40B4-BE49-F238E27FC236}">
                <a16:creationId xmlns:a16="http://schemas.microsoft.com/office/drawing/2014/main" id="{21219B22-68C3-3F2E-DA87-110693AAC7A9}"/>
              </a:ext>
            </a:extLst>
          </p:cNvPr>
          <p:cNvPicPr>
            <a:picLocks noChangeAspect="1"/>
          </p:cNvPicPr>
          <p:nvPr/>
        </p:nvPicPr>
        <p:blipFill>
          <a:blip r:embed="rId4"/>
          <a:stretch>
            <a:fillRect/>
          </a:stretch>
        </p:blipFill>
        <p:spPr>
          <a:xfrm>
            <a:off x="0" y="9017777"/>
            <a:ext cx="14630400" cy="7778676"/>
          </a:xfrm>
          <a:prstGeom prst="rect">
            <a:avLst/>
          </a:prstGeom>
        </p:spPr>
      </p:pic>
    </p:spTree>
    <p:extLst>
      <p:ext uri="{BB962C8B-B14F-4D97-AF65-F5344CB8AC3E}">
        <p14:creationId xmlns:p14="http://schemas.microsoft.com/office/powerpoint/2010/main" val="7772517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7FCEF-7FFE-FC82-F679-66F98A0BD04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1928F10-A545-1F14-6E90-79167C9C97DC}"/>
              </a:ext>
            </a:extLst>
          </p:cNvPr>
          <p:cNvPicPr>
            <a:picLocks noChangeAspect="1"/>
          </p:cNvPicPr>
          <p:nvPr/>
        </p:nvPicPr>
        <p:blipFill>
          <a:blip r:embed="rId2"/>
          <a:stretch>
            <a:fillRect/>
          </a:stretch>
        </p:blipFill>
        <p:spPr>
          <a:xfrm>
            <a:off x="0" y="207084"/>
            <a:ext cx="14630400" cy="7778676"/>
          </a:xfrm>
          <a:prstGeom prst="rect">
            <a:avLst/>
          </a:prstGeom>
        </p:spPr>
      </p:pic>
      <p:pic>
        <p:nvPicPr>
          <p:cNvPr id="5" name="Picture 4">
            <a:extLst>
              <a:ext uri="{FF2B5EF4-FFF2-40B4-BE49-F238E27FC236}">
                <a16:creationId xmlns:a16="http://schemas.microsoft.com/office/drawing/2014/main" id="{78B9DBDA-E982-5387-8C5F-D2368E8F4161}"/>
              </a:ext>
            </a:extLst>
          </p:cNvPr>
          <p:cNvPicPr>
            <a:picLocks noChangeAspect="1"/>
          </p:cNvPicPr>
          <p:nvPr/>
        </p:nvPicPr>
        <p:blipFill>
          <a:blip r:embed="rId3"/>
          <a:stretch>
            <a:fillRect/>
          </a:stretch>
        </p:blipFill>
        <p:spPr>
          <a:xfrm>
            <a:off x="-573259" y="-9416926"/>
            <a:ext cx="14630400" cy="7826103"/>
          </a:xfrm>
          <a:prstGeom prst="rect">
            <a:avLst/>
          </a:prstGeom>
        </p:spPr>
      </p:pic>
      <p:pic>
        <p:nvPicPr>
          <p:cNvPr id="6" name="Picture 5">
            <a:extLst>
              <a:ext uri="{FF2B5EF4-FFF2-40B4-BE49-F238E27FC236}">
                <a16:creationId xmlns:a16="http://schemas.microsoft.com/office/drawing/2014/main" id="{EA1FF0E5-4B94-5DB6-6DBC-521FC137A577}"/>
              </a:ext>
            </a:extLst>
          </p:cNvPr>
          <p:cNvPicPr>
            <a:picLocks noChangeAspect="1"/>
          </p:cNvPicPr>
          <p:nvPr/>
        </p:nvPicPr>
        <p:blipFill>
          <a:blip r:embed="rId4"/>
          <a:stretch>
            <a:fillRect/>
          </a:stretch>
        </p:blipFill>
        <p:spPr>
          <a:xfrm>
            <a:off x="-33997" y="-8200054"/>
            <a:ext cx="14630400" cy="7751397"/>
          </a:xfrm>
          <a:prstGeom prst="rect">
            <a:avLst/>
          </a:prstGeom>
        </p:spPr>
      </p:pic>
      <p:sp>
        <p:nvSpPr>
          <p:cNvPr id="2" name="TextBox 1">
            <a:extLst>
              <a:ext uri="{FF2B5EF4-FFF2-40B4-BE49-F238E27FC236}">
                <a16:creationId xmlns:a16="http://schemas.microsoft.com/office/drawing/2014/main" id="{1DEBC23F-BAF2-9F66-D326-50CE7943F8BC}"/>
              </a:ext>
            </a:extLst>
          </p:cNvPr>
          <p:cNvSpPr txBox="1"/>
          <p:nvPr/>
        </p:nvSpPr>
        <p:spPr>
          <a:xfrm>
            <a:off x="4343400" y="243840"/>
            <a:ext cx="10515600" cy="1046440"/>
          </a:xfrm>
          <a:prstGeom prst="rect">
            <a:avLst/>
          </a:prstGeom>
          <a:noFill/>
        </p:spPr>
        <p:txBody>
          <a:bodyPr wrap="square" rtlCol="0">
            <a:spAutoFit/>
          </a:bodyPr>
          <a:lstStyle/>
          <a:p>
            <a:r>
              <a:rPr lang="en-IN" sz="4400" u="sng" dirty="0" err="1">
                <a:highlight>
                  <a:srgbClr val="C0C0C0"/>
                </a:highlight>
                <a:latin typeface="Algerian" panose="04020705040A02060702" pitchFamily="82" charset="0"/>
              </a:rPr>
              <a:t>Streamlit</a:t>
            </a:r>
            <a:r>
              <a:rPr lang="en-IN" sz="4400" u="sng" dirty="0">
                <a:highlight>
                  <a:srgbClr val="C0C0C0"/>
                </a:highlight>
                <a:latin typeface="Algerian" panose="04020705040A02060702" pitchFamily="82" charset="0"/>
              </a:rPr>
              <a:t> App Overview:</a:t>
            </a:r>
          </a:p>
          <a:p>
            <a:endParaRPr lang="en-IN" dirty="0">
              <a:highlight>
                <a:srgbClr val="C0C0C0"/>
              </a:highlight>
            </a:endParaRPr>
          </a:p>
        </p:txBody>
      </p:sp>
      <p:sp>
        <p:nvSpPr>
          <p:cNvPr id="3" name="TextBox 2">
            <a:extLst>
              <a:ext uri="{FF2B5EF4-FFF2-40B4-BE49-F238E27FC236}">
                <a16:creationId xmlns:a16="http://schemas.microsoft.com/office/drawing/2014/main" id="{4598A5DE-38C2-C215-F5EE-FBCAB5AD8457}"/>
              </a:ext>
            </a:extLst>
          </p:cNvPr>
          <p:cNvSpPr txBox="1"/>
          <p:nvPr/>
        </p:nvSpPr>
        <p:spPr>
          <a:xfrm>
            <a:off x="296594" y="1089632"/>
            <a:ext cx="12405360" cy="4031873"/>
          </a:xfrm>
          <a:prstGeom prst="rect">
            <a:avLst/>
          </a:prstGeom>
          <a:noFill/>
        </p:spPr>
        <p:txBody>
          <a:bodyPr wrap="square" rtlCol="0">
            <a:spAutoFit/>
          </a:bodyPr>
          <a:lstStyle/>
          <a:p>
            <a:r>
              <a:rPr lang="en-GB" sz="4000" b="1" dirty="0">
                <a:highlight>
                  <a:srgbClr val="C0C0C0"/>
                </a:highlight>
              </a:rPr>
              <a:t> Visualization Capabilities</a:t>
            </a:r>
          </a:p>
          <a:p>
            <a:r>
              <a:rPr lang="en-GB" sz="3600" dirty="0">
                <a:highlight>
                  <a:srgbClr val="C0C0C0"/>
                </a:highlight>
              </a:rPr>
              <a:t>📌 Key Visualizations Included:</a:t>
            </a:r>
          </a:p>
          <a:p>
            <a:r>
              <a:rPr lang="en-GB" sz="3600" b="1" dirty="0">
                <a:highlight>
                  <a:srgbClr val="C0C0C0"/>
                </a:highlight>
              </a:rPr>
              <a:t>Correlation Heatmap:</a:t>
            </a:r>
            <a:r>
              <a:rPr lang="en-GB" sz="3600" dirty="0">
                <a:highlight>
                  <a:srgbClr val="C0C0C0"/>
                </a:highlight>
              </a:rPr>
              <a:t> Highlights </a:t>
            </a:r>
            <a:r>
              <a:rPr lang="en-GB" sz="3600" b="1" dirty="0">
                <a:highlight>
                  <a:srgbClr val="C0C0C0"/>
                </a:highlight>
              </a:rPr>
              <a:t>feature relationships</a:t>
            </a:r>
            <a:r>
              <a:rPr lang="en-GB" sz="3600" dirty="0">
                <a:highlight>
                  <a:srgbClr val="C0C0C0"/>
                </a:highlight>
              </a:rPr>
              <a:t> for deeper insights..</a:t>
            </a:r>
            <a:br>
              <a:rPr lang="en-GB" sz="3600" dirty="0">
                <a:highlight>
                  <a:srgbClr val="C0C0C0"/>
                </a:highlight>
              </a:rPr>
            </a:br>
            <a:br>
              <a:rPr lang="en-GB" sz="3600" dirty="0">
                <a:highlight>
                  <a:srgbClr val="C0C0C0"/>
                </a:highlight>
              </a:rPr>
            </a:br>
            <a:br>
              <a:rPr lang="en-GB" sz="3600" dirty="0">
                <a:highlight>
                  <a:srgbClr val="C0C0C0"/>
                </a:highlight>
              </a:rPr>
            </a:br>
            <a:endParaRPr lang="en-GB" sz="3600" dirty="0">
              <a:highlight>
                <a:srgbClr val="C0C0C0"/>
              </a:highlight>
            </a:endParaRPr>
          </a:p>
        </p:txBody>
      </p:sp>
    </p:spTree>
    <p:extLst>
      <p:ext uri="{BB962C8B-B14F-4D97-AF65-F5344CB8AC3E}">
        <p14:creationId xmlns:p14="http://schemas.microsoft.com/office/powerpoint/2010/main" val="3787671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75296" y="667107"/>
            <a:ext cx="7766209" cy="1230154"/>
          </a:xfrm>
          <a:prstGeom prst="rect">
            <a:avLst/>
          </a:prstGeom>
          <a:noFill/>
          <a:ln/>
        </p:spPr>
        <p:txBody>
          <a:bodyPr wrap="square" lIns="0" tIns="0" rIns="0" bIns="0" rtlCol="0" anchor="t"/>
          <a:lstStyle/>
          <a:p>
            <a:pPr marL="0" indent="0">
              <a:lnSpc>
                <a:spcPts val="4800"/>
              </a:lnSpc>
              <a:buNone/>
            </a:pPr>
            <a:r>
              <a:rPr lang="en-US" sz="3850" b="1" dirty="0">
                <a:solidFill>
                  <a:srgbClr val="443728"/>
                </a:solidFill>
                <a:latin typeface="Crimson Pro Bold" pitchFamily="34" charset="0"/>
                <a:ea typeface="Crimson Pro Bold" pitchFamily="34" charset="-122"/>
                <a:cs typeface="Crimson Pro Bold" pitchFamily="34" charset="-120"/>
              </a:rPr>
              <a:t>Evaluating Clustering Performance: Metrics and Validation Techniques</a:t>
            </a:r>
            <a:endParaRPr lang="en-US" sz="3850" dirty="0"/>
          </a:p>
        </p:txBody>
      </p:sp>
      <p:sp>
        <p:nvSpPr>
          <p:cNvPr id="4" name="Shape 1"/>
          <p:cNvSpPr/>
          <p:nvPr/>
        </p:nvSpPr>
        <p:spPr>
          <a:xfrm>
            <a:off x="6459141" y="2192536"/>
            <a:ext cx="22860" cy="5369838"/>
          </a:xfrm>
          <a:prstGeom prst="roundRect">
            <a:avLst>
              <a:gd name="adj" fmla="val 361673"/>
            </a:avLst>
          </a:prstGeom>
          <a:solidFill>
            <a:srgbClr val="D1C8C6"/>
          </a:solidFill>
          <a:ln/>
        </p:spPr>
      </p:sp>
      <p:sp>
        <p:nvSpPr>
          <p:cNvPr id="5" name="Shape 2"/>
          <p:cNvSpPr/>
          <p:nvPr/>
        </p:nvSpPr>
        <p:spPr>
          <a:xfrm>
            <a:off x="6669167" y="2624018"/>
            <a:ext cx="688896" cy="22860"/>
          </a:xfrm>
          <a:prstGeom prst="roundRect">
            <a:avLst>
              <a:gd name="adj" fmla="val 361673"/>
            </a:avLst>
          </a:prstGeom>
          <a:solidFill>
            <a:srgbClr val="D1C8C6"/>
          </a:solidFill>
          <a:ln/>
        </p:spPr>
      </p:sp>
      <p:sp>
        <p:nvSpPr>
          <p:cNvPr id="6" name="Shape 3"/>
          <p:cNvSpPr/>
          <p:nvPr/>
        </p:nvSpPr>
        <p:spPr>
          <a:xfrm>
            <a:off x="6249114" y="2413992"/>
            <a:ext cx="442913" cy="442913"/>
          </a:xfrm>
          <a:prstGeom prst="roundRect">
            <a:avLst>
              <a:gd name="adj" fmla="val 18667"/>
            </a:avLst>
          </a:prstGeom>
          <a:solidFill>
            <a:srgbClr val="EBE2E0"/>
          </a:solidFill>
          <a:ln w="7620">
            <a:solidFill>
              <a:srgbClr val="D1C8C6"/>
            </a:solidFill>
            <a:prstDash val="solid"/>
          </a:ln>
        </p:spPr>
      </p:sp>
      <p:sp>
        <p:nvSpPr>
          <p:cNvPr id="7" name="Text 4"/>
          <p:cNvSpPr/>
          <p:nvPr/>
        </p:nvSpPr>
        <p:spPr>
          <a:xfrm>
            <a:off x="6415326" y="2487811"/>
            <a:ext cx="110490" cy="295275"/>
          </a:xfrm>
          <a:prstGeom prst="rect">
            <a:avLst/>
          </a:prstGeom>
          <a:noFill/>
          <a:ln/>
        </p:spPr>
        <p:txBody>
          <a:bodyPr wrap="none" lIns="0" tIns="0" rIns="0" bIns="0" rtlCol="0" anchor="t"/>
          <a:lstStyle/>
          <a:p>
            <a:pPr marL="0" indent="0" algn="ctr">
              <a:lnSpc>
                <a:spcPts val="2300"/>
              </a:lnSpc>
              <a:buNone/>
            </a:pPr>
            <a:r>
              <a:rPr lang="en-US" sz="2300" b="1" dirty="0">
                <a:solidFill>
                  <a:srgbClr val="443728"/>
                </a:solidFill>
                <a:latin typeface="Crimson Pro Bold" pitchFamily="34" charset="0"/>
                <a:ea typeface="Crimson Pro Bold" pitchFamily="34" charset="-122"/>
                <a:cs typeface="Crimson Pro Bold" pitchFamily="34" charset="-120"/>
              </a:rPr>
              <a:t>1</a:t>
            </a:r>
            <a:endParaRPr lang="en-US" sz="2300" dirty="0"/>
          </a:p>
        </p:txBody>
      </p:sp>
      <p:sp>
        <p:nvSpPr>
          <p:cNvPr id="8" name="Text 5"/>
          <p:cNvSpPr/>
          <p:nvPr/>
        </p:nvSpPr>
        <p:spPr>
          <a:xfrm>
            <a:off x="7553206" y="2389346"/>
            <a:ext cx="2460665" cy="307538"/>
          </a:xfrm>
          <a:prstGeom prst="rect">
            <a:avLst/>
          </a:prstGeom>
          <a:noFill/>
          <a:ln/>
        </p:spPr>
        <p:txBody>
          <a:bodyPr wrap="none" lIns="0" tIns="0" rIns="0" bIns="0" rtlCol="0" anchor="t"/>
          <a:lstStyle/>
          <a:p>
            <a:pPr marL="0" indent="0" algn="l">
              <a:lnSpc>
                <a:spcPts val="2400"/>
              </a:lnSpc>
              <a:buNone/>
            </a:pPr>
            <a:r>
              <a:rPr lang="en-US" sz="1900" b="1" dirty="0">
                <a:solidFill>
                  <a:srgbClr val="443728"/>
                </a:solidFill>
                <a:latin typeface="Crimson Pro Bold" pitchFamily="34" charset="0"/>
                <a:ea typeface="Crimson Pro Bold" pitchFamily="34" charset="-122"/>
                <a:cs typeface="Crimson Pro Bold" pitchFamily="34" charset="-120"/>
              </a:rPr>
              <a:t>Silhouette Score</a:t>
            </a:r>
            <a:endParaRPr lang="en-US" sz="1900" dirty="0"/>
          </a:p>
        </p:txBody>
      </p:sp>
      <p:sp>
        <p:nvSpPr>
          <p:cNvPr id="9" name="Text 6"/>
          <p:cNvSpPr/>
          <p:nvPr/>
        </p:nvSpPr>
        <p:spPr>
          <a:xfrm>
            <a:off x="7553206" y="2814995"/>
            <a:ext cx="6388298" cy="944404"/>
          </a:xfrm>
          <a:prstGeom prst="rect">
            <a:avLst/>
          </a:prstGeom>
          <a:noFill/>
          <a:ln/>
        </p:spPr>
        <p:txBody>
          <a:bodyPr wrap="square" lIns="0" tIns="0" rIns="0" bIns="0" rtlCol="0" anchor="t"/>
          <a:lstStyle/>
          <a:p>
            <a:pPr marL="0" indent="0" algn="l">
              <a:lnSpc>
                <a:spcPts val="2450"/>
              </a:lnSpc>
              <a:buNone/>
            </a:pPr>
            <a:r>
              <a:rPr lang="en-US" sz="1550" dirty="0">
                <a:solidFill>
                  <a:srgbClr val="443728"/>
                </a:solidFill>
                <a:latin typeface="Open Sans" pitchFamily="34" charset="0"/>
                <a:ea typeface="Open Sans" pitchFamily="34" charset="-122"/>
                <a:cs typeface="Open Sans" pitchFamily="34" charset="-120"/>
              </a:rPr>
              <a:t>A metric that measures the similarity of data points within their cluster compared to other clusters, indicating the quality of clustering.</a:t>
            </a:r>
            <a:endParaRPr lang="en-US" sz="1550" dirty="0"/>
          </a:p>
        </p:txBody>
      </p:sp>
      <p:sp>
        <p:nvSpPr>
          <p:cNvPr id="10" name="Shape 7"/>
          <p:cNvSpPr/>
          <p:nvPr/>
        </p:nvSpPr>
        <p:spPr>
          <a:xfrm>
            <a:off x="6669167" y="4584502"/>
            <a:ext cx="688896" cy="22860"/>
          </a:xfrm>
          <a:prstGeom prst="roundRect">
            <a:avLst>
              <a:gd name="adj" fmla="val 361673"/>
            </a:avLst>
          </a:prstGeom>
          <a:solidFill>
            <a:srgbClr val="D1C8C6"/>
          </a:solidFill>
          <a:ln/>
        </p:spPr>
      </p:sp>
      <p:sp>
        <p:nvSpPr>
          <p:cNvPr id="11" name="Shape 8"/>
          <p:cNvSpPr/>
          <p:nvPr/>
        </p:nvSpPr>
        <p:spPr>
          <a:xfrm>
            <a:off x="6249114" y="4374475"/>
            <a:ext cx="442913" cy="442913"/>
          </a:xfrm>
          <a:prstGeom prst="roundRect">
            <a:avLst>
              <a:gd name="adj" fmla="val 18667"/>
            </a:avLst>
          </a:prstGeom>
          <a:solidFill>
            <a:srgbClr val="EBE2E0"/>
          </a:solidFill>
          <a:ln w="7620">
            <a:solidFill>
              <a:srgbClr val="D1C8C6"/>
            </a:solidFill>
            <a:prstDash val="solid"/>
          </a:ln>
        </p:spPr>
      </p:sp>
      <p:sp>
        <p:nvSpPr>
          <p:cNvPr id="12" name="Text 9"/>
          <p:cNvSpPr/>
          <p:nvPr/>
        </p:nvSpPr>
        <p:spPr>
          <a:xfrm>
            <a:off x="6395204" y="4448294"/>
            <a:ext cx="150614" cy="295275"/>
          </a:xfrm>
          <a:prstGeom prst="rect">
            <a:avLst/>
          </a:prstGeom>
          <a:noFill/>
          <a:ln/>
        </p:spPr>
        <p:txBody>
          <a:bodyPr wrap="none" lIns="0" tIns="0" rIns="0" bIns="0" rtlCol="0" anchor="t"/>
          <a:lstStyle/>
          <a:p>
            <a:pPr marL="0" indent="0" algn="ctr">
              <a:lnSpc>
                <a:spcPts val="2300"/>
              </a:lnSpc>
              <a:buNone/>
            </a:pPr>
            <a:r>
              <a:rPr lang="en-US" sz="2300" b="1" dirty="0">
                <a:solidFill>
                  <a:srgbClr val="443728"/>
                </a:solidFill>
                <a:latin typeface="Crimson Pro Bold" pitchFamily="34" charset="0"/>
                <a:ea typeface="Crimson Pro Bold" pitchFamily="34" charset="-122"/>
                <a:cs typeface="Crimson Pro Bold" pitchFamily="34" charset="-120"/>
              </a:rPr>
              <a:t>2</a:t>
            </a:r>
            <a:endParaRPr lang="en-US" sz="2300" dirty="0"/>
          </a:p>
        </p:txBody>
      </p:sp>
      <p:sp>
        <p:nvSpPr>
          <p:cNvPr id="13" name="Text 10"/>
          <p:cNvSpPr/>
          <p:nvPr/>
        </p:nvSpPr>
        <p:spPr>
          <a:xfrm>
            <a:off x="7553206" y="4349829"/>
            <a:ext cx="2460665" cy="307538"/>
          </a:xfrm>
          <a:prstGeom prst="rect">
            <a:avLst/>
          </a:prstGeom>
          <a:noFill/>
          <a:ln/>
        </p:spPr>
        <p:txBody>
          <a:bodyPr wrap="none" lIns="0" tIns="0" rIns="0" bIns="0" rtlCol="0" anchor="t"/>
          <a:lstStyle/>
          <a:p>
            <a:pPr marL="0" indent="0" algn="l">
              <a:lnSpc>
                <a:spcPts val="2400"/>
              </a:lnSpc>
              <a:buNone/>
            </a:pPr>
            <a:r>
              <a:rPr lang="en-US" sz="1900" b="1" dirty="0">
                <a:solidFill>
                  <a:srgbClr val="443728"/>
                </a:solidFill>
                <a:latin typeface="Crimson Pro Bold" pitchFamily="34" charset="0"/>
                <a:ea typeface="Crimson Pro Bold" pitchFamily="34" charset="-122"/>
                <a:cs typeface="Crimson Pro Bold" pitchFamily="34" charset="-120"/>
              </a:rPr>
              <a:t>Dunn Index</a:t>
            </a:r>
            <a:endParaRPr lang="en-US" sz="1900" dirty="0"/>
          </a:p>
        </p:txBody>
      </p:sp>
      <p:sp>
        <p:nvSpPr>
          <p:cNvPr id="14" name="Text 11"/>
          <p:cNvSpPr/>
          <p:nvPr/>
        </p:nvSpPr>
        <p:spPr>
          <a:xfrm>
            <a:off x="7553206" y="4775478"/>
            <a:ext cx="6388298" cy="944404"/>
          </a:xfrm>
          <a:prstGeom prst="rect">
            <a:avLst/>
          </a:prstGeom>
          <a:noFill/>
          <a:ln/>
        </p:spPr>
        <p:txBody>
          <a:bodyPr wrap="square" lIns="0" tIns="0" rIns="0" bIns="0" rtlCol="0" anchor="t"/>
          <a:lstStyle/>
          <a:p>
            <a:pPr marL="0" indent="0" algn="l">
              <a:lnSpc>
                <a:spcPts val="2450"/>
              </a:lnSpc>
              <a:buNone/>
            </a:pPr>
            <a:r>
              <a:rPr lang="en-US" sz="1550" dirty="0">
                <a:solidFill>
                  <a:srgbClr val="443728"/>
                </a:solidFill>
                <a:latin typeface="Open Sans" pitchFamily="34" charset="0"/>
                <a:ea typeface="Open Sans" pitchFamily="34" charset="-122"/>
                <a:cs typeface="Open Sans" pitchFamily="34" charset="-120"/>
              </a:rPr>
              <a:t>A metric that calculates the ratio of minimum inter-cluster distance to maximum intra-cluster distance, representing the separation between clusters.</a:t>
            </a:r>
            <a:endParaRPr lang="en-US" sz="1550" dirty="0"/>
          </a:p>
        </p:txBody>
      </p:sp>
      <p:sp>
        <p:nvSpPr>
          <p:cNvPr id="15" name="Shape 12"/>
          <p:cNvSpPr/>
          <p:nvPr/>
        </p:nvSpPr>
        <p:spPr>
          <a:xfrm>
            <a:off x="6669167" y="6544985"/>
            <a:ext cx="688896" cy="22860"/>
          </a:xfrm>
          <a:prstGeom prst="roundRect">
            <a:avLst>
              <a:gd name="adj" fmla="val 361673"/>
            </a:avLst>
          </a:prstGeom>
          <a:solidFill>
            <a:srgbClr val="D1C8C6"/>
          </a:solidFill>
          <a:ln/>
        </p:spPr>
      </p:sp>
      <p:sp>
        <p:nvSpPr>
          <p:cNvPr id="16" name="Shape 13"/>
          <p:cNvSpPr/>
          <p:nvPr/>
        </p:nvSpPr>
        <p:spPr>
          <a:xfrm>
            <a:off x="6249114" y="6334958"/>
            <a:ext cx="442913" cy="442913"/>
          </a:xfrm>
          <a:prstGeom prst="roundRect">
            <a:avLst>
              <a:gd name="adj" fmla="val 18667"/>
            </a:avLst>
          </a:prstGeom>
          <a:solidFill>
            <a:srgbClr val="EBE2E0"/>
          </a:solidFill>
          <a:ln w="7620">
            <a:solidFill>
              <a:srgbClr val="D1C8C6"/>
            </a:solidFill>
            <a:prstDash val="solid"/>
          </a:ln>
        </p:spPr>
      </p:sp>
      <p:sp>
        <p:nvSpPr>
          <p:cNvPr id="17" name="Text 14"/>
          <p:cNvSpPr/>
          <p:nvPr/>
        </p:nvSpPr>
        <p:spPr>
          <a:xfrm>
            <a:off x="6398419" y="6408777"/>
            <a:ext cx="144185" cy="295275"/>
          </a:xfrm>
          <a:prstGeom prst="rect">
            <a:avLst/>
          </a:prstGeom>
          <a:noFill/>
          <a:ln/>
        </p:spPr>
        <p:txBody>
          <a:bodyPr wrap="none" lIns="0" tIns="0" rIns="0" bIns="0" rtlCol="0" anchor="t"/>
          <a:lstStyle/>
          <a:p>
            <a:pPr marL="0" indent="0" algn="ctr">
              <a:lnSpc>
                <a:spcPts val="2300"/>
              </a:lnSpc>
              <a:buNone/>
            </a:pPr>
            <a:r>
              <a:rPr lang="en-US" sz="2300" b="1" dirty="0">
                <a:solidFill>
                  <a:srgbClr val="443728"/>
                </a:solidFill>
                <a:latin typeface="Crimson Pro Bold" pitchFamily="34" charset="0"/>
                <a:ea typeface="Crimson Pro Bold" pitchFamily="34" charset="-122"/>
                <a:cs typeface="Crimson Pro Bold" pitchFamily="34" charset="-120"/>
              </a:rPr>
              <a:t>3</a:t>
            </a:r>
            <a:endParaRPr lang="en-US" sz="2300" dirty="0"/>
          </a:p>
        </p:txBody>
      </p:sp>
      <p:sp>
        <p:nvSpPr>
          <p:cNvPr id="18" name="Text 15"/>
          <p:cNvSpPr/>
          <p:nvPr/>
        </p:nvSpPr>
        <p:spPr>
          <a:xfrm>
            <a:off x="7553206" y="6310313"/>
            <a:ext cx="2561034" cy="307538"/>
          </a:xfrm>
          <a:prstGeom prst="rect">
            <a:avLst/>
          </a:prstGeom>
          <a:noFill/>
          <a:ln/>
        </p:spPr>
        <p:txBody>
          <a:bodyPr wrap="none" lIns="0" tIns="0" rIns="0" bIns="0" rtlCol="0" anchor="t"/>
          <a:lstStyle/>
          <a:p>
            <a:pPr marL="0" indent="0" algn="l">
              <a:lnSpc>
                <a:spcPts val="2400"/>
              </a:lnSpc>
              <a:buNone/>
            </a:pPr>
            <a:r>
              <a:rPr lang="en-US" sz="1900" b="1" dirty="0">
                <a:solidFill>
                  <a:srgbClr val="443728"/>
                </a:solidFill>
                <a:latin typeface="Crimson Pro Bold" pitchFamily="34" charset="0"/>
                <a:ea typeface="Crimson Pro Bold" pitchFamily="34" charset="-122"/>
                <a:cs typeface="Crimson Pro Bold" pitchFamily="34" charset="-120"/>
              </a:rPr>
              <a:t>Calinski-Harabasz Index</a:t>
            </a:r>
            <a:endParaRPr lang="en-US" sz="1900" dirty="0"/>
          </a:p>
        </p:txBody>
      </p:sp>
      <p:sp>
        <p:nvSpPr>
          <p:cNvPr id="19" name="Text 16"/>
          <p:cNvSpPr/>
          <p:nvPr/>
        </p:nvSpPr>
        <p:spPr>
          <a:xfrm>
            <a:off x="7553206" y="6735961"/>
            <a:ext cx="6388298" cy="629603"/>
          </a:xfrm>
          <a:prstGeom prst="rect">
            <a:avLst/>
          </a:prstGeom>
          <a:noFill/>
          <a:ln/>
        </p:spPr>
        <p:txBody>
          <a:bodyPr wrap="square" lIns="0" tIns="0" rIns="0" bIns="0" rtlCol="0" anchor="t"/>
          <a:lstStyle/>
          <a:p>
            <a:pPr marL="0" indent="0" algn="l">
              <a:lnSpc>
                <a:spcPts val="2450"/>
              </a:lnSpc>
              <a:buNone/>
            </a:pPr>
            <a:r>
              <a:rPr lang="en-US" sz="1550" dirty="0">
                <a:solidFill>
                  <a:srgbClr val="443728"/>
                </a:solidFill>
                <a:latin typeface="Open Sans" pitchFamily="34" charset="0"/>
                <a:ea typeface="Open Sans" pitchFamily="34" charset="-122"/>
                <a:cs typeface="Open Sans" pitchFamily="34" charset="-120"/>
              </a:rPr>
              <a:t>A metric that measures the ratio of between-cluster variance to within-cluster variance, indicating the overall separation of clusters.</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42196" y="630317"/>
            <a:ext cx="7832408" cy="1171099"/>
          </a:xfrm>
          <a:prstGeom prst="rect">
            <a:avLst/>
          </a:prstGeom>
          <a:noFill/>
          <a:ln/>
        </p:spPr>
        <p:txBody>
          <a:bodyPr wrap="square" lIns="0" tIns="0" rIns="0" bIns="0" rtlCol="0" anchor="t"/>
          <a:lstStyle/>
          <a:p>
            <a:pPr marL="0" indent="0">
              <a:lnSpc>
                <a:spcPts val="4600"/>
              </a:lnSpc>
              <a:buNone/>
            </a:pPr>
            <a:r>
              <a:rPr lang="en-US" sz="3650" b="1" dirty="0">
                <a:solidFill>
                  <a:srgbClr val="443728"/>
                </a:solidFill>
                <a:latin typeface="Crimson Pro Bold" pitchFamily="34" charset="0"/>
                <a:ea typeface="Crimson Pro Bold" pitchFamily="34" charset="-122"/>
                <a:cs typeface="Crimson Pro Bold" pitchFamily="34" charset="-120"/>
              </a:rPr>
              <a:t>Challenges and Limitations in Clustering Analysis</a:t>
            </a:r>
            <a:endParaRPr lang="en-US" sz="3650" dirty="0"/>
          </a:p>
        </p:txBody>
      </p:sp>
      <p:grpSp>
        <p:nvGrpSpPr>
          <p:cNvPr id="16" name="Group 15">
            <a:extLst>
              <a:ext uri="{FF2B5EF4-FFF2-40B4-BE49-F238E27FC236}">
                <a16:creationId xmlns:a16="http://schemas.microsoft.com/office/drawing/2014/main" id="{AB7A2DCA-867E-16DF-2A11-7AAA2F7AECEF}"/>
              </a:ext>
            </a:extLst>
          </p:cNvPr>
          <p:cNvGrpSpPr/>
          <p:nvPr/>
        </p:nvGrpSpPr>
        <p:grpSpPr>
          <a:xfrm>
            <a:off x="6142196" y="2082403"/>
            <a:ext cx="7832408" cy="1379220"/>
            <a:chOff x="6142196" y="2082403"/>
            <a:chExt cx="7832408" cy="1379220"/>
          </a:xfrm>
        </p:grpSpPr>
        <p:pic>
          <p:nvPicPr>
            <p:cNvPr id="4" name="Image 1" descr="preencoded.png"/>
            <p:cNvPicPr>
              <a:picLocks noChangeAspect="1"/>
            </p:cNvPicPr>
            <p:nvPr/>
          </p:nvPicPr>
          <p:blipFill>
            <a:blip r:embed="rId4"/>
            <a:stretch>
              <a:fillRect/>
            </a:stretch>
          </p:blipFill>
          <p:spPr>
            <a:xfrm>
              <a:off x="6142196" y="2082403"/>
              <a:ext cx="936903" cy="1379220"/>
            </a:xfrm>
            <a:prstGeom prst="rect">
              <a:avLst/>
            </a:prstGeom>
          </p:spPr>
        </p:pic>
        <p:sp>
          <p:nvSpPr>
            <p:cNvPr id="5" name="Text 1"/>
            <p:cNvSpPr/>
            <p:nvPr/>
          </p:nvSpPr>
          <p:spPr>
            <a:xfrm>
              <a:off x="7360087" y="2269688"/>
              <a:ext cx="4484965" cy="292656"/>
            </a:xfrm>
            <a:prstGeom prst="rect">
              <a:avLst/>
            </a:prstGeom>
            <a:noFill/>
            <a:ln/>
          </p:spPr>
          <p:txBody>
            <a:bodyPr wrap="none" lIns="0" tIns="0" rIns="0" bIns="0" rtlCol="0" anchor="t"/>
            <a:lstStyle/>
            <a:p>
              <a:pPr marL="0" indent="0" algn="l">
                <a:lnSpc>
                  <a:spcPts val="2300"/>
                </a:lnSpc>
                <a:buNone/>
              </a:pPr>
              <a:r>
                <a:rPr lang="en-US" sz="1800" b="1" dirty="0">
                  <a:solidFill>
                    <a:srgbClr val="443728"/>
                  </a:solidFill>
                  <a:latin typeface="Crimson Pro Bold" pitchFamily="34" charset="0"/>
                  <a:ea typeface="Crimson Pro Bold" pitchFamily="34" charset="-122"/>
                  <a:cs typeface="Crimson Pro Bold" pitchFamily="34" charset="-120"/>
                </a:rPr>
                <a:t>Determining the Optimal Number of Clusters</a:t>
              </a:r>
              <a:endParaRPr lang="en-US" sz="1800" dirty="0"/>
            </a:p>
          </p:txBody>
        </p:sp>
        <p:sp>
          <p:nvSpPr>
            <p:cNvPr id="6" name="Text 2"/>
            <p:cNvSpPr/>
            <p:nvPr/>
          </p:nvSpPr>
          <p:spPr>
            <a:xfrm>
              <a:off x="7360087" y="2674739"/>
              <a:ext cx="6614517" cy="599599"/>
            </a:xfrm>
            <a:prstGeom prst="rect">
              <a:avLst/>
            </a:prstGeom>
            <a:noFill/>
            <a:ln/>
          </p:spPr>
          <p:txBody>
            <a:bodyPr wrap="square" lIns="0" tIns="0" rIns="0" bIns="0" rtlCol="0" anchor="t"/>
            <a:lstStyle/>
            <a:p>
              <a:pPr marL="0" indent="0" algn="l">
                <a:lnSpc>
                  <a:spcPts val="2350"/>
                </a:lnSpc>
                <a:buNone/>
              </a:pPr>
              <a:r>
                <a:rPr lang="en-US" sz="1450" dirty="0">
                  <a:solidFill>
                    <a:srgbClr val="443728"/>
                  </a:solidFill>
                  <a:latin typeface="Open Sans" pitchFamily="34" charset="0"/>
                  <a:ea typeface="Open Sans" pitchFamily="34" charset="-122"/>
                  <a:cs typeface="Open Sans" pitchFamily="34" charset="-120"/>
                </a:rPr>
                <a:t>Choosing the right number of clusters can be challenging and often requires experimentation with different algorithms and techniques.</a:t>
              </a:r>
              <a:endParaRPr lang="en-US" sz="1450" dirty="0"/>
            </a:p>
          </p:txBody>
        </p:sp>
      </p:grpSp>
      <p:grpSp>
        <p:nvGrpSpPr>
          <p:cNvPr id="17" name="Group 16">
            <a:extLst>
              <a:ext uri="{FF2B5EF4-FFF2-40B4-BE49-F238E27FC236}">
                <a16:creationId xmlns:a16="http://schemas.microsoft.com/office/drawing/2014/main" id="{FE584748-6F38-4919-6489-ADD430615DDB}"/>
              </a:ext>
            </a:extLst>
          </p:cNvPr>
          <p:cNvGrpSpPr/>
          <p:nvPr/>
        </p:nvGrpSpPr>
        <p:grpSpPr>
          <a:xfrm>
            <a:off x="6142196" y="4459736"/>
            <a:ext cx="7832408" cy="1379220"/>
            <a:chOff x="6142196" y="3461623"/>
            <a:chExt cx="7832408" cy="1379220"/>
          </a:xfrm>
        </p:grpSpPr>
        <p:pic>
          <p:nvPicPr>
            <p:cNvPr id="7" name="Image 2" descr="preencoded.png"/>
            <p:cNvPicPr>
              <a:picLocks noChangeAspect="1"/>
            </p:cNvPicPr>
            <p:nvPr/>
          </p:nvPicPr>
          <p:blipFill>
            <a:blip r:embed="rId5"/>
            <a:stretch>
              <a:fillRect/>
            </a:stretch>
          </p:blipFill>
          <p:spPr>
            <a:xfrm>
              <a:off x="6142196" y="3461623"/>
              <a:ext cx="936903" cy="1379220"/>
            </a:xfrm>
            <a:prstGeom prst="rect">
              <a:avLst/>
            </a:prstGeom>
          </p:spPr>
        </p:pic>
        <p:sp>
          <p:nvSpPr>
            <p:cNvPr id="8" name="Text 3"/>
            <p:cNvSpPr/>
            <p:nvPr/>
          </p:nvSpPr>
          <p:spPr>
            <a:xfrm>
              <a:off x="7360087" y="3648908"/>
              <a:ext cx="3333869" cy="292656"/>
            </a:xfrm>
            <a:prstGeom prst="rect">
              <a:avLst/>
            </a:prstGeom>
            <a:noFill/>
            <a:ln/>
          </p:spPr>
          <p:txBody>
            <a:bodyPr wrap="none" lIns="0" tIns="0" rIns="0" bIns="0" rtlCol="0" anchor="t"/>
            <a:lstStyle/>
            <a:p>
              <a:pPr marL="0" indent="0" algn="l">
                <a:lnSpc>
                  <a:spcPts val="2300"/>
                </a:lnSpc>
                <a:buNone/>
              </a:pPr>
              <a:r>
                <a:rPr lang="en-US" sz="1800" b="1" dirty="0">
                  <a:solidFill>
                    <a:srgbClr val="443728"/>
                  </a:solidFill>
                  <a:latin typeface="Crimson Pro Bold" pitchFamily="34" charset="0"/>
                  <a:ea typeface="Crimson Pro Bold" pitchFamily="34" charset="-122"/>
                  <a:cs typeface="Crimson Pro Bold" pitchFamily="34" charset="-120"/>
                </a:rPr>
                <a:t>Handling High-Dimensional Data</a:t>
              </a:r>
              <a:endParaRPr lang="en-US" sz="1800" dirty="0"/>
            </a:p>
          </p:txBody>
        </p:sp>
        <p:sp>
          <p:nvSpPr>
            <p:cNvPr id="9" name="Text 4"/>
            <p:cNvSpPr/>
            <p:nvPr/>
          </p:nvSpPr>
          <p:spPr>
            <a:xfrm>
              <a:off x="7360087" y="4053959"/>
              <a:ext cx="6614517" cy="599599"/>
            </a:xfrm>
            <a:prstGeom prst="rect">
              <a:avLst/>
            </a:prstGeom>
            <a:noFill/>
            <a:ln/>
          </p:spPr>
          <p:txBody>
            <a:bodyPr wrap="square" lIns="0" tIns="0" rIns="0" bIns="0" rtlCol="0" anchor="t"/>
            <a:lstStyle/>
            <a:p>
              <a:pPr marL="0" indent="0" algn="l">
                <a:lnSpc>
                  <a:spcPts val="2350"/>
                </a:lnSpc>
                <a:buNone/>
              </a:pPr>
              <a:r>
                <a:rPr lang="en-US" sz="1450" dirty="0">
                  <a:solidFill>
                    <a:srgbClr val="443728"/>
                  </a:solidFill>
                  <a:latin typeface="Open Sans" pitchFamily="34" charset="0"/>
                  <a:ea typeface="Open Sans" pitchFamily="34" charset="-122"/>
                  <a:cs typeface="Open Sans" pitchFamily="34" charset="-120"/>
                </a:rPr>
                <a:t>Clustering high-dimensional data can be computationally expensive and prone to noise and outliers, requiring careful data preprocessing.</a:t>
              </a:r>
              <a:endParaRPr lang="en-US" sz="1450" dirty="0"/>
            </a:p>
          </p:txBody>
        </p:sp>
      </p:grpSp>
      <p:grpSp>
        <p:nvGrpSpPr>
          <p:cNvPr id="18" name="Group 17">
            <a:extLst>
              <a:ext uri="{FF2B5EF4-FFF2-40B4-BE49-F238E27FC236}">
                <a16:creationId xmlns:a16="http://schemas.microsoft.com/office/drawing/2014/main" id="{D3C64F8C-F578-5AE3-6DEB-2A074BFEE370}"/>
              </a:ext>
            </a:extLst>
          </p:cNvPr>
          <p:cNvGrpSpPr/>
          <p:nvPr/>
        </p:nvGrpSpPr>
        <p:grpSpPr>
          <a:xfrm>
            <a:off x="-3077587" y="8671584"/>
            <a:ext cx="7832408" cy="1379220"/>
            <a:chOff x="6142196" y="4840843"/>
            <a:chExt cx="7832408" cy="1379220"/>
          </a:xfrm>
        </p:grpSpPr>
        <p:pic>
          <p:nvPicPr>
            <p:cNvPr id="10" name="Image 3" descr="preencoded.png"/>
            <p:cNvPicPr>
              <a:picLocks noChangeAspect="1"/>
            </p:cNvPicPr>
            <p:nvPr/>
          </p:nvPicPr>
          <p:blipFill>
            <a:blip r:embed="rId6"/>
            <a:stretch>
              <a:fillRect/>
            </a:stretch>
          </p:blipFill>
          <p:spPr>
            <a:xfrm>
              <a:off x="6142196" y="4840843"/>
              <a:ext cx="936903" cy="1379220"/>
            </a:xfrm>
            <a:prstGeom prst="rect">
              <a:avLst/>
            </a:prstGeom>
          </p:spPr>
        </p:pic>
        <p:sp>
          <p:nvSpPr>
            <p:cNvPr id="11" name="Text 5"/>
            <p:cNvSpPr/>
            <p:nvPr/>
          </p:nvSpPr>
          <p:spPr>
            <a:xfrm>
              <a:off x="7360087" y="5028128"/>
              <a:ext cx="2342317" cy="292656"/>
            </a:xfrm>
            <a:prstGeom prst="rect">
              <a:avLst/>
            </a:prstGeom>
            <a:noFill/>
            <a:ln/>
          </p:spPr>
          <p:txBody>
            <a:bodyPr wrap="none" lIns="0" tIns="0" rIns="0" bIns="0" rtlCol="0" anchor="t"/>
            <a:lstStyle/>
            <a:p>
              <a:pPr marL="0" indent="0" algn="l">
                <a:lnSpc>
                  <a:spcPts val="2300"/>
                </a:lnSpc>
                <a:buNone/>
              </a:pPr>
              <a:r>
                <a:rPr lang="en-US" sz="1800" b="1" dirty="0">
                  <a:solidFill>
                    <a:srgbClr val="443728"/>
                  </a:solidFill>
                  <a:latin typeface="Crimson Pro Bold" pitchFamily="34" charset="0"/>
                  <a:ea typeface="Crimson Pro Bold" pitchFamily="34" charset="-122"/>
                  <a:cs typeface="Crimson Pro Bold" pitchFamily="34" charset="-120"/>
                </a:rPr>
                <a:t>Sensitivity to Outliers</a:t>
              </a:r>
              <a:endParaRPr lang="en-US" sz="1800" dirty="0"/>
            </a:p>
          </p:txBody>
        </p:sp>
        <p:sp>
          <p:nvSpPr>
            <p:cNvPr id="12" name="Text 6"/>
            <p:cNvSpPr/>
            <p:nvPr/>
          </p:nvSpPr>
          <p:spPr>
            <a:xfrm>
              <a:off x="7360087" y="5433179"/>
              <a:ext cx="6614517" cy="599599"/>
            </a:xfrm>
            <a:prstGeom prst="rect">
              <a:avLst/>
            </a:prstGeom>
            <a:noFill/>
            <a:ln/>
          </p:spPr>
          <p:txBody>
            <a:bodyPr wrap="square" lIns="0" tIns="0" rIns="0" bIns="0" rtlCol="0" anchor="t"/>
            <a:lstStyle/>
            <a:p>
              <a:pPr marL="0" indent="0" algn="l">
                <a:lnSpc>
                  <a:spcPts val="2350"/>
                </a:lnSpc>
                <a:buNone/>
              </a:pPr>
              <a:r>
                <a:rPr lang="en-US" sz="1450" dirty="0">
                  <a:solidFill>
                    <a:srgbClr val="443728"/>
                  </a:solidFill>
                  <a:latin typeface="Open Sans" pitchFamily="34" charset="0"/>
                  <a:ea typeface="Open Sans" pitchFamily="34" charset="-122"/>
                  <a:cs typeface="Open Sans" pitchFamily="34" charset="-120"/>
                </a:rPr>
                <a:t>Clustering algorithms can be sensitive to outliers, which can distort the results and lead to incorrect cluster assignments.</a:t>
              </a:r>
              <a:endParaRPr lang="en-US" sz="1450" dirty="0"/>
            </a:p>
          </p:txBody>
        </p:sp>
      </p:grpSp>
      <p:grpSp>
        <p:nvGrpSpPr>
          <p:cNvPr id="19" name="Group 18">
            <a:extLst>
              <a:ext uri="{FF2B5EF4-FFF2-40B4-BE49-F238E27FC236}">
                <a16:creationId xmlns:a16="http://schemas.microsoft.com/office/drawing/2014/main" id="{3DAA01FA-C599-A193-A364-069734E81975}"/>
              </a:ext>
            </a:extLst>
          </p:cNvPr>
          <p:cNvGrpSpPr/>
          <p:nvPr/>
        </p:nvGrpSpPr>
        <p:grpSpPr>
          <a:xfrm>
            <a:off x="6325076" y="8995910"/>
            <a:ext cx="7832408" cy="1379220"/>
            <a:chOff x="6142196" y="6220063"/>
            <a:chExt cx="7832408" cy="1379220"/>
          </a:xfrm>
        </p:grpSpPr>
        <p:pic>
          <p:nvPicPr>
            <p:cNvPr id="13" name="Image 4" descr="preencoded.png"/>
            <p:cNvPicPr>
              <a:picLocks noChangeAspect="1"/>
            </p:cNvPicPr>
            <p:nvPr/>
          </p:nvPicPr>
          <p:blipFill>
            <a:blip r:embed="rId7"/>
            <a:stretch>
              <a:fillRect/>
            </a:stretch>
          </p:blipFill>
          <p:spPr>
            <a:xfrm>
              <a:off x="6142196" y="6220063"/>
              <a:ext cx="936903" cy="1379220"/>
            </a:xfrm>
            <a:prstGeom prst="rect">
              <a:avLst/>
            </a:prstGeom>
          </p:spPr>
        </p:pic>
        <p:sp>
          <p:nvSpPr>
            <p:cNvPr id="14" name="Text 7"/>
            <p:cNvSpPr/>
            <p:nvPr/>
          </p:nvSpPr>
          <p:spPr>
            <a:xfrm>
              <a:off x="7360087" y="6407348"/>
              <a:ext cx="3792736" cy="292656"/>
            </a:xfrm>
            <a:prstGeom prst="rect">
              <a:avLst/>
            </a:prstGeom>
            <a:noFill/>
            <a:ln/>
          </p:spPr>
          <p:txBody>
            <a:bodyPr wrap="none" lIns="0" tIns="0" rIns="0" bIns="0" rtlCol="0" anchor="t"/>
            <a:lstStyle/>
            <a:p>
              <a:pPr marL="0" indent="0" algn="l">
                <a:lnSpc>
                  <a:spcPts val="2300"/>
                </a:lnSpc>
                <a:buNone/>
              </a:pPr>
              <a:r>
                <a:rPr lang="en-US" sz="1800" b="1" dirty="0">
                  <a:solidFill>
                    <a:srgbClr val="443728"/>
                  </a:solidFill>
                  <a:latin typeface="Crimson Pro Bold" pitchFamily="34" charset="0"/>
                  <a:ea typeface="Crimson Pro Bold" pitchFamily="34" charset="-122"/>
                  <a:cs typeface="Crimson Pro Bold" pitchFamily="34" charset="-120"/>
                </a:rPr>
                <a:t>Interpretability and Domain Expertise</a:t>
              </a:r>
              <a:endParaRPr lang="en-US" sz="1800" dirty="0"/>
            </a:p>
          </p:txBody>
        </p:sp>
        <p:sp>
          <p:nvSpPr>
            <p:cNvPr id="15" name="Text 8"/>
            <p:cNvSpPr/>
            <p:nvPr/>
          </p:nvSpPr>
          <p:spPr>
            <a:xfrm>
              <a:off x="7360087" y="6812399"/>
              <a:ext cx="6614517" cy="599599"/>
            </a:xfrm>
            <a:prstGeom prst="rect">
              <a:avLst/>
            </a:prstGeom>
            <a:noFill/>
            <a:ln/>
          </p:spPr>
          <p:txBody>
            <a:bodyPr wrap="square" lIns="0" tIns="0" rIns="0" bIns="0" rtlCol="0" anchor="t"/>
            <a:lstStyle/>
            <a:p>
              <a:pPr marL="0" indent="0" algn="l">
                <a:lnSpc>
                  <a:spcPts val="2350"/>
                </a:lnSpc>
                <a:buNone/>
              </a:pPr>
              <a:r>
                <a:rPr lang="en-US" sz="1450" dirty="0">
                  <a:solidFill>
                    <a:srgbClr val="443728"/>
                  </a:solidFill>
                  <a:latin typeface="Open Sans" pitchFamily="34" charset="0"/>
                  <a:ea typeface="Open Sans" pitchFamily="34" charset="-122"/>
                  <a:cs typeface="Open Sans" pitchFamily="34" charset="-120"/>
                </a:rPr>
                <a:t>Interpreting clustering results requires domain expertise to understand the meaning of clusters and their relevance to specific business problems.</a:t>
              </a:r>
              <a:endParaRPr lang="en-US" sz="1450" dirty="0"/>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F5BC3-83A7-FC5A-3103-B56289C7882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DA48EB6-C76C-821D-4BD1-CB97023BDAF8}"/>
              </a:ext>
            </a:extLst>
          </p:cNvPr>
          <p:cNvPicPr>
            <a:picLocks noChangeAspect="1"/>
          </p:cNvPicPr>
          <p:nvPr/>
        </p:nvPicPr>
        <p:blipFill>
          <a:blip r:embed="rId3"/>
          <a:stretch>
            <a:fillRect/>
          </a:stretch>
        </p:blipFill>
        <p:spPr>
          <a:xfrm>
            <a:off x="8769192" y="0"/>
            <a:ext cx="5486400" cy="8229600"/>
          </a:xfrm>
          <a:prstGeom prst="rect">
            <a:avLst/>
          </a:prstGeom>
        </p:spPr>
      </p:pic>
      <p:sp>
        <p:nvSpPr>
          <p:cNvPr id="3" name="Text 0">
            <a:extLst>
              <a:ext uri="{FF2B5EF4-FFF2-40B4-BE49-F238E27FC236}">
                <a16:creationId xmlns:a16="http://schemas.microsoft.com/office/drawing/2014/main" id="{61DD1DDB-D4CA-15E7-62A2-7DCF9A329B28}"/>
              </a:ext>
            </a:extLst>
          </p:cNvPr>
          <p:cNvSpPr/>
          <p:nvPr/>
        </p:nvSpPr>
        <p:spPr>
          <a:xfrm>
            <a:off x="240091" y="299442"/>
            <a:ext cx="7832408" cy="1171099"/>
          </a:xfrm>
          <a:prstGeom prst="rect">
            <a:avLst/>
          </a:prstGeom>
          <a:noFill/>
          <a:ln/>
        </p:spPr>
        <p:txBody>
          <a:bodyPr wrap="square" lIns="0" tIns="0" rIns="0" bIns="0" rtlCol="0" anchor="t"/>
          <a:lstStyle/>
          <a:p>
            <a:pPr marL="0" indent="0">
              <a:lnSpc>
                <a:spcPts val="4600"/>
              </a:lnSpc>
              <a:buNone/>
            </a:pPr>
            <a:r>
              <a:rPr lang="en-US" sz="3650" b="1" dirty="0">
                <a:solidFill>
                  <a:srgbClr val="443728"/>
                </a:solidFill>
                <a:latin typeface="Crimson Pro Bold" pitchFamily="34" charset="0"/>
                <a:ea typeface="Crimson Pro Bold" pitchFamily="34" charset="-122"/>
                <a:cs typeface="Crimson Pro Bold" pitchFamily="34" charset="-120"/>
              </a:rPr>
              <a:t>Challenges and Limitations in Clustering Analysis</a:t>
            </a:r>
            <a:endParaRPr lang="en-US" sz="3650" dirty="0"/>
          </a:p>
        </p:txBody>
      </p:sp>
      <p:grpSp>
        <p:nvGrpSpPr>
          <p:cNvPr id="16" name="Group 15">
            <a:extLst>
              <a:ext uri="{FF2B5EF4-FFF2-40B4-BE49-F238E27FC236}">
                <a16:creationId xmlns:a16="http://schemas.microsoft.com/office/drawing/2014/main" id="{24219824-D365-5CBD-5969-E543CF778EA3}"/>
              </a:ext>
            </a:extLst>
          </p:cNvPr>
          <p:cNvGrpSpPr/>
          <p:nvPr/>
        </p:nvGrpSpPr>
        <p:grpSpPr>
          <a:xfrm>
            <a:off x="15408116" y="1000363"/>
            <a:ext cx="7832408" cy="1379220"/>
            <a:chOff x="6142196" y="2082403"/>
            <a:chExt cx="7832408" cy="1379220"/>
          </a:xfrm>
        </p:grpSpPr>
        <p:pic>
          <p:nvPicPr>
            <p:cNvPr id="4" name="Image 1" descr="preencoded.png">
              <a:extLst>
                <a:ext uri="{FF2B5EF4-FFF2-40B4-BE49-F238E27FC236}">
                  <a16:creationId xmlns:a16="http://schemas.microsoft.com/office/drawing/2014/main" id="{9E61FCFE-2D9C-9576-8DF4-8AE5983FFC9D}"/>
                </a:ext>
              </a:extLst>
            </p:cNvPr>
            <p:cNvPicPr>
              <a:picLocks noChangeAspect="1"/>
            </p:cNvPicPr>
            <p:nvPr/>
          </p:nvPicPr>
          <p:blipFill>
            <a:blip r:embed="rId4"/>
            <a:stretch>
              <a:fillRect/>
            </a:stretch>
          </p:blipFill>
          <p:spPr>
            <a:xfrm>
              <a:off x="6142196" y="2082403"/>
              <a:ext cx="936903" cy="1379220"/>
            </a:xfrm>
            <a:prstGeom prst="rect">
              <a:avLst/>
            </a:prstGeom>
          </p:spPr>
        </p:pic>
        <p:sp>
          <p:nvSpPr>
            <p:cNvPr id="5" name="Text 1">
              <a:extLst>
                <a:ext uri="{FF2B5EF4-FFF2-40B4-BE49-F238E27FC236}">
                  <a16:creationId xmlns:a16="http://schemas.microsoft.com/office/drawing/2014/main" id="{195DD386-C681-AC58-CEDF-DAC2404F0455}"/>
                </a:ext>
              </a:extLst>
            </p:cNvPr>
            <p:cNvSpPr/>
            <p:nvPr/>
          </p:nvSpPr>
          <p:spPr>
            <a:xfrm>
              <a:off x="7360087" y="2269688"/>
              <a:ext cx="4484965" cy="292656"/>
            </a:xfrm>
            <a:prstGeom prst="rect">
              <a:avLst/>
            </a:prstGeom>
            <a:noFill/>
            <a:ln/>
          </p:spPr>
          <p:txBody>
            <a:bodyPr wrap="none" lIns="0" tIns="0" rIns="0" bIns="0" rtlCol="0" anchor="t"/>
            <a:lstStyle/>
            <a:p>
              <a:pPr marL="0" indent="0" algn="l">
                <a:lnSpc>
                  <a:spcPts val="2300"/>
                </a:lnSpc>
                <a:buNone/>
              </a:pPr>
              <a:r>
                <a:rPr lang="en-US" sz="1800" b="1" dirty="0">
                  <a:solidFill>
                    <a:srgbClr val="443728"/>
                  </a:solidFill>
                  <a:latin typeface="Crimson Pro Bold" pitchFamily="34" charset="0"/>
                  <a:ea typeface="Crimson Pro Bold" pitchFamily="34" charset="-122"/>
                  <a:cs typeface="Crimson Pro Bold" pitchFamily="34" charset="-120"/>
                </a:rPr>
                <a:t>Determining the Optimal Number of Clusters</a:t>
              </a:r>
              <a:endParaRPr lang="en-US" sz="1800" dirty="0"/>
            </a:p>
          </p:txBody>
        </p:sp>
        <p:sp>
          <p:nvSpPr>
            <p:cNvPr id="6" name="Text 2">
              <a:extLst>
                <a:ext uri="{FF2B5EF4-FFF2-40B4-BE49-F238E27FC236}">
                  <a16:creationId xmlns:a16="http://schemas.microsoft.com/office/drawing/2014/main" id="{3290A816-6B81-1DC9-3B31-C6332F1F7E43}"/>
                </a:ext>
              </a:extLst>
            </p:cNvPr>
            <p:cNvSpPr/>
            <p:nvPr/>
          </p:nvSpPr>
          <p:spPr>
            <a:xfrm>
              <a:off x="7360087" y="2674739"/>
              <a:ext cx="6614517" cy="599599"/>
            </a:xfrm>
            <a:prstGeom prst="rect">
              <a:avLst/>
            </a:prstGeom>
            <a:noFill/>
            <a:ln/>
          </p:spPr>
          <p:txBody>
            <a:bodyPr wrap="square" lIns="0" tIns="0" rIns="0" bIns="0" rtlCol="0" anchor="t"/>
            <a:lstStyle/>
            <a:p>
              <a:pPr marL="0" indent="0" algn="l">
                <a:lnSpc>
                  <a:spcPts val="2350"/>
                </a:lnSpc>
                <a:buNone/>
              </a:pPr>
              <a:r>
                <a:rPr lang="en-US" sz="1450" dirty="0">
                  <a:solidFill>
                    <a:srgbClr val="443728"/>
                  </a:solidFill>
                  <a:latin typeface="Open Sans" pitchFamily="34" charset="0"/>
                  <a:ea typeface="Open Sans" pitchFamily="34" charset="-122"/>
                  <a:cs typeface="Open Sans" pitchFamily="34" charset="-120"/>
                </a:rPr>
                <a:t>Choosing the right number of clusters can be challenging and often requires experimentation with different algorithms and techniques.</a:t>
              </a:r>
              <a:endParaRPr lang="en-US" sz="1450" dirty="0"/>
            </a:p>
          </p:txBody>
        </p:sp>
      </p:grpSp>
      <p:grpSp>
        <p:nvGrpSpPr>
          <p:cNvPr id="17" name="Group 16">
            <a:extLst>
              <a:ext uri="{FF2B5EF4-FFF2-40B4-BE49-F238E27FC236}">
                <a16:creationId xmlns:a16="http://schemas.microsoft.com/office/drawing/2014/main" id="{88CC417D-C8A8-CE9C-33AF-1DCFC5367A7C}"/>
              </a:ext>
            </a:extLst>
          </p:cNvPr>
          <p:cNvGrpSpPr/>
          <p:nvPr/>
        </p:nvGrpSpPr>
        <p:grpSpPr>
          <a:xfrm>
            <a:off x="18868489" y="3560457"/>
            <a:ext cx="7832408" cy="1379220"/>
            <a:chOff x="6142196" y="3461623"/>
            <a:chExt cx="7832408" cy="1379220"/>
          </a:xfrm>
        </p:grpSpPr>
        <p:pic>
          <p:nvPicPr>
            <p:cNvPr id="7" name="Image 2" descr="preencoded.png">
              <a:extLst>
                <a:ext uri="{FF2B5EF4-FFF2-40B4-BE49-F238E27FC236}">
                  <a16:creationId xmlns:a16="http://schemas.microsoft.com/office/drawing/2014/main" id="{C5D04DC5-67A9-82B7-E98C-DFE5E26CBCE4}"/>
                </a:ext>
              </a:extLst>
            </p:cNvPr>
            <p:cNvPicPr>
              <a:picLocks noChangeAspect="1"/>
            </p:cNvPicPr>
            <p:nvPr/>
          </p:nvPicPr>
          <p:blipFill>
            <a:blip r:embed="rId5"/>
            <a:stretch>
              <a:fillRect/>
            </a:stretch>
          </p:blipFill>
          <p:spPr>
            <a:xfrm>
              <a:off x="6142196" y="3461623"/>
              <a:ext cx="936903" cy="1379220"/>
            </a:xfrm>
            <a:prstGeom prst="rect">
              <a:avLst/>
            </a:prstGeom>
          </p:spPr>
        </p:pic>
        <p:sp>
          <p:nvSpPr>
            <p:cNvPr id="8" name="Text 3">
              <a:extLst>
                <a:ext uri="{FF2B5EF4-FFF2-40B4-BE49-F238E27FC236}">
                  <a16:creationId xmlns:a16="http://schemas.microsoft.com/office/drawing/2014/main" id="{D3B1E6C7-A882-862C-B752-60BE3961B895}"/>
                </a:ext>
              </a:extLst>
            </p:cNvPr>
            <p:cNvSpPr/>
            <p:nvPr/>
          </p:nvSpPr>
          <p:spPr>
            <a:xfrm>
              <a:off x="7360087" y="3648908"/>
              <a:ext cx="3333869" cy="292656"/>
            </a:xfrm>
            <a:prstGeom prst="rect">
              <a:avLst/>
            </a:prstGeom>
            <a:noFill/>
            <a:ln/>
          </p:spPr>
          <p:txBody>
            <a:bodyPr wrap="none" lIns="0" tIns="0" rIns="0" bIns="0" rtlCol="0" anchor="t"/>
            <a:lstStyle/>
            <a:p>
              <a:pPr marL="0" indent="0" algn="l">
                <a:lnSpc>
                  <a:spcPts val="2300"/>
                </a:lnSpc>
                <a:buNone/>
              </a:pPr>
              <a:r>
                <a:rPr lang="en-US" sz="1800" b="1" dirty="0">
                  <a:solidFill>
                    <a:srgbClr val="443728"/>
                  </a:solidFill>
                  <a:latin typeface="Crimson Pro Bold" pitchFamily="34" charset="0"/>
                  <a:ea typeface="Crimson Pro Bold" pitchFamily="34" charset="-122"/>
                  <a:cs typeface="Crimson Pro Bold" pitchFamily="34" charset="-120"/>
                </a:rPr>
                <a:t>Handling High-Dimensional Data</a:t>
              </a:r>
              <a:endParaRPr lang="en-US" sz="1800" dirty="0"/>
            </a:p>
          </p:txBody>
        </p:sp>
        <p:sp>
          <p:nvSpPr>
            <p:cNvPr id="9" name="Text 4">
              <a:extLst>
                <a:ext uri="{FF2B5EF4-FFF2-40B4-BE49-F238E27FC236}">
                  <a16:creationId xmlns:a16="http://schemas.microsoft.com/office/drawing/2014/main" id="{364332D5-1845-1474-C929-91A2AD9869E8}"/>
                </a:ext>
              </a:extLst>
            </p:cNvPr>
            <p:cNvSpPr/>
            <p:nvPr/>
          </p:nvSpPr>
          <p:spPr>
            <a:xfrm>
              <a:off x="7360087" y="4053959"/>
              <a:ext cx="6614517" cy="599599"/>
            </a:xfrm>
            <a:prstGeom prst="rect">
              <a:avLst/>
            </a:prstGeom>
            <a:noFill/>
            <a:ln/>
          </p:spPr>
          <p:txBody>
            <a:bodyPr wrap="square" lIns="0" tIns="0" rIns="0" bIns="0" rtlCol="0" anchor="t"/>
            <a:lstStyle/>
            <a:p>
              <a:pPr marL="0" indent="0" algn="l">
                <a:lnSpc>
                  <a:spcPts val="2350"/>
                </a:lnSpc>
                <a:buNone/>
              </a:pPr>
              <a:r>
                <a:rPr lang="en-US" sz="1450" dirty="0">
                  <a:solidFill>
                    <a:srgbClr val="443728"/>
                  </a:solidFill>
                  <a:latin typeface="Open Sans" pitchFamily="34" charset="0"/>
                  <a:ea typeface="Open Sans" pitchFamily="34" charset="-122"/>
                  <a:cs typeface="Open Sans" pitchFamily="34" charset="-120"/>
                </a:rPr>
                <a:t>Clustering high-dimensional data can be computationally expensive and prone to noise and outliers, requiring careful data preprocessing.</a:t>
              </a:r>
              <a:endParaRPr lang="en-US" sz="1450" dirty="0"/>
            </a:p>
          </p:txBody>
        </p:sp>
      </p:grpSp>
      <p:grpSp>
        <p:nvGrpSpPr>
          <p:cNvPr id="18" name="Group 17">
            <a:extLst>
              <a:ext uri="{FF2B5EF4-FFF2-40B4-BE49-F238E27FC236}">
                <a16:creationId xmlns:a16="http://schemas.microsoft.com/office/drawing/2014/main" id="{5C67BE37-AC5B-A83E-84D1-CE98AD06497E}"/>
              </a:ext>
            </a:extLst>
          </p:cNvPr>
          <p:cNvGrpSpPr/>
          <p:nvPr/>
        </p:nvGrpSpPr>
        <p:grpSpPr>
          <a:xfrm>
            <a:off x="240091" y="2379583"/>
            <a:ext cx="7832408" cy="1379220"/>
            <a:chOff x="6142196" y="4840843"/>
            <a:chExt cx="7832408" cy="1379220"/>
          </a:xfrm>
        </p:grpSpPr>
        <p:pic>
          <p:nvPicPr>
            <p:cNvPr id="10" name="Image 3" descr="preencoded.png">
              <a:extLst>
                <a:ext uri="{FF2B5EF4-FFF2-40B4-BE49-F238E27FC236}">
                  <a16:creationId xmlns:a16="http://schemas.microsoft.com/office/drawing/2014/main" id="{F11B7B6F-C0D1-BCD1-BE7E-13CF0DD084B0}"/>
                </a:ext>
              </a:extLst>
            </p:cNvPr>
            <p:cNvPicPr>
              <a:picLocks noChangeAspect="1"/>
            </p:cNvPicPr>
            <p:nvPr/>
          </p:nvPicPr>
          <p:blipFill>
            <a:blip r:embed="rId6"/>
            <a:stretch>
              <a:fillRect/>
            </a:stretch>
          </p:blipFill>
          <p:spPr>
            <a:xfrm>
              <a:off x="6142196" y="4840843"/>
              <a:ext cx="936903" cy="1379220"/>
            </a:xfrm>
            <a:prstGeom prst="rect">
              <a:avLst/>
            </a:prstGeom>
          </p:spPr>
        </p:pic>
        <p:sp>
          <p:nvSpPr>
            <p:cNvPr id="11" name="Text 5">
              <a:extLst>
                <a:ext uri="{FF2B5EF4-FFF2-40B4-BE49-F238E27FC236}">
                  <a16:creationId xmlns:a16="http://schemas.microsoft.com/office/drawing/2014/main" id="{3E75BEC2-C0ED-5716-8F7B-265C05F24545}"/>
                </a:ext>
              </a:extLst>
            </p:cNvPr>
            <p:cNvSpPr/>
            <p:nvPr/>
          </p:nvSpPr>
          <p:spPr>
            <a:xfrm>
              <a:off x="7360087" y="5028128"/>
              <a:ext cx="2342317" cy="292656"/>
            </a:xfrm>
            <a:prstGeom prst="rect">
              <a:avLst/>
            </a:prstGeom>
            <a:noFill/>
            <a:ln/>
          </p:spPr>
          <p:txBody>
            <a:bodyPr wrap="none" lIns="0" tIns="0" rIns="0" bIns="0" rtlCol="0" anchor="t"/>
            <a:lstStyle/>
            <a:p>
              <a:pPr marL="0" indent="0" algn="l">
                <a:lnSpc>
                  <a:spcPts val="2300"/>
                </a:lnSpc>
                <a:buNone/>
              </a:pPr>
              <a:r>
                <a:rPr lang="en-US" sz="1800" b="1" dirty="0">
                  <a:solidFill>
                    <a:srgbClr val="443728"/>
                  </a:solidFill>
                  <a:latin typeface="Crimson Pro Bold" pitchFamily="34" charset="0"/>
                  <a:ea typeface="Crimson Pro Bold" pitchFamily="34" charset="-122"/>
                  <a:cs typeface="Crimson Pro Bold" pitchFamily="34" charset="-120"/>
                </a:rPr>
                <a:t>Sensitivity to Outliers</a:t>
              </a:r>
              <a:endParaRPr lang="en-US" sz="1800" dirty="0"/>
            </a:p>
          </p:txBody>
        </p:sp>
        <p:sp>
          <p:nvSpPr>
            <p:cNvPr id="12" name="Text 6">
              <a:extLst>
                <a:ext uri="{FF2B5EF4-FFF2-40B4-BE49-F238E27FC236}">
                  <a16:creationId xmlns:a16="http://schemas.microsoft.com/office/drawing/2014/main" id="{1F131438-B854-1684-C708-EFC8DB9B7DED}"/>
                </a:ext>
              </a:extLst>
            </p:cNvPr>
            <p:cNvSpPr/>
            <p:nvPr/>
          </p:nvSpPr>
          <p:spPr>
            <a:xfrm>
              <a:off x="7360087" y="5433179"/>
              <a:ext cx="6614517" cy="599599"/>
            </a:xfrm>
            <a:prstGeom prst="rect">
              <a:avLst/>
            </a:prstGeom>
            <a:noFill/>
            <a:ln/>
          </p:spPr>
          <p:txBody>
            <a:bodyPr wrap="square" lIns="0" tIns="0" rIns="0" bIns="0" rtlCol="0" anchor="t"/>
            <a:lstStyle/>
            <a:p>
              <a:pPr marL="0" indent="0" algn="l">
                <a:lnSpc>
                  <a:spcPts val="2350"/>
                </a:lnSpc>
                <a:buNone/>
              </a:pPr>
              <a:r>
                <a:rPr lang="en-US" sz="1450" dirty="0">
                  <a:solidFill>
                    <a:srgbClr val="443728"/>
                  </a:solidFill>
                  <a:latin typeface="Open Sans" pitchFamily="34" charset="0"/>
                  <a:ea typeface="Open Sans" pitchFamily="34" charset="-122"/>
                  <a:cs typeface="Open Sans" pitchFamily="34" charset="-120"/>
                </a:rPr>
                <a:t>Clustering algorithms can be sensitive to outliers, which can distort the results and lead to incorrect cluster assignments.</a:t>
              </a:r>
              <a:endParaRPr lang="en-US" sz="1450" dirty="0"/>
            </a:p>
          </p:txBody>
        </p:sp>
      </p:grpSp>
      <p:grpSp>
        <p:nvGrpSpPr>
          <p:cNvPr id="19" name="Group 18">
            <a:extLst>
              <a:ext uri="{FF2B5EF4-FFF2-40B4-BE49-F238E27FC236}">
                <a16:creationId xmlns:a16="http://schemas.microsoft.com/office/drawing/2014/main" id="{26B306AF-FC43-C14A-F2B2-F23CA8ABB3B2}"/>
              </a:ext>
            </a:extLst>
          </p:cNvPr>
          <p:cNvGrpSpPr/>
          <p:nvPr/>
        </p:nvGrpSpPr>
        <p:grpSpPr>
          <a:xfrm>
            <a:off x="236578" y="4939677"/>
            <a:ext cx="7832408" cy="1379220"/>
            <a:chOff x="6142196" y="6220063"/>
            <a:chExt cx="7832408" cy="1379220"/>
          </a:xfrm>
        </p:grpSpPr>
        <p:pic>
          <p:nvPicPr>
            <p:cNvPr id="13" name="Image 4" descr="preencoded.png">
              <a:extLst>
                <a:ext uri="{FF2B5EF4-FFF2-40B4-BE49-F238E27FC236}">
                  <a16:creationId xmlns:a16="http://schemas.microsoft.com/office/drawing/2014/main" id="{073E9B0E-D2C0-41A2-052B-A13F47DD79BF}"/>
                </a:ext>
              </a:extLst>
            </p:cNvPr>
            <p:cNvPicPr>
              <a:picLocks noChangeAspect="1"/>
            </p:cNvPicPr>
            <p:nvPr/>
          </p:nvPicPr>
          <p:blipFill>
            <a:blip r:embed="rId7"/>
            <a:stretch>
              <a:fillRect/>
            </a:stretch>
          </p:blipFill>
          <p:spPr>
            <a:xfrm>
              <a:off x="6142196" y="6220063"/>
              <a:ext cx="936903" cy="1379220"/>
            </a:xfrm>
            <a:prstGeom prst="rect">
              <a:avLst/>
            </a:prstGeom>
          </p:spPr>
        </p:pic>
        <p:sp>
          <p:nvSpPr>
            <p:cNvPr id="14" name="Text 7">
              <a:extLst>
                <a:ext uri="{FF2B5EF4-FFF2-40B4-BE49-F238E27FC236}">
                  <a16:creationId xmlns:a16="http://schemas.microsoft.com/office/drawing/2014/main" id="{D5F17A2E-DFA1-7713-0D3C-D7D1DB3D5BF9}"/>
                </a:ext>
              </a:extLst>
            </p:cNvPr>
            <p:cNvSpPr/>
            <p:nvPr/>
          </p:nvSpPr>
          <p:spPr>
            <a:xfrm>
              <a:off x="7360087" y="6407348"/>
              <a:ext cx="3792736" cy="292656"/>
            </a:xfrm>
            <a:prstGeom prst="rect">
              <a:avLst/>
            </a:prstGeom>
            <a:noFill/>
            <a:ln/>
          </p:spPr>
          <p:txBody>
            <a:bodyPr wrap="none" lIns="0" tIns="0" rIns="0" bIns="0" rtlCol="0" anchor="t"/>
            <a:lstStyle/>
            <a:p>
              <a:pPr marL="0" indent="0" algn="l">
                <a:lnSpc>
                  <a:spcPts val="2300"/>
                </a:lnSpc>
                <a:buNone/>
              </a:pPr>
              <a:r>
                <a:rPr lang="en-US" sz="1800" b="1" dirty="0">
                  <a:solidFill>
                    <a:srgbClr val="443728"/>
                  </a:solidFill>
                  <a:latin typeface="Crimson Pro Bold" pitchFamily="34" charset="0"/>
                  <a:ea typeface="Crimson Pro Bold" pitchFamily="34" charset="-122"/>
                  <a:cs typeface="Crimson Pro Bold" pitchFamily="34" charset="-120"/>
                </a:rPr>
                <a:t>Interpretability and Domain Expertise</a:t>
              </a:r>
              <a:endParaRPr lang="en-US" sz="1800" dirty="0"/>
            </a:p>
          </p:txBody>
        </p:sp>
        <p:sp>
          <p:nvSpPr>
            <p:cNvPr id="15" name="Text 8">
              <a:extLst>
                <a:ext uri="{FF2B5EF4-FFF2-40B4-BE49-F238E27FC236}">
                  <a16:creationId xmlns:a16="http://schemas.microsoft.com/office/drawing/2014/main" id="{6D84ADFE-E028-881A-2A3F-EF1DFD3D36F2}"/>
                </a:ext>
              </a:extLst>
            </p:cNvPr>
            <p:cNvSpPr/>
            <p:nvPr/>
          </p:nvSpPr>
          <p:spPr>
            <a:xfrm>
              <a:off x="7360087" y="6812399"/>
              <a:ext cx="6614517" cy="599599"/>
            </a:xfrm>
            <a:prstGeom prst="rect">
              <a:avLst/>
            </a:prstGeom>
            <a:noFill/>
            <a:ln/>
          </p:spPr>
          <p:txBody>
            <a:bodyPr wrap="square" lIns="0" tIns="0" rIns="0" bIns="0" rtlCol="0" anchor="t"/>
            <a:lstStyle/>
            <a:p>
              <a:pPr marL="0" indent="0" algn="l">
                <a:lnSpc>
                  <a:spcPts val="2350"/>
                </a:lnSpc>
                <a:buNone/>
              </a:pPr>
              <a:r>
                <a:rPr lang="en-US" sz="1450" dirty="0">
                  <a:solidFill>
                    <a:srgbClr val="443728"/>
                  </a:solidFill>
                  <a:latin typeface="Open Sans" pitchFamily="34" charset="0"/>
                  <a:ea typeface="Open Sans" pitchFamily="34" charset="-122"/>
                  <a:cs typeface="Open Sans" pitchFamily="34" charset="-120"/>
                </a:rPr>
                <a:t>Interpreting clustering results requires domain expertise to understand the meaning of clusters and their relevance to specific business problems.</a:t>
              </a:r>
              <a:endParaRPr lang="en-US" sz="1450" dirty="0"/>
            </a:p>
          </p:txBody>
        </p:sp>
      </p:grpSp>
    </p:spTree>
    <p:extLst>
      <p:ext uri="{BB962C8B-B14F-4D97-AF65-F5344CB8AC3E}">
        <p14:creationId xmlns:p14="http://schemas.microsoft.com/office/powerpoint/2010/main" val="14767622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075611"/>
            <a:ext cx="7556421" cy="2126337"/>
          </a:xfrm>
          <a:prstGeom prst="rect">
            <a:avLst/>
          </a:prstGeom>
          <a:noFill/>
          <a:ln/>
        </p:spPr>
        <p:txBody>
          <a:bodyPr wrap="square" lIns="0" tIns="0" rIns="0" bIns="0" rtlCol="0" anchor="t"/>
          <a:lstStyle/>
          <a:p>
            <a:pPr marL="0" indent="0">
              <a:lnSpc>
                <a:spcPts val="5550"/>
              </a:lnSpc>
              <a:buNone/>
            </a:pPr>
            <a:r>
              <a:rPr lang="en-US" sz="4450" b="1" dirty="0">
                <a:solidFill>
                  <a:srgbClr val="443728"/>
                </a:solidFill>
                <a:latin typeface="Crimson Pro Bold" pitchFamily="34" charset="0"/>
                <a:ea typeface="Crimson Pro Bold" pitchFamily="34" charset="-122"/>
                <a:cs typeface="Crimson Pro Bold" pitchFamily="34" charset="-120"/>
              </a:rPr>
              <a:t>Advanced Techniques: Spectral Clustering and Density-Based Approaches</a:t>
            </a:r>
            <a:endParaRPr lang="en-US" sz="4450" dirty="0"/>
          </a:p>
        </p:txBody>
      </p:sp>
      <p:sp>
        <p:nvSpPr>
          <p:cNvPr id="4" name="Shape 1"/>
          <p:cNvSpPr/>
          <p:nvPr/>
        </p:nvSpPr>
        <p:spPr>
          <a:xfrm>
            <a:off x="6280190" y="3542109"/>
            <a:ext cx="170021" cy="1579126"/>
          </a:xfrm>
          <a:prstGeom prst="roundRect">
            <a:avLst>
              <a:gd name="adj" fmla="val 56033"/>
            </a:avLst>
          </a:prstGeom>
          <a:solidFill>
            <a:srgbClr val="EBE2E0"/>
          </a:solidFill>
          <a:ln w="7620">
            <a:solidFill>
              <a:srgbClr val="D1C8C6"/>
            </a:solidFill>
            <a:prstDash val="solid"/>
          </a:ln>
        </p:spPr>
      </p:sp>
      <p:sp>
        <p:nvSpPr>
          <p:cNvPr id="5" name="Text 2"/>
          <p:cNvSpPr/>
          <p:nvPr/>
        </p:nvSpPr>
        <p:spPr>
          <a:xfrm>
            <a:off x="6790373" y="354210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Spectral Clustering</a:t>
            </a:r>
            <a:endParaRPr lang="en-US" sz="2200" dirty="0"/>
          </a:p>
        </p:txBody>
      </p:sp>
      <p:sp>
        <p:nvSpPr>
          <p:cNvPr id="6" name="Text 3"/>
          <p:cNvSpPr/>
          <p:nvPr/>
        </p:nvSpPr>
        <p:spPr>
          <a:xfrm>
            <a:off x="6790373" y="4032528"/>
            <a:ext cx="7046238" cy="1088708"/>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A technique that uses the spectrum of a similarity matrix to identify clusters, allowing for the discovery of non-convex clusters and handling high-dimensional data.</a:t>
            </a:r>
            <a:endParaRPr lang="en-US" sz="1750" dirty="0"/>
          </a:p>
        </p:txBody>
      </p:sp>
      <p:sp>
        <p:nvSpPr>
          <p:cNvPr id="7" name="Shape 4"/>
          <p:cNvSpPr/>
          <p:nvPr/>
        </p:nvSpPr>
        <p:spPr>
          <a:xfrm>
            <a:off x="6620351" y="5348049"/>
            <a:ext cx="170021" cy="1579126"/>
          </a:xfrm>
          <a:prstGeom prst="roundRect">
            <a:avLst>
              <a:gd name="adj" fmla="val 56033"/>
            </a:avLst>
          </a:prstGeom>
          <a:solidFill>
            <a:srgbClr val="EBE2E0"/>
          </a:solidFill>
          <a:ln w="7620">
            <a:solidFill>
              <a:srgbClr val="D1C8C6"/>
            </a:solidFill>
            <a:prstDash val="solid"/>
          </a:ln>
        </p:spPr>
      </p:sp>
      <p:sp>
        <p:nvSpPr>
          <p:cNvPr id="8" name="Text 5"/>
          <p:cNvSpPr/>
          <p:nvPr/>
        </p:nvSpPr>
        <p:spPr>
          <a:xfrm>
            <a:off x="7130534" y="5348049"/>
            <a:ext cx="3054310"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Density-Based Clustering</a:t>
            </a:r>
            <a:endParaRPr lang="en-US" sz="2200" dirty="0"/>
          </a:p>
        </p:txBody>
      </p:sp>
      <p:sp>
        <p:nvSpPr>
          <p:cNvPr id="9" name="Text 6"/>
          <p:cNvSpPr/>
          <p:nvPr/>
        </p:nvSpPr>
        <p:spPr>
          <a:xfrm>
            <a:off x="7130534" y="5838468"/>
            <a:ext cx="6706076" cy="1088708"/>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A family of algorithms that focus on identifying clusters based on the density of data points, effectively handling non-spherical clusters and dealing with noise.</a:t>
            </a:r>
            <a:endParaRPr lang="en-US" sz="1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44961" y="630079"/>
            <a:ext cx="7806928" cy="1790581"/>
          </a:xfrm>
          <a:prstGeom prst="rect">
            <a:avLst/>
          </a:prstGeom>
          <a:noFill/>
          <a:ln/>
        </p:spPr>
        <p:txBody>
          <a:bodyPr wrap="square" lIns="0" tIns="0" rIns="0" bIns="0" rtlCol="0" anchor="t"/>
          <a:lstStyle/>
          <a:p>
            <a:pPr marL="0" indent="0">
              <a:lnSpc>
                <a:spcPts val="4700"/>
              </a:lnSpc>
              <a:buNone/>
            </a:pPr>
            <a:r>
              <a:rPr lang="en-US" sz="3750" b="1" dirty="0">
                <a:solidFill>
                  <a:srgbClr val="443728"/>
                </a:solidFill>
                <a:latin typeface="Crimson Pro Bold" pitchFamily="34" charset="0"/>
                <a:ea typeface="Crimson Pro Bold" pitchFamily="34" charset="-122"/>
                <a:cs typeface="Crimson Pro Bold" pitchFamily="34" charset="-120"/>
              </a:rPr>
              <a:t>Practical Applications Across Industries: From Customer Segmentation to Anomaly Detection</a:t>
            </a:r>
            <a:endParaRPr lang="en-US" sz="3750" dirty="0"/>
          </a:p>
        </p:txBody>
      </p:sp>
      <p:grpSp>
        <p:nvGrpSpPr>
          <p:cNvPr id="13" name="Group 12">
            <a:extLst>
              <a:ext uri="{FF2B5EF4-FFF2-40B4-BE49-F238E27FC236}">
                <a16:creationId xmlns:a16="http://schemas.microsoft.com/office/drawing/2014/main" id="{F0409CBE-B008-40FE-3FCB-FB33AD2389E8}"/>
              </a:ext>
            </a:extLst>
          </p:cNvPr>
          <p:cNvGrpSpPr/>
          <p:nvPr/>
        </p:nvGrpSpPr>
        <p:grpSpPr>
          <a:xfrm>
            <a:off x="668536" y="2935724"/>
            <a:ext cx="2411254" cy="4435198"/>
            <a:chOff x="668536" y="2935724"/>
            <a:chExt cx="2411254" cy="4435198"/>
          </a:xfrm>
        </p:grpSpPr>
        <p:pic>
          <p:nvPicPr>
            <p:cNvPr id="4" name="Image 1" descr="preencoded.png"/>
            <p:cNvPicPr>
              <a:picLocks noChangeAspect="1"/>
            </p:cNvPicPr>
            <p:nvPr/>
          </p:nvPicPr>
          <p:blipFill>
            <a:blip r:embed="rId4"/>
            <a:stretch>
              <a:fillRect/>
            </a:stretch>
          </p:blipFill>
          <p:spPr>
            <a:xfrm>
              <a:off x="668536" y="2935724"/>
              <a:ext cx="477560" cy="477560"/>
            </a:xfrm>
            <a:prstGeom prst="rect">
              <a:avLst/>
            </a:prstGeom>
          </p:spPr>
        </p:pic>
        <p:sp>
          <p:nvSpPr>
            <p:cNvPr id="5" name="Text 1"/>
            <p:cNvSpPr/>
            <p:nvPr/>
          </p:nvSpPr>
          <p:spPr>
            <a:xfrm>
              <a:off x="668536" y="3604260"/>
              <a:ext cx="2411254" cy="596979"/>
            </a:xfrm>
            <a:prstGeom prst="rect">
              <a:avLst/>
            </a:prstGeom>
            <a:noFill/>
            <a:ln/>
          </p:spPr>
          <p:txBody>
            <a:bodyPr wrap="square" lIns="0" tIns="0" rIns="0" bIns="0" rtlCol="0" anchor="t"/>
            <a:lstStyle/>
            <a:p>
              <a:pPr marL="0" indent="0" algn="l">
                <a:lnSpc>
                  <a:spcPts val="2350"/>
                </a:lnSpc>
                <a:buNone/>
              </a:pPr>
              <a:r>
                <a:rPr lang="en-US" sz="1850" b="1" dirty="0">
                  <a:solidFill>
                    <a:srgbClr val="443728"/>
                  </a:solidFill>
                  <a:latin typeface="Crimson Pro Bold" pitchFamily="34" charset="0"/>
                  <a:ea typeface="Crimson Pro Bold" pitchFamily="34" charset="-122"/>
                  <a:cs typeface="Crimson Pro Bold" pitchFamily="34" charset="-120"/>
                </a:rPr>
                <a:t>Customer Segmentation</a:t>
              </a:r>
              <a:endParaRPr lang="en-US" sz="1850" dirty="0"/>
            </a:p>
          </p:txBody>
        </p:sp>
        <p:sp>
          <p:nvSpPr>
            <p:cNvPr id="6" name="Text 2"/>
            <p:cNvSpPr/>
            <p:nvPr/>
          </p:nvSpPr>
          <p:spPr>
            <a:xfrm>
              <a:off x="668536" y="4315778"/>
              <a:ext cx="2411254" cy="3055144"/>
            </a:xfrm>
            <a:prstGeom prst="rect">
              <a:avLst/>
            </a:prstGeom>
            <a:noFill/>
            <a:ln/>
          </p:spPr>
          <p:txBody>
            <a:bodyPr wrap="square" lIns="0" tIns="0" rIns="0" bIns="0" rtlCol="0" anchor="t"/>
            <a:lstStyle/>
            <a:p>
              <a:pPr marL="0" indent="0" algn="l">
                <a:lnSpc>
                  <a:spcPts val="2400"/>
                </a:lnSpc>
                <a:buNone/>
              </a:pPr>
              <a:r>
                <a:rPr lang="en-US" sz="1500" dirty="0">
                  <a:solidFill>
                    <a:srgbClr val="443728"/>
                  </a:solidFill>
                  <a:latin typeface="Open Sans" pitchFamily="34" charset="0"/>
                  <a:ea typeface="Open Sans" pitchFamily="34" charset="-122"/>
                  <a:cs typeface="Open Sans" pitchFamily="34" charset="-120"/>
                </a:rPr>
                <a:t>Clustering can be used to group customers into distinct segments based on their demographics, purchasing behavior, or other characteristics, allowing businesses to tailor marketing campaigns and product offerings.</a:t>
              </a:r>
              <a:endParaRPr lang="en-US" sz="1500" dirty="0"/>
            </a:p>
          </p:txBody>
        </p:sp>
      </p:grpSp>
      <p:pic>
        <p:nvPicPr>
          <p:cNvPr id="7" name="Image 2" descr="preencoded.png"/>
          <p:cNvPicPr>
            <a:picLocks noChangeAspect="1"/>
          </p:cNvPicPr>
          <p:nvPr/>
        </p:nvPicPr>
        <p:blipFill>
          <a:blip r:embed="rId5"/>
          <a:stretch>
            <a:fillRect/>
          </a:stretch>
        </p:blipFill>
        <p:spPr>
          <a:xfrm>
            <a:off x="3366254" y="2935724"/>
            <a:ext cx="477560" cy="477560"/>
          </a:xfrm>
          <a:prstGeom prst="rect">
            <a:avLst/>
          </a:prstGeom>
        </p:spPr>
      </p:pic>
      <p:sp>
        <p:nvSpPr>
          <p:cNvPr id="8" name="Text 3"/>
          <p:cNvSpPr/>
          <p:nvPr/>
        </p:nvSpPr>
        <p:spPr>
          <a:xfrm>
            <a:off x="3366254" y="3604260"/>
            <a:ext cx="2387798" cy="298490"/>
          </a:xfrm>
          <a:prstGeom prst="rect">
            <a:avLst/>
          </a:prstGeom>
          <a:noFill/>
          <a:ln/>
        </p:spPr>
        <p:txBody>
          <a:bodyPr wrap="none" lIns="0" tIns="0" rIns="0" bIns="0" rtlCol="0" anchor="t"/>
          <a:lstStyle/>
          <a:p>
            <a:pPr marL="0" indent="0" algn="l">
              <a:lnSpc>
                <a:spcPts val="2350"/>
              </a:lnSpc>
              <a:buNone/>
            </a:pPr>
            <a:r>
              <a:rPr lang="en-US" sz="1850" b="1" dirty="0">
                <a:solidFill>
                  <a:srgbClr val="443728"/>
                </a:solidFill>
                <a:latin typeface="Crimson Pro Bold" pitchFamily="34" charset="0"/>
                <a:ea typeface="Crimson Pro Bold" pitchFamily="34" charset="-122"/>
                <a:cs typeface="Crimson Pro Bold" pitchFamily="34" charset="-120"/>
              </a:rPr>
              <a:t>Fraud Detection</a:t>
            </a:r>
            <a:endParaRPr lang="en-US" sz="1850" dirty="0"/>
          </a:p>
        </p:txBody>
      </p:sp>
      <p:sp>
        <p:nvSpPr>
          <p:cNvPr id="9" name="Text 4"/>
          <p:cNvSpPr/>
          <p:nvPr/>
        </p:nvSpPr>
        <p:spPr>
          <a:xfrm>
            <a:off x="3366254" y="4017288"/>
            <a:ext cx="2411373" cy="1833086"/>
          </a:xfrm>
          <a:prstGeom prst="rect">
            <a:avLst/>
          </a:prstGeom>
          <a:noFill/>
          <a:ln/>
        </p:spPr>
        <p:txBody>
          <a:bodyPr wrap="square" lIns="0" tIns="0" rIns="0" bIns="0" rtlCol="0" anchor="t"/>
          <a:lstStyle/>
          <a:p>
            <a:pPr marL="0" indent="0" algn="l">
              <a:lnSpc>
                <a:spcPts val="2400"/>
              </a:lnSpc>
              <a:buNone/>
            </a:pPr>
            <a:r>
              <a:rPr lang="en-US" sz="1500" dirty="0">
                <a:solidFill>
                  <a:srgbClr val="443728"/>
                </a:solidFill>
                <a:latin typeface="Open Sans" pitchFamily="34" charset="0"/>
                <a:ea typeface="Open Sans" pitchFamily="34" charset="-122"/>
                <a:cs typeface="Open Sans" pitchFamily="34" charset="-120"/>
              </a:rPr>
              <a:t>Clustering algorithms can identify unusual patterns in financial transactions, helping to detect fraudulent activities and prevent financial losses.</a:t>
            </a:r>
            <a:endParaRPr lang="en-US" sz="1500" dirty="0"/>
          </a:p>
        </p:txBody>
      </p:sp>
      <p:pic>
        <p:nvPicPr>
          <p:cNvPr id="10" name="Image 3" descr="preencoded.png"/>
          <p:cNvPicPr>
            <a:picLocks noChangeAspect="1"/>
          </p:cNvPicPr>
          <p:nvPr/>
        </p:nvPicPr>
        <p:blipFill>
          <a:blip r:embed="rId6"/>
          <a:stretch>
            <a:fillRect/>
          </a:stretch>
        </p:blipFill>
        <p:spPr>
          <a:xfrm>
            <a:off x="6064091" y="2935724"/>
            <a:ext cx="477560" cy="477560"/>
          </a:xfrm>
          <a:prstGeom prst="rect">
            <a:avLst/>
          </a:prstGeom>
        </p:spPr>
      </p:pic>
      <p:sp>
        <p:nvSpPr>
          <p:cNvPr id="11" name="Text 5"/>
          <p:cNvSpPr/>
          <p:nvPr/>
        </p:nvSpPr>
        <p:spPr>
          <a:xfrm>
            <a:off x="6064091" y="3604260"/>
            <a:ext cx="2387798" cy="298490"/>
          </a:xfrm>
          <a:prstGeom prst="rect">
            <a:avLst/>
          </a:prstGeom>
          <a:noFill/>
          <a:ln/>
        </p:spPr>
        <p:txBody>
          <a:bodyPr wrap="none" lIns="0" tIns="0" rIns="0" bIns="0" rtlCol="0" anchor="t"/>
          <a:lstStyle/>
          <a:p>
            <a:pPr marL="0" indent="0" algn="l">
              <a:lnSpc>
                <a:spcPts val="2350"/>
              </a:lnSpc>
              <a:buNone/>
            </a:pPr>
            <a:r>
              <a:rPr lang="en-US" sz="1850" b="1" dirty="0">
                <a:solidFill>
                  <a:srgbClr val="443728"/>
                </a:solidFill>
                <a:latin typeface="Crimson Pro Bold" pitchFamily="34" charset="0"/>
                <a:ea typeface="Crimson Pro Bold" pitchFamily="34" charset="-122"/>
                <a:cs typeface="Crimson Pro Bold" pitchFamily="34" charset="-120"/>
              </a:rPr>
              <a:t>Image Analysis</a:t>
            </a:r>
            <a:endParaRPr lang="en-US" sz="1850" dirty="0"/>
          </a:p>
        </p:txBody>
      </p:sp>
      <p:sp>
        <p:nvSpPr>
          <p:cNvPr id="12" name="Text 6"/>
          <p:cNvSpPr/>
          <p:nvPr/>
        </p:nvSpPr>
        <p:spPr>
          <a:xfrm>
            <a:off x="6064091" y="4017288"/>
            <a:ext cx="2411373" cy="2138601"/>
          </a:xfrm>
          <a:prstGeom prst="rect">
            <a:avLst/>
          </a:prstGeom>
          <a:noFill/>
          <a:ln/>
        </p:spPr>
        <p:txBody>
          <a:bodyPr wrap="square" lIns="0" tIns="0" rIns="0" bIns="0" rtlCol="0" anchor="t"/>
          <a:lstStyle/>
          <a:p>
            <a:pPr marL="0" indent="0" algn="l">
              <a:lnSpc>
                <a:spcPts val="2400"/>
              </a:lnSpc>
              <a:buNone/>
            </a:pPr>
            <a:r>
              <a:rPr lang="en-US" sz="1500" dirty="0">
                <a:solidFill>
                  <a:srgbClr val="443728"/>
                </a:solidFill>
                <a:latin typeface="Open Sans" pitchFamily="34" charset="0"/>
                <a:ea typeface="Open Sans" pitchFamily="34" charset="-122"/>
                <a:cs typeface="Open Sans" pitchFamily="34" charset="-120"/>
              </a:rPr>
              <a:t>Clustering can be applied to image processing tasks such as object recognition, image segmentation, and noise reduction, improving the quality and interpretation of images.</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ppt_x"/>
                                          </p:val>
                                        </p:tav>
                                        <p:tav tm="100000">
                                          <p:val>
                                            <p:strVal val="#ppt_x"/>
                                          </p:val>
                                        </p:tav>
                                      </p:tavLst>
                                    </p:anim>
                                    <p:anim calcmode="lin" valueType="num">
                                      <p:cBhvr additive="base">
                                        <p:cTn id="4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1" grpId="0" animBg="1"/>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00445" y="550307"/>
            <a:ext cx="13229511" cy="1250633"/>
          </a:xfrm>
          <a:prstGeom prst="rect">
            <a:avLst/>
          </a:prstGeom>
          <a:noFill/>
          <a:ln/>
        </p:spPr>
        <p:txBody>
          <a:bodyPr wrap="square" lIns="0" tIns="0" rIns="0" bIns="0" rtlCol="0" anchor="t"/>
          <a:lstStyle/>
          <a:p>
            <a:pPr marL="0" indent="0">
              <a:lnSpc>
                <a:spcPts val="4900"/>
              </a:lnSpc>
              <a:buNone/>
            </a:pPr>
            <a:r>
              <a:rPr lang="en-US" sz="3900" b="1" dirty="0">
                <a:solidFill>
                  <a:srgbClr val="443728"/>
                </a:solidFill>
                <a:latin typeface="Crimson Pro Bold" pitchFamily="34" charset="0"/>
                <a:ea typeface="Crimson Pro Bold" pitchFamily="34" charset="-122"/>
                <a:cs typeface="Crimson Pro Bold" pitchFamily="34" charset="-120"/>
              </a:rPr>
              <a:t>Real-World Case Studies: Successful Clustering Implementations</a:t>
            </a:r>
            <a:endParaRPr lang="en-US" sz="3900" dirty="0"/>
          </a:p>
        </p:txBody>
      </p:sp>
      <p:sp>
        <p:nvSpPr>
          <p:cNvPr id="4" name="Text 1"/>
          <p:cNvSpPr/>
          <p:nvPr/>
        </p:nvSpPr>
        <p:spPr>
          <a:xfrm>
            <a:off x="3960852" y="3136583"/>
            <a:ext cx="93583" cy="400169"/>
          </a:xfrm>
          <a:prstGeom prst="rect">
            <a:avLst/>
          </a:prstGeom>
          <a:noFill/>
          <a:ln/>
        </p:spPr>
        <p:txBody>
          <a:bodyPr wrap="none" lIns="0" tIns="0" rIns="0" bIns="0" rtlCol="0" anchor="t"/>
          <a:lstStyle/>
          <a:p>
            <a:pPr marL="0" indent="0" algn="ctr">
              <a:lnSpc>
                <a:spcPts val="3150"/>
              </a:lnSpc>
              <a:buNone/>
            </a:pPr>
            <a:r>
              <a:rPr lang="en-US" sz="1950" b="1" dirty="0">
                <a:solidFill>
                  <a:srgbClr val="443728"/>
                </a:solidFill>
                <a:latin typeface="Crimson Pro Bold" pitchFamily="34" charset="0"/>
                <a:ea typeface="Crimson Pro Bold" pitchFamily="34" charset="-122"/>
                <a:cs typeface="Crimson Pro Bold" pitchFamily="34" charset="-120"/>
              </a:rPr>
              <a:t>1</a:t>
            </a:r>
            <a:endParaRPr lang="en-US" sz="1950" dirty="0"/>
          </a:p>
        </p:txBody>
      </p:sp>
      <p:grpSp>
        <p:nvGrpSpPr>
          <p:cNvPr id="17" name="Group 16">
            <a:extLst>
              <a:ext uri="{FF2B5EF4-FFF2-40B4-BE49-F238E27FC236}">
                <a16:creationId xmlns:a16="http://schemas.microsoft.com/office/drawing/2014/main" id="{32928AB9-F82C-792D-CEC2-832F376BF16C}"/>
              </a:ext>
            </a:extLst>
          </p:cNvPr>
          <p:cNvGrpSpPr/>
          <p:nvPr/>
        </p:nvGrpSpPr>
        <p:grpSpPr>
          <a:xfrm>
            <a:off x="2916317" y="2201108"/>
            <a:ext cx="10813614" cy="1793200"/>
            <a:chOff x="2916317" y="2201108"/>
            <a:chExt cx="10813614" cy="1793200"/>
          </a:xfrm>
        </p:grpSpPr>
        <p:pic>
          <p:nvPicPr>
            <p:cNvPr id="3" name="Image 0" descr="preencoded.png"/>
            <p:cNvPicPr>
              <a:picLocks noChangeAspect="1"/>
            </p:cNvPicPr>
            <p:nvPr/>
          </p:nvPicPr>
          <p:blipFill>
            <a:blip r:embed="rId3"/>
            <a:stretch>
              <a:fillRect/>
            </a:stretch>
          </p:blipFill>
          <p:spPr>
            <a:xfrm>
              <a:off x="2916317" y="2201108"/>
              <a:ext cx="2182773" cy="1793200"/>
            </a:xfrm>
            <a:prstGeom prst="rect">
              <a:avLst/>
            </a:prstGeom>
          </p:spPr>
        </p:pic>
        <p:sp>
          <p:nvSpPr>
            <p:cNvPr id="5" name="Text 2"/>
            <p:cNvSpPr/>
            <p:nvPr/>
          </p:nvSpPr>
          <p:spPr>
            <a:xfrm>
              <a:off x="5299115" y="2561153"/>
              <a:ext cx="2575322" cy="312658"/>
            </a:xfrm>
            <a:prstGeom prst="rect">
              <a:avLst/>
            </a:prstGeom>
            <a:noFill/>
            <a:ln/>
          </p:spPr>
          <p:txBody>
            <a:bodyPr wrap="none" lIns="0" tIns="0" rIns="0" bIns="0" rtlCol="0" anchor="t"/>
            <a:lstStyle/>
            <a:p>
              <a:pPr marL="0" indent="0" algn="l">
                <a:lnSpc>
                  <a:spcPts val="2450"/>
                </a:lnSpc>
                <a:buNone/>
              </a:pPr>
              <a:r>
                <a:rPr lang="en-US" sz="1950" b="1" dirty="0">
                  <a:solidFill>
                    <a:srgbClr val="443728"/>
                  </a:solidFill>
                  <a:latin typeface="Crimson Pro Bold" pitchFamily="34" charset="0"/>
                  <a:ea typeface="Crimson Pro Bold" pitchFamily="34" charset="-122"/>
                  <a:cs typeface="Crimson Pro Bold" pitchFamily="34" charset="-120"/>
                </a:rPr>
                <a:t>Customer Segmentation</a:t>
              </a:r>
              <a:endParaRPr lang="en-US" sz="1950" dirty="0"/>
            </a:p>
          </p:txBody>
        </p:sp>
        <p:sp>
          <p:nvSpPr>
            <p:cNvPr id="6" name="Text 3"/>
            <p:cNvSpPr/>
            <p:nvPr/>
          </p:nvSpPr>
          <p:spPr>
            <a:xfrm>
              <a:off x="5299115" y="2993827"/>
              <a:ext cx="8430816" cy="640318"/>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Businesses use clustering to segment customers into distinct groups with similar needs and preferences, enabling personalized marketing campaigns and product offerings.</a:t>
              </a:r>
              <a:endParaRPr lang="en-US" sz="1550" dirty="0"/>
            </a:p>
          </p:txBody>
        </p:sp>
      </p:grpSp>
      <p:sp>
        <p:nvSpPr>
          <p:cNvPr id="7" name="Shape 4"/>
          <p:cNvSpPr/>
          <p:nvPr/>
        </p:nvSpPr>
        <p:spPr>
          <a:xfrm>
            <a:off x="5149096" y="4009787"/>
            <a:ext cx="8730853" cy="11430"/>
          </a:xfrm>
          <a:prstGeom prst="roundRect">
            <a:avLst>
              <a:gd name="adj" fmla="val 735431"/>
            </a:avLst>
          </a:prstGeom>
          <a:solidFill>
            <a:srgbClr val="D1C8C6"/>
          </a:solidFill>
          <a:ln/>
        </p:spPr>
      </p:sp>
      <p:sp>
        <p:nvSpPr>
          <p:cNvPr id="9" name="Text 5"/>
          <p:cNvSpPr/>
          <p:nvPr/>
        </p:nvSpPr>
        <p:spPr>
          <a:xfrm>
            <a:off x="3943826" y="4740831"/>
            <a:ext cx="127635" cy="400169"/>
          </a:xfrm>
          <a:prstGeom prst="rect">
            <a:avLst/>
          </a:prstGeom>
          <a:noFill/>
          <a:ln/>
        </p:spPr>
        <p:txBody>
          <a:bodyPr wrap="none" lIns="0" tIns="0" rIns="0" bIns="0" rtlCol="0" anchor="t"/>
          <a:lstStyle/>
          <a:p>
            <a:pPr marL="0" indent="0" algn="ctr">
              <a:lnSpc>
                <a:spcPts val="3150"/>
              </a:lnSpc>
              <a:buNone/>
            </a:pPr>
            <a:r>
              <a:rPr lang="en-US" sz="1950" b="1" dirty="0">
                <a:solidFill>
                  <a:srgbClr val="443728"/>
                </a:solidFill>
                <a:latin typeface="Crimson Pro Bold" pitchFamily="34" charset="0"/>
                <a:ea typeface="Crimson Pro Bold" pitchFamily="34" charset="-122"/>
                <a:cs typeface="Crimson Pro Bold" pitchFamily="34" charset="-120"/>
              </a:rPr>
              <a:t>2</a:t>
            </a:r>
            <a:endParaRPr lang="en-US" sz="1950" dirty="0"/>
          </a:p>
        </p:txBody>
      </p:sp>
      <p:grpSp>
        <p:nvGrpSpPr>
          <p:cNvPr id="18" name="Group 17">
            <a:extLst>
              <a:ext uri="{FF2B5EF4-FFF2-40B4-BE49-F238E27FC236}">
                <a16:creationId xmlns:a16="http://schemas.microsoft.com/office/drawing/2014/main" id="{EB436E78-500C-2338-8BA2-E210863A4CB0}"/>
              </a:ext>
            </a:extLst>
          </p:cNvPr>
          <p:cNvGrpSpPr/>
          <p:nvPr/>
        </p:nvGrpSpPr>
        <p:grpSpPr>
          <a:xfrm>
            <a:off x="1824871" y="4044315"/>
            <a:ext cx="11905060" cy="1793200"/>
            <a:chOff x="1824871" y="4044315"/>
            <a:chExt cx="11905060" cy="1793200"/>
          </a:xfrm>
        </p:grpSpPr>
        <p:pic>
          <p:nvPicPr>
            <p:cNvPr id="8" name="Image 1" descr="preencoded.png"/>
            <p:cNvPicPr>
              <a:picLocks noChangeAspect="1"/>
            </p:cNvPicPr>
            <p:nvPr/>
          </p:nvPicPr>
          <p:blipFill>
            <a:blip r:embed="rId4"/>
            <a:stretch>
              <a:fillRect/>
            </a:stretch>
          </p:blipFill>
          <p:spPr>
            <a:xfrm>
              <a:off x="1824871" y="4044315"/>
              <a:ext cx="4365665" cy="1793200"/>
            </a:xfrm>
            <a:prstGeom prst="rect">
              <a:avLst/>
            </a:prstGeom>
          </p:spPr>
        </p:pic>
        <p:sp>
          <p:nvSpPr>
            <p:cNvPr id="10" name="Text 6"/>
            <p:cNvSpPr/>
            <p:nvPr/>
          </p:nvSpPr>
          <p:spPr>
            <a:xfrm>
              <a:off x="6390561" y="4404360"/>
              <a:ext cx="2501741" cy="312658"/>
            </a:xfrm>
            <a:prstGeom prst="rect">
              <a:avLst/>
            </a:prstGeom>
            <a:noFill/>
            <a:ln/>
          </p:spPr>
          <p:txBody>
            <a:bodyPr wrap="none" lIns="0" tIns="0" rIns="0" bIns="0" rtlCol="0" anchor="t"/>
            <a:lstStyle/>
            <a:p>
              <a:pPr marL="0" indent="0" algn="l">
                <a:lnSpc>
                  <a:spcPts val="2450"/>
                </a:lnSpc>
                <a:buNone/>
              </a:pPr>
              <a:r>
                <a:rPr lang="en-US" sz="1950" b="1" dirty="0">
                  <a:solidFill>
                    <a:srgbClr val="443728"/>
                  </a:solidFill>
                  <a:latin typeface="Crimson Pro Bold" pitchFamily="34" charset="0"/>
                  <a:ea typeface="Crimson Pro Bold" pitchFamily="34" charset="-122"/>
                  <a:cs typeface="Crimson Pro Bold" pitchFamily="34" charset="-120"/>
                </a:rPr>
                <a:t>Fraud Detection</a:t>
              </a:r>
              <a:endParaRPr lang="en-US" sz="1950" dirty="0"/>
            </a:p>
          </p:txBody>
        </p:sp>
        <p:sp>
          <p:nvSpPr>
            <p:cNvPr id="11" name="Text 7"/>
            <p:cNvSpPr/>
            <p:nvPr/>
          </p:nvSpPr>
          <p:spPr>
            <a:xfrm>
              <a:off x="6390561" y="4837033"/>
              <a:ext cx="7339370" cy="640318"/>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Financial institutions utilize clustering to identify fraudulent transactions, preventing losses and enhancing security measures.</a:t>
              </a:r>
              <a:endParaRPr lang="en-US" sz="1550" dirty="0"/>
            </a:p>
          </p:txBody>
        </p:sp>
      </p:grpSp>
      <p:sp>
        <p:nvSpPr>
          <p:cNvPr id="12" name="Shape 8"/>
          <p:cNvSpPr/>
          <p:nvPr/>
        </p:nvSpPr>
        <p:spPr>
          <a:xfrm>
            <a:off x="6240542" y="5852993"/>
            <a:ext cx="7639407" cy="11430"/>
          </a:xfrm>
          <a:prstGeom prst="roundRect">
            <a:avLst>
              <a:gd name="adj" fmla="val 735431"/>
            </a:avLst>
          </a:prstGeom>
          <a:solidFill>
            <a:srgbClr val="D1C8C6"/>
          </a:solidFill>
          <a:ln/>
        </p:spPr>
      </p:sp>
      <p:sp>
        <p:nvSpPr>
          <p:cNvPr id="14" name="Text 9"/>
          <p:cNvSpPr/>
          <p:nvPr/>
        </p:nvSpPr>
        <p:spPr>
          <a:xfrm>
            <a:off x="3946565" y="6584037"/>
            <a:ext cx="122158" cy="400169"/>
          </a:xfrm>
          <a:prstGeom prst="rect">
            <a:avLst/>
          </a:prstGeom>
          <a:noFill/>
          <a:ln/>
        </p:spPr>
        <p:txBody>
          <a:bodyPr wrap="none" lIns="0" tIns="0" rIns="0" bIns="0" rtlCol="0" anchor="t"/>
          <a:lstStyle/>
          <a:p>
            <a:pPr marL="0" indent="0" algn="ctr">
              <a:lnSpc>
                <a:spcPts val="3150"/>
              </a:lnSpc>
              <a:buNone/>
            </a:pPr>
            <a:r>
              <a:rPr lang="en-US" sz="1950" b="1" dirty="0">
                <a:solidFill>
                  <a:srgbClr val="443728"/>
                </a:solidFill>
                <a:latin typeface="Crimson Pro Bold" pitchFamily="34" charset="0"/>
                <a:ea typeface="Crimson Pro Bold" pitchFamily="34" charset="-122"/>
                <a:cs typeface="Crimson Pro Bold" pitchFamily="34" charset="-120"/>
              </a:rPr>
              <a:t>3</a:t>
            </a:r>
            <a:endParaRPr lang="en-US" sz="1950" dirty="0"/>
          </a:p>
        </p:txBody>
      </p:sp>
      <p:grpSp>
        <p:nvGrpSpPr>
          <p:cNvPr id="19" name="Group 18">
            <a:extLst>
              <a:ext uri="{FF2B5EF4-FFF2-40B4-BE49-F238E27FC236}">
                <a16:creationId xmlns:a16="http://schemas.microsoft.com/office/drawing/2014/main" id="{D12B38C6-BE87-3D83-FFFD-437F8ADB3ACA}"/>
              </a:ext>
            </a:extLst>
          </p:cNvPr>
          <p:cNvGrpSpPr/>
          <p:nvPr/>
        </p:nvGrpSpPr>
        <p:grpSpPr>
          <a:xfrm>
            <a:off x="733425" y="5887522"/>
            <a:ext cx="12996506" cy="1793200"/>
            <a:chOff x="733425" y="5887522"/>
            <a:chExt cx="12996506" cy="1793200"/>
          </a:xfrm>
        </p:grpSpPr>
        <p:pic>
          <p:nvPicPr>
            <p:cNvPr id="13" name="Image 2" descr="preencoded.png"/>
            <p:cNvPicPr>
              <a:picLocks noChangeAspect="1"/>
            </p:cNvPicPr>
            <p:nvPr/>
          </p:nvPicPr>
          <p:blipFill>
            <a:blip r:embed="rId5"/>
            <a:stretch>
              <a:fillRect/>
            </a:stretch>
          </p:blipFill>
          <p:spPr>
            <a:xfrm>
              <a:off x="733425" y="5887522"/>
              <a:ext cx="6548557" cy="1793200"/>
            </a:xfrm>
            <a:prstGeom prst="rect">
              <a:avLst/>
            </a:prstGeom>
          </p:spPr>
        </p:pic>
        <p:sp>
          <p:nvSpPr>
            <p:cNvPr id="15" name="Text 10"/>
            <p:cNvSpPr/>
            <p:nvPr/>
          </p:nvSpPr>
          <p:spPr>
            <a:xfrm>
              <a:off x="7482007" y="6087547"/>
              <a:ext cx="2501741" cy="312658"/>
            </a:xfrm>
            <a:prstGeom prst="rect">
              <a:avLst/>
            </a:prstGeom>
            <a:noFill/>
            <a:ln/>
          </p:spPr>
          <p:txBody>
            <a:bodyPr wrap="none" lIns="0" tIns="0" rIns="0" bIns="0" rtlCol="0" anchor="t"/>
            <a:lstStyle/>
            <a:p>
              <a:pPr marL="0" indent="0" algn="l">
                <a:lnSpc>
                  <a:spcPts val="2450"/>
                </a:lnSpc>
                <a:buNone/>
              </a:pPr>
              <a:r>
                <a:rPr lang="en-US" sz="1950" b="1" dirty="0">
                  <a:solidFill>
                    <a:srgbClr val="443728"/>
                  </a:solidFill>
                  <a:latin typeface="Crimson Pro Bold" pitchFamily="34" charset="0"/>
                  <a:ea typeface="Crimson Pro Bold" pitchFamily="34" charset="-122"/>
                  <a:cs typeface="Crimson Pro Bold" pitchFamily="34" charset="-120"/>
                </a:rPr>
                <a:t>Image Analysis</a:t>
              </a:r>
              <a:endParaRPr lang="en-US" sz="1950" dirty="0"/>
            </a:p>
          </p:txBody>
        </p:sp>
        <p:sp>
          <p:nvSpPr>
            <p:cNvPr id="16" name="Text 11"/>
            <p:cNvSpPr/>
            <p:nvPr/>
          </p:nvSpPr>
          <p:spPr>
            <a:xfrm>
              <a:off x="7482007" y="6520220"/>
              <a:ext cx="6247924" cy="960477"/>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Clustering techniques are applied in image processing to perform tasks such as object recognition, image segmentation, and noise reduction.</a:t>
              </a:r>
              <a:endParaRPr lang="en-US" sz="1550" dirty="0"/>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792843"/>
            <a:ext cx="7556421" cy="2126337"/>
          </a:xfrm>
          <a:prstGeom prst="rect">
            <a:avLst/>
          </a:prstGeom>
          <a:noFill/>
          <a:ln/>
        </p:spPr>
        <p:txBody>
          <a:bodyPr wrap="square" lIns="0" tIns="0" rIns="0" bIns="0" rtlCol="0" anchor="t"/>
          <a:lstStyle/>
          <a:p>
            <a:pPr marL="0" indent="0">
              <a:lnSpc>
                <a:spcPts val="5550"/>
              </a:lnSpc>
              <a:buNone/>
            </a:pPr>
            <a:r>
              <a:rPr lang="en-US" sz="4450" b="1" dirty="0">
                <a:solidFill>
                  <a:srgbClr val="443728"/>
                </a:solidFill>
                <a:latin typeface="Crimson Pro Bold" pitchFamily="34" charset="0"/>
                <a:ea typeface="Crimson Pro Bold" pitchFamily="34" charset="-122"/>
                <a:cs typeface="Crimson Pro Bold" pitchFamily="34" charset="-120"/>
              </a:rPr>
              <a:t>Future Trends and Emerging Technologies in Clustering Research</a:t>
            </a:r>
            <a:endParaRPr lang="en-US" sz="4450" dirty="0"/>
          </a:p>
        </p:txBody>
      </p:sp>
      <p:sp>
        <p:nvSpPr>
          <p:cNvPr id="4" name="Text 1"/>
          <p:cNvSpPr/>
          <p:nvPr/>
        </p:nvSpPr>
        <p:spPr>
          <a:xfrm>
            <a:off x="6280190" y="4259342"/>
            <a:ext cx="7556421" cy="2177415"/>
          </a:xfrm>
          <a:prstGeom prst="rect">
            <a:avLst/>
          </a:prstGeom>
          <a:noFill/>
          <a:ln/>
        </p:spPr>
        <p:txBody>
          <a:bodyPr wrap="square" lIns="0" tIns="0" rIns="0" bIns="0" rtlCol="0" anchor="t"/>
          <a:lstStyle/>
          <a:p>
            <a:pPr marL="0" indent="0">
              <a:lnSpc>
                <a:spcPts val="2850"/>
              </a:lnSpc>
              <a:buNone/>
            </a:pPr>
            <a:r>
              <a:rPr lang="en-US" sz="1750" dirty="0">
                <a:solidFill>
                  <a:srgbClr val="443728"/>
                </a:solidFill>
                <a:latin typeface="Open Sans" pitchFamily="34" charset="0"/>
                <a:ea typeface="Open Sans" pitchFamily="34" charset="-122"/>
                <a:cs typeface="Open Sans" pitchFamily="34" charset="-120"/>
              </a:rPr>
              <a:t>The field of clustering analysis is constantly evolving, with new algorithms, techniques, and applications emerging. Future trends include the integration of machine learning and artificial intelligence, the development of more robust and scalable algorithms, and the exploration of new applications in areas such as healthcare, finance, and robotics.</a:t>
            </a:r>
            <a:endParaRPr lang="en-US" sz="17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F77BE2-C45A-F5B0-1647-41E01FEAF1B0}"/>
              </a:ext>
            </a:extLst>
          </p:cNvPr>
          <p:cNvSpPr txBox="1"/>
          <p:nvPr/>
        </p:nvSpPr>
        <p:spPr>
          <a:xfrm>
            <a:off x="518160" y="304800"/>
            <a:ext cx="4434840" cy="923330"/>
          </a:xfrm>
          <a:prstGeom prst="rect">
            <a:avLst/>
          </a:prstGeom>
          <a:noFill/>
        </p:spPr>
        <p:txBody>
          <a:bodyPr wrap="square" rtlCol="0">
            <a:spAutoFit/>
          </a:bodyPr>
          <a:lstStyle/>
          <a:p>
            <a:r>
              <a:rPr lang="en-IN" sz="5400" dirty="0">
                <a:latin typeface="Algerian" panose="04020705040A02060702" pitchFamily="82" charset="0"/>
              </a:rPr>
              <a:t>Conclusion:</a:t>
            </a:r>
          </a:p>
        </p:txBody>
      </p:sp>
      <p:sp>
        <p:nvSpPr>
          <p:cNvPr id="4" name="TextBox 3">
            <a:extLst>
              <a:ext uri="{FF2B5EF4-FFF2-40B4-BE49-F238E27FC236}">
                <a16:creationId xmlns:a16="http://schemas.microsoft.com/office/drawing/2014/main" id="{3812C323-0D4F-0C34-8D24-81589E441375}"/>
              </a:ext>
            </a:extLst>
          </p:cNvPr>
          <p:cNvSpPr txBox="1"/>
          <p:nvPr/>
        </p:nvSpPr>
        <p:spPr>
          <a:xfrm>
            <a:off x="213360" y="1248252"/>
            <a:ext cx="6263640" cy="4001095"/>
          </a:xfrm>
          <a:prstGeom prst="rect">
            <a:avLst/>
          </a:prstGeom>
          <a:noFill/>
        </p:spPr>
        <p:txBody>
          <a:bodyPr wrap="square" rtlCol="0">
            <a:spAutoFit/>
          </a:bodyPr>
          <a:lstStyle/>
          <a:p>
            <a:r>
              <a:rPr lang="en-IN" sz="4000" dirty="0"/>
              <a:t>📌 </a:t>
            </a:r>
            <a:r>
              <a:rPr lang="en-IN" sz="4000" b="1" dirty="0"/>
              <a:t>Summary of Findings:</a:t>
            </a:r>
            <a:br>
              <a:rPr lang="en-IN" dirty="0"/>
            </a:br>
            <a:r>
              <a:rPr lang="en-IN" sz="2800" dirty="0"/>
              <a:t>✅ K-Means effectively grouped data into meaningful clusters.</a:t>
            </a:r>
            <a:br>
              <a:rPr lang="en-IN" sz="2800" dirty="0"/>
            </a:br>
            <a:r>
              <a:rPr lang="en-IN" sz="2800" dirty="0"/>
              <a:t>✅ Visualizations (histograms, scatter plots, heatmaps) provided valuable insights.</a:t>
            </a:r>
            <a:br>
              <a:rPr lang="en-IN" sz="2800" dirty="0"/>
            </a:br>
            <a:r>
              <a:rPr lang="en-IN" sz="2800" dirty="0"/>
              <a:t>✅ </a:t>
            </a:r>
            <a:r>
              <a:rPr lang="en-IN" sz="2800" dirty="0" err="1"/>
              <a:t>Streamlit</a:t>
            </a:r>
            <a:r>
              <a:rPr lang="en-IN" sz="2800" dirty="0"/>
              <a:t> app enables real-time user interaction and clustering predictions.</a:t>
            </a:r>
          </a:p>
          <a:p>
            <a:endParaRPr lang="en-IN" dirty="0"/>
          </a:p>
        </p:txBody>
      </p:sp>
      <p:sp>
        <p:nvSpPr>
          <p:cNvPr id="5" name="TextBox 4">
            <a:extLst>
              <a:ext uri="{FF2B5EF4-FFF2-40B4-BE49-F238E27FC236}">
                <a16:creationId xmlns:a16="http://schemas.microsoft.com/office/drawing/2014/main" id="{4601B822-385D-231C-6FEA-F28049B37982}"/>
              </a:ext>
            </a:extLst>
          </p:cNvPr>
          <p:cNvSpPr txBox="1"/>
          <p:nvPr/>
        </p:nvSpPr>
        <p:spPr>
          <a:xfrm>
            <a:off x="213360" y="5269469"/>
            <a:ext cx="6263640" cy="3139321"/>
          </a:xfrm>
          <a:prstGeom prst="rect">
            <a:avLst/>
          </a:prstGeom>
          <a:noFill/>
        </p:spPr>
        <p:txBody>
          <a:bodyPr wrap="square" rtlCol="0">
            <a:spAutoFit/>
          </a:bodyPr>
          <a:lstStyle/>
          <a:p>
            <a:r>
              <a:rPr lang="en-IN" sz="4000" dirty="0"/>
              <a:t>📌 </a:t>
            </a:r>
            <a:r>
              <a:rPr lang="en-IN" sz="4000" b="1" dirty="0"/>
              <a:t>Final Thoughts:</a:t>
            </a:r>
            <a:br>
              <a:rPr lang="en-IN" dirty="0"/>
            </a:br>
            <a:r>
              <a:rPr lang="en-IN" sz="2800" dirty="0"/>
              <a:t>🔹 Choosing the right K value is crucial.</a:t>
            </a:r>
            <a:br>
              <a:rPr lang="en-IN" sz="2800" dirty="0"/>
            </a:br>
            <a:r>
              <a:rPr lang="en-IN" sz="2800" dirty="0"/>
              <a:t>🔹 Proper data preprocessing improves accuracy.</a:t>
            </a:r>
            <a:br>
              <a:rPr lang="en-IN" sz="2800" dirty="0"/>
            </a:br>
            <a:r>
              <a:rPr lang="en-IN" sz="2800" dirty="0"/>
              <a:t>🔹 User-friendly UI enhances accessibility.</a:t>
            </a:r>
          </a:p>
          <a:p>
            <a:endParaRPr lang="en-IN" dirty="0"/>
          </a:p>
        </p:txBody>
      </p:sp>
      <p:pic>
        <p:nvPicPr>
          <p:cNvPr id="7" name="Picture 6">
            <a:extLst>
              <a:ext uri="{FF2B5EF4-FFF2-40B4-BE49-F238E27FC236}">
                <a16:creationId xmlns:a16="http://schemas.microsoft.com/office/drawing/2014/main" id="{8D14A057-EFB6-5D46-4B35-7265EADFC84D}"/>
              </a:ext>
            </a:extLst>
          </p:cNvPr>
          <p:cNvPicPr>
            <a:picLocks noChangeAspect="1"/>
          </p:cNvPicPr>
          <p:nvPr/>
        </p:nvPicPr>
        <p:blipFill>
          <a:blip r:embed="rId2"/>
          <a:stretch>
            <a:fillRect/>
          </a:stretch>
        </p:blipFill>
        <p:spPr>
          <a:xfrm>
            <a:off x="6781800" y="0"/>
            <a:ext cx="8229600" cy="8229600"/>
          </a:xfrm>
          <a:prstGeom prst="rect">
            <a:avLst/>
          </a:prstGeom>
        </p:spPr>
      </p:pic>
    </p:spTree>
    <p:extLst>
      <p:ext uri="{BB962C8B-B14F-4D97-AF65-F5344CB8AC3E}">
        <p14:creationId xmlns:p14="http://schemas.microsoft.com/office/powerpoint/2010/main" val="2565341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TotalTime>
  <Words>1883</Words>
  <Application>Microsoft Office PowerPoint</Application>
  <PresentationFormat>Custom</PresentationFormat>
  <Paragraphs>187</Paragraphs>
  <Slides>29</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Algerian</vt:lpstr>
      <vt:lpstr>Crimson Pro Bold</vt:lpstr>
      <vt:lpstr>Open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Neelima Saka</cp:lastModifiedBy>
  <cp:revision>3</cp:revision>
  <dcterms:created xsi:type="dcterms:W3CDTF">2025-02-20T18:42:55Z</dcterms:created>
  <dcterms:modified xsi:type="dcterms:W3CDTF">2025-02-21T12:49:52Z</dcterms:modified>
</cp:coreProperties>
</file>